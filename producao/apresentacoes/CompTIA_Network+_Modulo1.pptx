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9d8d4b7-e5bc-b9e1-d338-4628d84d23a2}">
          <p14:sldIdLst>
            <p14:sldId id="256"/>
            <p14:sldId id="257"/>
            <p14:sldId id="258"/>
            <p14:sldId id="259"/>
          </p14:sldIdLst>
        </p14:section>
        <p14:section name="Conteúdos" id="{885177da-b30a-9617-bba4-55512cecc99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onsolidação" id="{f733d98d-23b9-f801-9063-a633e48035d1}">
          <p14:sldIdLst>
            <p14:sldId id="272"/>
            <p14:sldId id="273"/>
            <p14:sldId id="274"/>
            <p14:sldId id="275"/>
          </p14:sldIdLst>
        </p14:section>
        <p14:section name="Encerramento" id="{73b25263-32e9-529b-e747-70d733f5bcbd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ATC]
Apresentação do Módulo 1 do curso CompTIA Network+ (N10-009).
Helena é o guia virtual que acompanha os formandos nos vídeos e no manual na plataforma ATC.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Enquadramento]
Neste módulo vai conhecer o modelo OSI, os tipos de rede e as topologias, o endereçamento IPv4, as portas e protocolos mais usados e o papel de cada equipamento de rede. Corresponde ao domínio 1 do exame (Conceitos de redes).
Sugestão pedagógica: pergunte aos formandos que experiência prévia já têm com este tema antes de avançar para os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Objetivos]
1. Descrever as sete camadas do modelo OSI e dar um exemplo de cada uma.
2. Distinguir LAN, WAN, WLAN e as topologias em estrela, malha e híbrida.
3. Reconhecer endereços IPv4 públicos, privados, de loopback e APIPA.
4. Explicar como o DHCP atribui endereços (processo DORA).
5. Associar os protocolos mais comuns às suas portas TCP/UDP.
6. Identificar a função do router, do switch, do ponto de acesso e da firewall.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Percurso]
Temas do módulo:
1.1 O que é uma rede?
1.2 O modelo OSI
1.3 Endereçamento IPv4
1.4 DHCP e DNS
1.5 Portas e protocolos
1.6 Equipamentos de rede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1.1 O que é uma rede?]
Tempo sugerido: 8–10 min
[Figura] Topologia em estrela: todos os computadores e a impressora ligam ao switch do bastidor; o ponto de acesso dá Wi-Fi. Imagem ilustrativa criada para a ATC.
Uma rede é um conjunto de dispositivos ligados entre si para partilhar dados e recursos: ficheiros, impressoras, a ligação à Internet ou aplicações. Cada dispositivo ligado chama-se nó ou anfitrião (host).
Tipo | Alcance | Exemplo
LAN | Um edifício ou um piso | A rede da sala de formação da ATC
WLAN | Uma LAN sem fios (Wi-Fi) | O Wi-Fi do escritório
MAN | Uma cidade | Ligação entre as delegações de Cabinda
WAN | Países e continentes | A Internet; a ligação Cabinda–Luanda–Lisboa de uma empresa
A topologia descreve a forma como os nós estão ligados. Na topologia em estrela, todos ligam a um equipamento central (normalmente um switch). Na topologia em malha, cada nó liga a vários outros, o que dá caminhos alternativos se uma ligação falhar. Uma rede híbrida combina várias topologias.
Dica: Nas empresas, a topologia mais comum dentro do edifício é a estrela: se um cabo falhar, só esse computador fica sem rede.
[Figura] Da LAN à WAN: um edifício, o Wi-Fi do edifício, a cidade e a ligação entre continentes. Imagem ilustrativa criada para a ATC.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1.1 O que é uma rede?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1.2 O modelo OSI]
Tempo sugerido: 8–10 min
[Figura] As sete camadas do modelo OSI: os dados descem da Aplicação até ao sinal no cabo. Imagem ilustrativa criada para a ATC.
O modelo OSI divide a comunicação em sete camadas e ajuda a localizar problemas: um cabo partido é da camada 1; um endereço IP errado, da camada 3.
Camada | Nome | Unidade de dados | Exemplo
7 | Aplicação | Dados | HTTP, DNS, SMTP
6 | Apresentação | Dados | Cifragem TLS, formatos de ficheiro
5 | Sessão | Dados | Abrir e fechar sessões entre aplicações
4 | Transporte | Segmento (TCP) / datagrama (UDP) | TCP, UDP, portas
3 | Rede | Pacote | IP, router
2 | Ligação de dados | Trama | Endereço MAC, switch
1 | Física | Bits | Cabo, fibra, sinal Wi-Fi
Nota: O TCP confirma a entrega e reenvia o que se perde (web, correio). O UDP não confirma, mas é mais rápido (voz, vídeo em direto, DNS).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1.2 O modelo OSI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1.3 Endereçamento IPv4]
Tempo sugerido: 8–10 min
[Figura] NAT: os dispositivos da rede privada saem para a Internet através do endereço público do router. Imagem ilustrativa criada para a ATC.
Um endereço IPv4 tem 32 bits, escritos em quatro números de 0 a 255 separados por pontos, por exemplo 192.168.1.20. A máscara de sub-rede (por exemplo 255.255.255.0, ou /24) indica que parte do endereço identifica a rede e que parte identifica o dispositivo.
Tipo de endereço | Intervalo | Para que serve
Privado (classe A) | 10.0.0.0 – 10.255.255.255 (/8) | Redes internas grandes
Privado (classe B) | 172.16.0.0 – 172.31.255.255 (/12) | Redes internas médias
Privado (classe C) | 192.168.0.0 – 192.168.255.255 (/16) | Casas e pequenos escritórios
Loopback | 127.0.0.1 | O próprio computador (testes)
APIPA | 169.254.0.0 – 169.254.255.255 | Atribuído sozinho quando o DHCP não responde
Os endereços privados não circulam na Internet. O router usa NAT para traduzir os endereços privados da rede interna para o endereço público fornecido pelo operador.
Atenção: Se um computador tiver um endereço 169.254.x.x, não está a receber endereço do servidor DHCP. Verifique o cabo, o Wi-Fi e o servidor DHCP antes de mexer noutras definições.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1.3 Endereçamento IPv4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1.4 DHCP e DNS]
Tempo sugerido: 8–10 min
[Figura] As quatro mensagens do DHCP entre o computador e o servidor: Discover, Offer, Request e Acknowledge. Imagem ilustrativa criada para a ATC.
O DHCP atribui automaticamente a cada dispositivo um endereço IP, a máscara de sub-rede, o gateway predefinido (o router) e o servidor DNS. O processo tem quatro mensagens, conhecidas pela sigla DORA:
Passo | Mensagem | Quem envia
1 | Discover (descoberta) | O cliente procura um servidor DHCP
2 | Offer (oferta) | O servidor propõe um endereço
3 | Request (pedido) | O cliente aceita a oferta
4 | Acknowledge (confirmação) | O servidor confirma a concessão
O DNS traduz nomes fáceis de lembrar (por exemplo, grupoangbu.com) em endereços IP. Sem DNS, teria de escrever o endereço IP de cada site.
Dica: No Windows, o comando ipconfig /all mostra o endereço IP, o gateway, o servidor DNS e se o endereço veio do DHCP.
[Figura] O DNS funciona como uma lista telefónica: dá o nome e recebe o endereço IP. Imagem ilustrativa criada para a ATC.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1.4 DHCP e DNS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1.5 Portas e protocolos]
Tempo sugerido: 8–10 min
[Figura] Cada serviço do servidor tem a sua porta, tal como cada sala tem a sua porta num edifício. Imagem ilustrativa criada para a ATC.
Um servidor pode oferecer vários serviços ao mesmo tempo. A porta indica a que serviço se destina cada ligação. No exame tem de associar os protocolos mais comuns às suas portas.
Protocolo | Porta | Para que serve
FTP | 20/21 TCP | Transferir ficheiros (sem cifragem)
SSH / SFTP | 22 TCP | Acesso remoto seguro; transferência segura de ficheiros
Telnet | 23 TCP | Acesso remoto sem cifragem (a evitar)
SMTP | 25 TCP | Enviar correio entre servidores
DNS | 53 TCP/UDP | Traduzir nomes em endereços
DHCP | 67/68 UDP | Atribuir endereços automaticamente
HTTP | 80 TCP | Páginas web sem cifragem
NTP | 123 UDP | Acertar a hora
SNMP | 161/162 UDP | Monitorizar equipamentos de rede
LDAP | 389 TCP | Consultar diretórios de utilizadores
HTTPS | 443 TCP | Páginas web cifradas
SMB | 445 TCP | Partilha de ficheiros e impressoras no Windows
RDP | 3389 TCP | Ambiente de trabalho remoto
Dica: Comece por memorizar as portas que usa todos os dias: 80 (HTTP), 443 (HTTPS), 53 (DNS) e 3389 (RDP).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1.5 Portas e protocolos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1.6 Equipamentos de rede]
Tempo sugerido: 8–10 min
[Figura] Da esquerda para a direita: switch, router, ponto de acesso sem fios e firewall. Imagem ilustrativa criada para a ATC.
Equipamento | Camada OSI | Função
Switch | 2 (Ligação de dados) | Liga os dispositivos da LAN e envia cada trama só para a porta certa, pelo endereço MAC
Router | 3 (Rede) | Liga redes diferentes (por exemplo, a LAN à Internet) e escolhe o caminho pelo endereço IP
Ponto de acesso (AP) | 2 | Liga dispositivos sem fios à rede com fios
Firewall | 3 a 7 | Permite ou bloqueia tráfego segundo regras de segurança
Balanceador de carga | 4 a 7 | Distribui os pedidos por vários servidores
Num pequeno escritório, um único aparelho pode fazer de router, switch, ponto de acesso e firewall. Numa empresa, cada função costuma ter o seu equipamento.
Verificação em sala: peça a um formando que demonstre ou explique o passo principal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Quadro de referência]
1.6 Equipamentos de rede
Explore os exemplos da tabela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Síntese]
Resumo do módulo:
Modelo OSI: sete camadas, da Física (1) à Aplicação (7).
LAN, WLAN, MAN e WAN distinguem-se pelo alcance.
Endereços privados: 10.x, 172.16–31.x e 192.168.x; 169.254.x indica falha do DHCP.
DHCP em quatro passos: Discover, Offer, Request, Acknowledge.
Portas essenciais: 22 SSH, 53 DNS, 80 HTTP, 443 HTTPS, 3389 RDP.
Switch: endereços MAC (camada 2). Router: endereços IP (camada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Exercício Prático]
Exercício prático · Conhecer a rede do seu computador (20 min)
Recurso: Linha de comandos do Windows (cmd)
Tarefas:
1. Abra a linha de comandos: prima a tecla Windows, escreva cmd e prima Enter.
2. Escreva ipconfig /all e anote o endereço IPv4, a máscara de sub-rede, o gateway predefinido e o servidor DNS.
3. Indique se o endereço é privado ou público e a que intervalo pertence.
4. Confirme se o endereço foi atribuído por DHCP (linha «DHCP Ativado»).
5. Escreva ping 127.0.0.1 e explique o que está a testar.
6. Escreva nslookup grupoangbu.com e anote o endereço IP devolvido pelo DNS.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Chave de Respostas]
1. Em que camada do modelo OSI operam os endereços IP e os routers?
   ✓ Resposta certa: C) Camada 3 — Rede
2. Se um computador apresentar o endereço IPv4 169.254.45.12 (APIPA), o que significa?
   ✓ Resposta certa: B) Não conseguiu obter um endereço a partir do servidor DHCP
3. Qual é a sequência correta das quatro mensagens utilizadas pelo protocolo DHCP?
   ✓ Resposta certa: A) Discover, Offer, Request, Acknowledge (DORA)
4. Que protocolo e porta são utilizados para carregar páginas web com ligação segura e cifrada?
   ✓ Resposta certa: B) HTTPS — porta 443 TCP
5. Qual é o papel principal do serviço DNS numa rede?
   ✓ Resposta certa: B) Traduzir nomes de domínio (como grupoangbu.com) em endereços IP
6. Que equipamento liga os computadores dentro da mesma LAN e encaminha tramas com base no endereço MAC (camada 2)?
   ✓ Resposta certa: A) Switch (comutador)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Glossário]
• APIPA: Endereço 169.254.x.x que o Windows atribui a si próprio quando não recebe resposta do DHCP.
• DHCP: Serviço que atribui automaticamente endereços IP e outras definições de rede.
• DNS: Serviço que traduz nomes de domínio em endereços IP.
• Gateway predefinido: O router para onde o computador envia o tráfego destinado a outras redes.
• Endereço MAC: Identificador físico de uma placa de rede, usado pelo switch na camada 2.
• NAT: Tradução de endereços privados para um endereço público, feita pelo router.
• Porta: Número que identifica o serviço de destino de uma ligação TCP ou UDP.
• Topologia: Forma como os dispositivos de uma rede estão ligados entre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[Guia do Formador ATC · Encerramento]
Lembre os formandos de que o manual ilustrado, as vídeo-aulas e o guia por voz estão disponíveis na plataforma ATC (lms.grupoangbu.com).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5F99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2900" dirty="0"/>
          </a:p>
        </p:txBody>
      </p:sp>
      <p:pic>
        <p:nvPicPr>
          <p:cNvPr id="4" name="Image 0" descr="/Users/almeidajose/Documents/A/App/ATC 2/atc_lms/static/logo-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384048"/>
            <a:ext cx="566928" cy="5669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6327648"/>
            <a:ext cx="11091672" cy="13716"/>
          </a:xfrm>
          <a:prstGeom prst="rect">
            <a:avLst/>
          </a:prstGeom>
          <a:solidFill>
            <a:srgbClr val="E3E8EE"/>
          </a:solidFill>
          <a:ln/>
        </p:spPr>
      </p:sp>
      <p:sp>
        <p:nvSpPr>
          <p:cNvPr id="6" name="Text 2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CompTIA Network+ (N10-009)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a">
    <p:bg>
      <p:bgPr>
        <a:solidFill>
          <a:srgbClr val="E8E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ATC · Angbu Training Centre   |   CompTIA Network+ (N10-009) · Módulo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5888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MANUAL DO FORMANDO · MÓDULO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86000"/>
            <a:ext cx="58885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CompTIA Network+ (N10-009)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0"/>
            <a:ext cx="58885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Conceitos de redes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58885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6"/>
                </a:solidFill>
              </a:rPr>
              <a:t>Fundamentos de redes, configuração e resolução de problemas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58885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Cabinda, Angola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DEE6"/>
                </a:solidFill>
              </a:rPr>
              <a:t>Versão 1.0 · amostra · 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60887" y="822960"/>
            <a:ext cx="4782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OLÁ, SOU O MIGUEL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60887" y="1143000"/>
            <a:ext cx="4782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Bem-vindo ao módulo 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60887" y="2103120"/>
            <a:ext cx="4782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Neste módulo vai conhecer o modelo OSI, os tipos de rede e as topologias, o endereçamento IPv4, as portas e protocolos mais usados e o papel de cada equipamento de rede. Corresponde ao domínio 1 do exame (Conceitos de redes).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60887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60887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952327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 sala e laboratório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6383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546383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637823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 vídeo-aulas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231879" y="4709160"/>
            <a:ext cx="1411176" cy="1325880"/>
          </a:xfrm>
          <a:prstGeom prst="roundRect">
            <a:avLst>
              <a:gd name="adj" fmla="val 689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231879" y="4800600"/>
            <a:ext cx="141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323319" y="5468112"/>
            <a:ext cx="122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temas estruturados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COMPETÊNCIAS E RESULTADOS DE APRENDIZAGEM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470916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rgbClr val="0B2137"/>
            </a:solidFill>
            <a:prstDash val="solid"/>
          </a:ln>
        </p:spPr>
      </p:sp>
      <p:pic>
        <p:nvPicPr>
          <p:cNvPr id="5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931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final deste módulo,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será capaz de: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Helena · guia virtual ATC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142646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07408" y="153543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07408" y="15354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42646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Descrever as sete camadas do modelo OSI e dar um exemplo de cada uma.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21132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232029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07408" y="23202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074920" y="221132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Distinguir LAN, WAN, WLAN e as topologias em estrela, malha e híbrida.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06240" y="299618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07408" y="310515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07408" y="3105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299618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Reconhecer endereços IPv4 públicos, privados, de loopback e APIPA.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06240" y="378104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07408" y="389001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07408" y="38900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074920" y="378104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Explicar como o DHCP atribui endereços (processo DORA).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06240" y="456590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467487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07408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074920" y="456590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Associar os protocolos mais comuns às suas portas TCP/UDP.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206240" y="5350764"/>
            <a:ext cx="7406640" cy="656844"/>
          </a:xfrm>
          <a:prstGeom prst="roundRect">
            <a:avLst>
              <a:gd name="adj" fmla="val 11137"/>
            </a:avLst>
          </a:prstGeom>
          <a:solidFill>
            <a:srgbClr val="F2F4F7"/>
          </a:solidFill>
          <a:ln w="6350">
            <a:solidFill>
              <a:srgbClr val="DCE3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07408" y="545973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DA6D2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07408" y="5459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074920" y="5350764"/>
            <a:ext cx="6355080" cy="65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Identificar a função do router, do switch, do ponto de acesso e da firewall.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888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MÓDULO 1 · CONCEITOS DE REDES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8885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Percurso do módulo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03704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037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148840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que é uma rede?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7063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15768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 modelo OSI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282696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Endereçamento IPv4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4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849624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DHCP e DNS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416552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Portas e protocolos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493776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3834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83480"/>
            <a:ext cx="52301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Equipamentos de rede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1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O que é uma rede?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33365" y="126187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Topologia em estrela: todos os computadores e a impressora ligam ao switch do bastidor; o ponto de acesso dá Wi-Fi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373" y="1325880"/>
            <a:ext cx="3777654" cy="2125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33365" y="352501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7" name="Image 1" descr="Da LAN à WAN: um edifício, o Wi-Fi do edifício, a cidade e a ligação entre continentes. Imagem ilustrativa criada para a AT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73" y="3589020"/>
            <a:ext cx="3777654" cy="21259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Topologia em estrela: todos os computadores e a impressora ligam ao switch do bastidor; o ponto de acesso dá Wi-Fi. Imagem ilustrativa criada para…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69080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é um conjunto de dispositivos ligados entre si para partilhar dados e recursos: ficheiros, impressoras, a ligação à Internet ou aplicações. Cada dispositivo ligado chama-se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nó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anfitrião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(host).</a:t>
            </a:r>
            <a:endParaRPr lang="en-US" sz="1400" dirty="0"/>
          </a:p>
        </p:txBody>
      </p:sp>
      <p:sp>
        <p:nvSpPr>
          <p:cNvPr id="10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11" name="Image 2" descr="Miguel, guia virtual AT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Nas empresas, a topologia mais comum dentro do edifício é a estrela: se um cabo falhar, só esse computador fica sem rede.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1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O que é uma rede? — Quadro de referência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edifício ou um piso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rede da sala de formação da ATC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LAN sem fios (Wi-Fi)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Wi-Fi do escritório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Ligação entre as delegações de Cabinda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Países e continentes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Internet; a ligação Cabinda–Luanda–Lisboa de uma empresa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2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O modelo OSI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As sete camadas do modelo OSI: os dados descem da Aplicação até ao sinal no cabo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As sete camadas do modelo OSI: os dados descem da Aplicação até ao sinal no cabo.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3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modelo OSI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divide a comunicação em sete camadas e ajuda a localizar problemas: um cabo partido é da camada 1; um endereço IP errado, da camada 3.</a:t>
            </a:r>
            <a:endParaRPr lang="en-US" sz="16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9" name="Image 1" descr="Helena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Nota pedagógica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TCP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confirma a entrega e reenvia o que se perde (web, correio). O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UDP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não confirma, mas é mais rápido (voz, vídeo em direto, DNS).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2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O modelo OSI — Quadro de referência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de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DNS, SMTP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Cifragem TLS, formatos de ficheiro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e fechar sessões entre aplicações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 (TCP) / datagrama (UDP)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TCP, UDP, portas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IP, router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Ligação de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Endereço MAC, switch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Física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Cabo, fibra, sinal Wi-Fi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3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Endereçamento IPv4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NAT: os dispositivos da rede privada saem para a Internet através do endereço público do router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NAT: os dispositivos da rede privada saem para a Internet através do endereço público do router.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57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endereço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IPv4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tem 32 bits, escritos em quatro números de 0 a 255 separados por pontos, por exemplo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192.168.1.20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máscara de sub-rede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(por exemplo 255.255.255.0, ou /24) indica que parte do endereço identifica a rede e que parte identifica o dispositivo.</a:t>
            </a:r>
            <a:endParaRPr lang="en-US" sz="14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378706"/>
            <a:ext cx="4069080" cy="1793494"/>
          </a:xfrm>
          <a:prstGeom prst="roundRect">
            <a:avLst>
              <a:gd name="adj" fmla="val 6118"/>
            </a:avLst>
          </a:prstGeom>
          <a:solidFill>
            <a:srgbClr val="FBEDE6"/>
          </a:solidFill>
          <a:ln w="9525">
            <a:solidFill>
              <a:srgbClr val="F0C7B4"/>
            </a:solidFill>
            <a:prstDash val="solid"/>
          </a:ln>
        </p:spPr>
      </p:sp>
      <p:pic>
        <p:nvPicPr>
          <p:cNvPr id="9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886833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4451858"/>
            <a:ext cx="278892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Atenção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 um computador tiver um endereço 169.254.x.x, não está a receber endereço do servidor DHCP. Verifique o cabo, o Wi-Fi e o servidor DHCP antes de mexer noutras definições.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3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Endereçamento IPv4 — Quadro de referência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endereço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 (classe 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 – 10.255.255.255 (/8)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internas grandes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 (classe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172.16.0.0 – 172.31.255.255 (/12)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internas médias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Privado (classe 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192.168.0.0 – 192.168.255.255 (/16)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Casas e pequenos escritórios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próprio computador (testes)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169.254.0.0 – 169.254.255.255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Atribuído sozinho quando o DHCP não responde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4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DHCP e DNS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33365" y="126187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As quatro mensagens do DHCP entre o computador e o servidor: Discover, Offer, Request e Acknowledge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373" y="1325880"/>
            <a:ext cx="3777654" cy="2125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33365" y="3525012"/>
            <a:ext cx="3905670" cy="2253996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7" name="Image 1" descr="O DNS funciona como uma lista telefónica: dá o nome e recebe o endereço IP. Imagem ilustrativa criada para a ATC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373" y="3589020"/>
            <a:ext cx="3777654" cy="21259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As quatro mensagens do DHCP entre o computador e o servidor: Discover, Offer, Request e Acknowledge. Imagem ilustrativa criada para a ATC.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589520" y="1325880"/>
            <a:ext cx="40690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DHCP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atribui automaticamente a cada dispositivo um endereço IP, a máscara de sub-rede, 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gateway predefinido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(o router) e o servidor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DNS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O processo tem quatro mensagens, conhecidas pela sigla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DORA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:</a:t>
            </a:r>
            <a:endParaRPr lang="en-US" sz="1600" dirty="0"/>
          </a:p>
        </p:txBody>
      </p:sp>
      <p:sp>
        <p:nvSpPr>
          <p:cNvPr id="10" name="Cartão de dica"/>
          <p:cNvSpPr/>
          <p:nvPr/>
        </p:nvSpPr>
        <p:spPr>
          <a:xfrm>
            <a:off x="7589520" y="4768342"/>
            <a:ext cx="4069080" cy="1403858"/>
          </a:xfrm>
          <a:prstGeom prst="roundRect">
            <a:avLst>
              <a:gd name="adj" fmla="val 781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11" name="Image 2" descr="Helena, guia virtual AT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081651"/>
            <a:ext cx="777240" cy="777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14232" y="4841494"/>
            <a:ext cx="2788920" cy="1257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da Helena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 Windows, o comando 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ipconfig /all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mostra o endereço IP, o gateway, o servidor DNS e se o endereço veio do DHCP.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4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DHCP e DNS — Quadro de referência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envia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(descoberta)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cliente procura um servidor DHCP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(oferta)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servidor propõe um endereço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(pedido)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cliente aceita a oferta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Acknowledge (confirmação)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servidor confirma a concessão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5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Portas e protocolos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Cada serviço do servidor tem a sua porta, tal como cada sala tem a sua porta num edifício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Cada serviço do servidor tem a sua porta, tal como cada sala tem a sua porta num edifício.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servidor pode oferecer vários serviços ao mesmo tempo. 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porta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indica a que serviço se destina cada ligação. No exame tem de associar os protocolos mais comuns às suas portas.</a:t>
            </a:r>
            <a:endParaRPr lang="en-US" sz="1600" dirty="0"/>
          </a:p>
        </p:txBody>
      </p:sp>
      <p:sp>
        <p:nvSpPr>
          <p:cNvPr id="8" name="Cartão de dica"/>
          <p:cNvSpPr/>
          <p:nvPr/>
        </p:nvSpPr>
        <p:spPr>
          <a:xfrm>
            <a:off x="7589520" y="4963160"/>
            <a:ext cx="4069080" cy="1209040"/>
          </a:xfrm>
          <a:prstGeom prst="roundRect">
            <a:avLst>
              <a:gd name="adj" fmla="val 9076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pic>
        <p:nvPicPr>
          <p:cNvPr id="9" name="Image 1" descr="Miguel, guia virtual AT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17906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714232" y="5036312"/>
            <a:ext cx="2788920" cy="106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Dica do Miguel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Comece por memorizar as portas que usa todos os dias: 80 (HTTP), 443 (HTTPS), 53 (DNS) e 3389 (RDP).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5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Portas e protocolos — Quadro de referência</a:t>
            </a:r>
            <a:endParaRPr lang="en-US" sz="2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 serve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20/21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Transferir ficheiros (sem cifragem)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/ SFTP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remoto seguro; transferência segura de ficheiros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remoto sem cifragem (a evitar)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correio entre servidores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TCP/UDP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Traduzir nomes em endereços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67/68 UDP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Atribuir endereços automaticamente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web sem cifragem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UDP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Acertar a hora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161/162 UDP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Monitorizar equipamentos de rede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diretórios de utilizadores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Páginas web cifradas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Partilha de ficheiros e impressoras no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3389 TCP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de trabalho remoto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6 DE 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Equipamentos de rede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84632" y="1578127"/>
            <a:ext cx="6803136" cy="3884625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9525">
            <a:solidFill>
              <a:srgbClr val="DCE3E9"/>
            </a:solidFill>
            <a:prstDash val="solid"/>
          </a:ln>
          <a:effectLst>
            <a:outerShdw sx="100000" sy="100000" kx="0" ky="0" algn="bl" rotWithShape="0" blurRad="127000" dist="38100" dir="5400000">
              <a:srgbClr val="0B2137">
                <a:alpha val="18000"/>
              </a:srgbClr>
            </a:outerShdw>
          </a:effectLst>
        </p:spPr>
      </p:sp>
      <p:pic>
        <p:nvPicPr>
          <p:cNvPr id="5" name="Image 0" descr="Da esquerda para a direita: switch, router, ponto de acesso sem fios e firewall. Imagem ilustrativa criada para a ATC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2135"/>
            <a:ext cx="6675120" cy="37566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064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Da esquerda para a direita: switch, router, ponto de acesso sem fios e firewall. Imagem ilustrativa criada para a ATC.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1325880"/>
            <a:ext cx="4069080" cy="130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Num pequeno escritório, um único aparelho pode fazer de router, switch, ponto de acesso e firewall. Numa empresa, cada função costuma ter o seu equipamento.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817368"/>
            <a:ext cx="4069080" cy="335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Switch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2 (Ligação de dados)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Router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3 (Rede)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Ponto de acesso (AP)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Firewall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3 a 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Balanceador de carga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: 4 a 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TEMA 6 DE 6 · QUADRO-RESUMO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Equipamentos de rede — Quadro de referência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434133"/>
                <a:gridCol w="5089550"/>
                <a:gridCol w="35405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OSI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(Ligação de dados)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os dispositivos da LAN e envia cada trama só para a porta certa, pelo endereço MAC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(Rede)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redes diferentes (por exemplo, a LAN à Internet) e escolhe o caminho pelo endereço 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de acesso (AP)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Liga dispositivos sem fios à rede com fios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Permite ou bloqueia tráfego segundo regras de segurança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de carga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 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 os pedidos por vários servidores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7544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MÓDULO 1 · SÍNTESE PEDAGÓGICA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7544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Ideias-chave a reter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48840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Modelo OSI: sete camadas, da Física (1) à Aplicação (7).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48432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48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902712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LAN, WLAN, MAN e WAN distinguem-se pelo alcance.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2304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0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656584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Endereços privados: 10.x, 172.16–31.x e 192.168.x; 169.254.x indica falha do DHCP.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56176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56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10456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DHCP em quatro passos: Discover, Offer, Request, Acknowledge.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10048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1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64328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Portas essenciais: 22 SSH, 53 DNS, 80 HTTP, 443 HTTPS, 3389 RDP.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9639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963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918200"/>
            <a:ext cx="5251537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Switch: endereços MAC (camada 2). Router: endereços IP (camada 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PRÁTICA GUIADA EM LABORATÓRIO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 prático: Conhecer a rede do seu computador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441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minutos de prática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Linha de comandos do Windows (cmd)</a:t>
            </a:r>
            <a:endParaRPr lang="en-US" sz="1350" dirty="0"/>
          </a:p>
        </p:txBody>
      </p:sp>
      <p:pic>
        <p:nvPicPr>
          <p:cNvPr id="8" name="Image 0" descr="Helena, guia virtual AT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416052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650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Apoio da Helena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43560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69080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141732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Abra a linha de comandos: prima a tecla Windows, escreva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cmd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 prima Enter.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69080" y="206806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69080" y="20680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04978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Escreva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ipconfig /all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 anote o endereço IPv4, a máscara de sub-rede, o gateway predefinido e o servidor DNS.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069080" y="270052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69080" y="2700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68224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Indique se o endereço é privado ou público e a que intervalo pertence.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069080" y="333298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69080" y="33329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314700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Confirme se o endereço foi atribuído por DHCP (linha «DHCP Ativado»).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069080" y="3965448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69080" y="3965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3947160"/>
            <a:ext cx="708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Escreva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ping 127.0.0.1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 explique o que está a testar.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069080" y="4477512"/>
            <a:ext cx="347472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69080" y="4477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4459224"/>
            <a:ext cx="708660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Escreva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nslookup grupoangbu.com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 anote o endereço IP devolvido pelo DNS.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069080" y="5532120"/>
            <a:ext cx="7589520" cy="594360"/>
          </a:xfrm>
          <a:prstGeom prst="roundRect">
            <a:avLst>
              <a:gd name="adj" fmla="val 12308"/>
            </a:avLst>
          </a:prstGeom>
          <a:solidFill>
            <a:srgbClr val="EDF7F1"/>
          </a:solidFill>
          <a:ln w="9525">
            <a:solidFill>
              <a:srgbClr val="B8DE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51960" y="55778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Critério de sucesso: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concluir todos os passos com autonomia e validar o resultado com o formador.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AVALIAÇÃO FORMATIVA EM SALA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os seus conhecimentos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53896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53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46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Em que camada do modelo OSI operam os endereços IP e os routers?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Camada 1 — Física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Camada 2 — Ligação de dados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Camada 3 — Rede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Camada 7 — Aplicação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53896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53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746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Se um computador apresentar o endereço IPv4 169.254.45.12 (APIPA), o que significa?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31720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Está ligado diretamente à fibra ótica do operador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Não conseguiu obter um endereço a partir do servidor DHCP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O servidor DNS traduziu o nome com sucesso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A placa de rede está avariada fisicamente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12464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0050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Qual é a sequência correta das quatro mensagens utilizadas pelo protocolo DHCP?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590288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Discover, Offer, Request, Acknowledge (DORA)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Send, Receive, Confirm, Close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Ping, Trace, Lookup, Route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Request, Offer, Discover, Accept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584448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712464"/>
            <a:ext cx="114300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712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QUESTÃO 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0050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Que protocolo e porta são utilizados para carregar páginas web com ligação segura e cifrada?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590288"/>
            <a:ext cx="5029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A) HTTP — porta 80 TCP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B) HTTPS — porta 443 TCP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C) SSH — porta 22 TCP</a:t>
            </a:r>
            <a:endParaRPr lang="en-US" sz="12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1250" dirty="0">
                <a:solidFill>
                  <a:schemeClr val="tx1"/>
                </a:solidFill>
              </a:rPr>
              <a:t>D) DNS — porta 53 UDP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87568"/>
            <a:ext cx="11064240" cy="475488"/>
          </a:xfrm>
          <a:prstGeom prst="roundRect">
            <a:avLst>
              <a:gd name="adj" fmla="val 15385"/>
            </a:avLst>
          </a:prstGeom>
          <a:solidFill>
            <a:srgbClr val="FFF7F0"/>
          </a:solidFill>
          <a:ln w="9525">
            <a:solidFill>
              <a:srgbClr val="F2B48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715000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Dinâmica pedagógica: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discuta cada questão em turma antes de confirmar a resposta certa (chave disponível nas notas do formador).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chemeClr val="accent2"/>
                </a:solidFill>
              </a:rPr>
              <a:t>MÓDULO 1 · TERMINOLOGIA TÉCNICA EM PORTUGUÊS EUROPEU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Glossário essencial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APIPA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Endereço 169.254.x.x que o Windows atribui a si próprio quando não recebe resposta do DHCP.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2816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676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DHCP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Serviço que atribui automaticamente endereços IP e outras definições de rede.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7680" y="13716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6280" y="15544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6280" y="16642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1488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Serviço que traduz nomes de domínio em endereços IP.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predefinido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 router para onde o computador envia o tráfego destinado a outras redes.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2816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676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676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Endereço MAC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5676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Identificador físico de uma placa de rede, usado pelo switch na camada 2.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07680" y="3886200"/>
            <a:ext cx="3505200" cy="2240280"/>
          </a:xfrm>
          <a:prstGeom prst="roundRect">
            <a:avLst>
              <a:gd name="adj" fmla="val 4082"/>
            </a:avLst>
          </a:prstGeom>
          <a:solidFill>
            <a:srgbClr val="F2F4F7"/>
          </a:solidFill>
          <a:ln w="9525">
            <a:solidFill>
              <a:srgbClr val="DCE3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6280" y="4069080"/>
            <a:ext cx="50292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6280" y="4178808"/>
            <a:ext cx="304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336280" y="4663440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Tradução de endereços privados para um endereço público, feita pelo router.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ATC – Angbu Training Cent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887" y="64008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60887" y="2011680"/>
            <a:ext cx="4782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hoje.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mais longe amanhã.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860887" y="3840480"/>
            <a:ext cx="4782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6"/>
                </a:solidFill>
              </a:rPr>
              <a:t>Continue o módulo 1 na plataforma ATC: vídeo-aulas, manual completo, exercícios e o seu guia virtual por voz.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860887" y="5760720"/>
            <a:ext cx="4782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5DEE6"/>
                </a:solidFill>
              </a:rPr>
              <a:t>ATC – Angbu Training Centre · Cabinda, Angola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C Formação">
  <a:themeElements>
    <a:clrScheme name="ATC Formação">
      <a:dk1>
        <a:srgbClr val="1D2733"/>
      </a:dk1>
      <a:lt1>
        <a:srgbClr val="FFFFFF"/>
      </a:lt1>
      <a:dk2>
        <a:srgbClr val="0B2137"/>
      </a:dk2>
      <a:lt2>
        <a:srgbClr val="F2F4F7"/>
      </a:lt2>
      <a:accent1>
        <a:srgbClr val="DA6D24"/>
      </a:accent1>
      <a:accent2>
        <a:srgbClr val="1F5F99"/>
      </a:accent2>
      <a:accent3>
        <a:srgbClr val="F08A3E"/>
      </a:accent3>
      <a:accent4>
        <a:srgbClr val="5F6B78"/>
      </a:accent4>
      <a:accent5>
        <a:srgbClr val="2E7D4F"/>
      </a:accent5>
      <a:accent6>
        <a:srgbClr val="B3361F"/>
      </a:accent6>
      <a:hlink>
        <a:srgbClr val="DA6D24"/>
      </a:hlink>
      <a:folHlink>
        <a:srgbClr val="8A5A3C"/>
      </a:folHlink>
    </a:clrScheme>
    <a:fontScheme name="ATC Form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ATC – Angbu Training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CompTIA Network+ (N10-009) · Módulo 1 · Conceitos de redes</dc:title>
  <dc:subject>Apresentação do manual do formando</dc:subject>
  <dc:creator>ATC – Angbu Training Centre</dc:creator>
  <cp:lastModifiedBy>ATC – Angbu Training Centre</cp:lastModifiedBy>
  <cp:revision>1</cp:revision>
  <dcterms:created xsi:type="dcterms:W3CDTF">2026-10-17T08:00:03Z</dcterms:created>
  <dcterms:modified xsi:type="dcterms:W3CDTF">2026-10-17T08:00:03Z</dcterms:modified>
</cp:coreProperties>
</file>