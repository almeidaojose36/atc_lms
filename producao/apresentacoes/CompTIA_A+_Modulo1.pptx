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9cddc237-852e-b2db-3c53-beb2e6dca915}">
          <p14:sldIdLst>
            <p14:sldId id="256"/>
            <p14:sldId id="257"/>
            <p14:sldId id="258"/>
            <p14:sldId id="259"/>
          </p14:sldIdLst>
        </p14:section>
        <p14:section name="Conteúdos" id="{53b63c82-ece1-66d2-ec61-2fe3ec7f9920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Consolidação" id="{cd3008cf-2ba6-9e5e-70bc-2a7ea3aef650}">
          <p14:sldIdLst>
            <p14:sldId id="269"/>
            <p14:sldId id="270"/>
            <p14:sldId id="271"/>
          </p14:sldIdLst>
        </p14:section>
        <p14:section name="Encerramento" id="{9e5c2ce4-167d-da36-6b94-0fbeb9973969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do módulo 1 do curso CompTIA A+ (220-1201/1202). Miguel é o guia virtual que acompanha os formandos na plataforma ATC.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Neste módulo vai aprender a substituir componentes de um portátil em segurança, a ligar acessórios e redes sem fios a dispositivos móveis e a sincronizar correio, contactos e calendário. Corresponde ao domínio 1 do exame Core 1 (Dispositivos móveis).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Objetivos:
1. Preparar uma intervenção num portátil com as regras de segurança e de proteção contra descargas eletrostáticas.
2. Substituir ou acrescentar memória RAM SO-DIMM num portátil.
3. Identificar e substituir o armazenamento (SATA de 2,5 polegadas e M.2) e a placa sem fios.
4. Emparelhar um acessório Bluetooth com um telemóvel ou portátil.
5. Distinguir Wi-Fi, rede móvel, hotspot, tethering e NFC.
6. Configurar a sincronização de correio, contactos e calendário.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Temas do módulo:
1.1 Antes de abrir um portátil
1.2 Memória RAM
1.3 Armazenamento e placa sem fios
1.4 Emparelhar acessórios Bluetooth
1.5 Ligações dos dispositivos móveis
1.6 Sincronização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1.1 Antes de abrir um portátil
[Figura] Bancada preparada: pulseira antiestática ligada à terra, tapete antiestático e parafusos arrumados por ordem. Imagem ilustrativa criada para a ATC.
Um portátil tem componentes pequenos e sensíveis. Antes de qualquer intervenção, siga sempre o mesmo procedimento: é a forma de proteger o equipamento, os dados do cliente e a sua própria segurança.
1. Faça uma cópia de segurança dos dados do cliente, se o equipamento ainda arrancar.
2. Encerre o sistema operativo e desligue o carregador.
3. Desligue ou retire a bateria; nos modelos com bateria interna, desligue o conector da bateria logo que abrir a tampa.
4. Coloque a pulseira antiestática (ESD) e ligue-a a um ponto de terra; trabalhe sobre um tapete antiestático.
5. Fotografe o interior e guarde os parafusos por ordem, porque costumam ter tamanhos diferentes.
6. Consulte o manual de serviço do fabricante antes de retirar peças.
Atenção: Uma descarga eletrostática que nem sente pode danificar a memória ou a placa principal. Use sempre a pulseira antiestática.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1.2 Memória RAM
[Figura] Instalar um módulo SO-DIMM: encaixe em ângulo, com o entalhe alinhado, e baixe até as patilhas prenderem. Imagem ilustrativa criada para a ATC.
Os portáteis usam memória no formato SO-DIMM (Small Outline DIMM), mais pequena do que a DIMM dos computadores de secretária. Em muitos portáteis finos, a memória vem soldada à placa principal e não pode ser trocada.
Formato | Onde se usa | Nota
DIMM | Computadores de secretária | Módulo comprido
SO-DIMM | Portáteis e mini PC | Módulo curto; encaixa em ângulo e baixa até prender
Soldada (onboard) | Ultraportáteis e tablets | Não se substitui; confirme antes de vender um upgrade
1. Confirme no manual o tipo de memória (por exemplo DDR4 ou DDR5) e o máximo suportado.
2. Abra a tampa de acesso à memória ou a tampa inferior.
3. Afaste as duas patilhas laterais: o módulo antigo levanta-se em ângulo.
4. Encaixe o novo módulo a cerca de 30 graus, com o entalhe alinhado, e baixe-o até as patilhas prenderem.
5. Ligue o portátil e confirme a memória total nas Definições do Windows (Sistema › Acerca de).
Dica: A memória DDR4 e a DDR5 têm o entalhe em posições diferentes: um módulo de outra geração não encaixa. Nunca force.
[Figura] Em cima, um módulo DIMM de computador de secretária; em baixo, um SO-DIMM de portátil. Imagem ilustrativa criada para a ATC.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1.2 Memória RAM (tabela)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1.3 Armazenamento e placa sem fios
[Figura] Interior de um portátil: SSD M.2 e placa sem fios (destacados), compartimento do disco de 2,5" e bateria desligada. Imagem ilustrativa criada para a ATC.
Componente | Formato comum | O que verificar
Disco SSD ou HDD de 2,5" | SATA | Espessura (7 mm ou 9,5 mm) e o suporte do disco
SSD M.2 | M.2 SATA ou M.2 NVMe | O tipo aceite pela ranhura e o comprimento (por exemplo 2280)
Placa sem fios | M.2 (em modelos antigos, Mini PCIe) | Os cabos de antena e a compatibilidade Wi-Fi/Bluetooth
Para substituir a placa sem fios, desligue com cuidado os pequenos conectores das antenas, retire o parafuso de fixação e puxe a placa em ângulo. Na placa nova, volte a ligar as antenas nos mesmos terminais (normalmente marcados como MAIN e AUX).
Nota: Um SSD M.2 NVMe é muito mais rápido do que um SSD SATA, mas só funciona numa ranhura M.2 que suporte NVMe. Confirme sempre no manual.
[Figura] Da esquerda para a direita: SSD SATA de 2,5", SSD M.2 SATA (dois entalhes) e SSD M.2 NVMe (um entalhe). Imagem ilustrativa criada para a ATC.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1.3 Armazenamento e placa sem fios (tabela)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1.4 Emparelhar acessórios Bluetooth
[Figura] Emparelhar auriculares Bluetooth com o telemóvel. Imagem ilustrativa criada para a ATC.
O Bluetooth liga acessórios a curta distância (normalmente até 10 metros): auriculares, teclados, ratos, colunas e o sistema de som do carro. A primeira ligação chama-se emparelhamento.
1. Ative o Bluetooth no telemóvel ou no portátil.
2. Coloque o acessório em modo de emparelhamento (consulte as instruções; muitas vezes, mantém-se premido um botão até a luz piscar).
3. No telemóvel ou no portátil, procure dispositivos e escolha o acessório na lista.
4. Se for pedido, confirme ou introduza o código PIN.
5. Teste: reproduza som, escreva no teclado ou mova o rato.
Dica: Estas instruções são gerais. Cada fabricante pode usar botões ou passos ligeiramente diferentes.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1.5 Ligações dos dispositivos móveis
[Figura] Hotspot: o telemóvel partilha os dados móveis com o portátil por Wi-Fi; o cabo USB-C é a alternativa (tethering). Imagem ilustrativa criada para a ATC.
Ligação | Para que serve | Exemplo
Wi-Fi | Ligar a uma rede local sem fios | O Wi-Fi do escritório
Rede móvel (4G/5G) | Dados através do operador | Navegar na rua
Hotspot | O telemóvel partilha os dados móveis por Wi-Fi | Dar Internet ao portátil numa reunião
Tethering USB | Partilhar os dados móveis por cabo | Ligação mais estável ao portátil
NFC | Comunicação a poucos centímetros | Pagamentos com o telemóvel
Bluetooth | Acessórios a curta distância | Auriculares e teclados
Uma estação de ancoragem (docking station) ou um replicador de portas liga o portátil, com um só cabo, ao monitor, ao teclado, ao rato e à rede da secretária.
[Figura] Estação de ancoragem: um só cabo liga o portátil ao monitor, à rede e aos periféricos. Imagem ilustrativa criada para a ATC.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1.5 Ligações dos dispositivos móveis (tabela)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1.6 Sincronização
[Figura] Correio, contactos e calendário sincronizados entre o telemóvel e o portátil através da nuvem. Imagem ilustrativa criada para a ATC.
A sincronização mantém os mesmos dados em vários dispositivos. Quando lê um e-mail no telemóvel, ele aparece como lido no portátil, porque ambos sincronizam com o servidor da conta (por exemplo, Microsoft 365 ou Google).
O que se sincroniza | Onde se configura
Correio | Aplicação de correio, com a conta da empresa
Contactos e calendário | Definições › Contas, na mesma conta
Fotografias e ficheiros | Serviço de nuvem (OneDrive, Google Drive, iCloud)
Atenção: Ao configurar a conta de um cliente, nunca peça nem anote a palavra-passe. Peça ao cliente que a introduza ele próprio.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Resumo:
Antes de abrir: cópia de segurança, bateria desligada, pulseira antiestática.
Portáteis usam memória SO-DIMM; nos ultraportáteis pode estar soldada.
Armazenamento: SATA de 2,5" ou M.2 (SATA ou NVMe).
Bluetooth: ativar, emparelhar, escolher, confirmar o PIN, testar.
Hotspot e tethering partilham os dados móveis; o NFC atua a centímetros.
A sincronização mantém correio, contactos e calendário iguais.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Exercício prático · Ficha de intervenção num portátil (25 min)
Portátil de formação da ATC (ou fotografias do manual de serviço)
1. Preencha a lista de verificação de segurança da secção 1.1 antes de abrir o equipamento.
2. Identifique o tipo e a quantidade de memória instalada e o máximo suportado pelo modelo.
3. Identifique o tipo de armazenamento (SATA de 2,5", M.2 SATA ou M.2 NVMe).
4. Localize a placa sem fios e os cabos de antena MAIN e AUX.
5. Emparelhe um rato ou auriculares Bluetooth e registe os passos que seguiu.
6. Ative o hotspot de um telemóvel de formação e ligue o portátil a essa rede.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ESD: Descarga eletrostática: eletricidade estática que pode danificar componentes eletrónicos.
SO-DIMM: Formato de memória RAM mais pequeno, usado em portáteis.
M.2: Formato de ranhura e de cartão para SSD e placas sem fios.
NVMe: Protocolo de armazenamento rápido para SSD ligados por PCIe.
Emparelhamento: Primeira ligação entre dois dispositivos Bluetooth.
Hotspot: Função que transforma o telemóvel num ponto de acesso Wi-Fi.
Tethering: Partilha dos dados móveis do telemóvel com outro dispositivo.
Sincronização: Manter os mesmos dados atualizados em vários dispositivos.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Lembre os formandos de que o manual, os vídeos e o guia por voz estão disponíveis na plataforma ATC.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pic>
        <p:nvPicPr>
          <p:cNvPr id="3" name="Image 0" descr="/Users/almeidajose/Documents/A/App/ATC 2/atc_lms/static/logo-6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566928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ATC · Angbu Training Centre   |   CompTIA A+ (220-1201/1202) · Módulo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a">
    <p:bg>
      <p:bgPr>
        <a:solidFill>
          <a:srgbClr val="E8EA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ATC · Angbu Training Centre   |   CompTIA A+ (220-1201/1202) · Módulo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B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ótipo ATC – Angbu Training Cent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960120" cy="9601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965960"/>
            <a:ext cx="49498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MANUAL DO FORMANDO · MÓDULO 1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286000"/>
            <a:ext cx="494980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CompTIA A+ (220-1201/1202)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657600"/>
            <a:ext cx="494980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3"/>
                </a:solidFill>
              </a:rPr>
              <a:t>Dispositivos móveis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49498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5DEE6"/>
                </a:solidFill>
              </a:rPr>
              <a:t>Suporte técnico de hardware, sistemas operativos e redes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715000"/>
            <a:ext cx="49498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5DEE6"/>
                </a:solidFill>
              </a:rPr>
              <a:t>ATC – Angbu Training Centre · Luanda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5DEE6"/>
                </a:solidFill>
              </a:rPr>
              <a:t>Versão 1.0 · amostra · Outubro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19519" y="822960"/>
            <a:ext cx="5123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OLÁ, SOU A HELENA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519519" y="1143000"/>
            <a:ext cx="5123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Bem-vindo ao módulo 1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519519" y="2103120"/>
            <a:ext cx="512353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Neste módulo vai aprender a substituir componentes de um portátil em segurança, a ligar acessórios e redes sem fios a dispositivos móveis e a sincronizar correio, contactos e calendário. Corresponde ao domínio 1 do exame Core 1 (Dispositivos móveis).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19519" y="4709160"/>
            <a:ext cx="1524965" cy="1325880"/>
          </a:xfrm>
          <a:prstGeom prst="roundRect">
            <a:avLst>
              <a:gd name="adj" fmla="val 6897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519519" y="4800600"/>
            <a:ext cx="152496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h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6610959" y="5468112"/>
            <a:ext cx="13420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 sessão presencial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318805" y="4709160"/>
            <a:ext cx="1524965" cy="1325880"/>
          </a:xfrm>
          <a:prstGeom prst="roundRect">
            <a:avLst>
              <a:gd name="adj" fmla="val 6897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318805" y="4800600"/>
            <a:ext cx="152496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480 min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8410245" y="5468112"/>
            <a:ext cx="13420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 vídeo-aulas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118090" y="4709160"/>
            <a:ext cx="1524965" cy="1325880"/>
          </a:xfrm>
          <a:prstGeom prst="roundRect">
            <a:avLst>
              <a:gd name="adj" fmla="val 6897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10118090" y="4800600"/>
            <a:ext cx="152496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10209530" y="5468112"/>
            <a:ext cx="13420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temas neste módulo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do módulo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291840" cy="4709160"/>
          </a:xfrm>
          <a:prstGeom prst="roundRect">
            <a:avLst>
              <a:gd name="adj" fmla="val 4167"/>
            </a:avLst>
          </a:prstGeom>
          <a:solidFill>
            <a:schemeClr val="tx2"/>
          </a:solidFill>
          <a:ln w="12700">
            <a:solidFill>
              <a:srgbClr val="0B2137"/>
            </a:solidFill>
            <a:prstDash val="solid"/>
          </a:ln>
        </p:spPr>
      </p:sp>
      <p:pic>
        <p:nvPicPr>
          <p:cNvPr id="4" name="Image 0" descr="Miguel, guia virtual AT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737360"/>
            <a:ext cx="1920240" cy="1920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39319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final deste módulo,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vai ser capaz de: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5120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Miguel · guia virtual ATC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206240" y="1426464"/>
            <a:ext cx="7406640" cy="656844"/>
          </a:xfrm>
          <a:prstGeom prst="roundRect">
            <a:avLst>
              <a:gd name="adj" fmla="val 1113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407408" y="153543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07408" y="153543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074920" y="1426464"/>
            <a:ext cx="6355080" cy="656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Preparar uma intervenção num portátil com as regras de segurança e de proteção contra descargas eletrostáticas.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206240" y="2211324"/>
            <a:ext cx="7406640" cy="656844"/>
          </a:xfrm>
          <a:prstGeom prst="roundRect">
            <a:avLst>
              <a:gd name="adj" fmla="val 1113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07408" y="232029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407408" y="232029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074920" y="2211324"/>
            <a:ext cx="6355080" cy="656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Substituir ou acrescentar memória RAM SO-DIMM num portátil.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206240" y="2996184"/>
            <a:ext cx="7406640" cy="656844"/>
          </a:xfrm>
          <a:prstGeom prst="roundRect">
            <a:avLst>
              <a:gd name="adj" fmla="val 1113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407408" y="310515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407408" y="310515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074920" y="2996184"/>
            <a:ext cx="6355080" cy="656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Identificar e substituir o armazenamento (SATA de 2,5 polegadas e M.2) e a placa sem fios.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4206240" y="3781044"/>
            <a:ext cx="7406640" cy="656844"/>
          </a:xfrm>
          <a:prstGeom prst="roundRect">
            <a:avLst>
              <a:gd name="adj" fmla="val 1113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407408" y="389001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407408" y="389001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074920" y="3781044"/>
            <a:ext cx="6355080" cy="656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Emparelhar um acessório Bluetooth com um telemóvel ou portátil.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4206240" y="4565904"/>
            <a:ext cx="7406640" cy="656844"/>
          </a:xfrm>
          <a:prstGeom prst="roundRect">
            <a:avLst>
              <a:gd name="adj" fmla="val 1113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407408" y="467487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407408" y="467487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074920" y="4565904"/>
            <a:ext cx="6355080" cy="656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Distinguir Wi-Fi, rede móvel, hotspot, tethering e NFC.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4206240" y="5350764"/>
            <a:ext cx="7406640" cy="656844"/>
          </a:xfrm>
          <a:prstGeom prst="roundRect">
            <a:avLst>
              <a:gd name="adj" fmla="val 1113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07408" y="545973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407408" y="545973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5074920" y="5350764"/>
            <a:ext cx="6355080" cy="656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Configurar a sincronização de correio, contactos e calendário.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49498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MÓDULO 1 · DISPOSITIVOS MÓVEIS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49498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2148840"/>
            <a:ext cx="43097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Antes de abrir um portátil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15768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715768"/>
            <a:ext cx="43097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Memória RAM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8269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3282696"/>
            <a:ext cx="43097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Armazenamento e placa sem fios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84962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849624"/>
            <a:ext cx="43097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Emparelhar acessórios Bluetooth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16552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4416552"/>
            <a:ext cx="43097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Ligações dos dispositivos móveis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9834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983480"/>
            <a:ext cx="43097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Sincronização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 Antes de abrir um portátil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84632" y="1578127"/>
            <a:ext cx="6803136" cy="3884625"/>
          </a:xfrm>
          <a:prstGeom prst="roundRect">
            <a:avLst>
              <a:gd name="adj" fmla="val 1412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4" name="Image 0" descr="Bancada preparada: pulseira antiestática ligada à terra, tapete antiestático e parafusos arrumados por ordem. Imagem ilustrativa criada para a ATC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2135"/>
            <a:ext cx="6675120" cy="375660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806440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Bancada preparada: pulseira antiestática ligada à terra, tapete antiestático e parafusos arrumados por ordem. Imagem ilustrativa criada para a ATC.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7589520" y="1325880"/>
            <a:ext cx="4069080" cy="1548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Um portátil tem componentes pequenos e sensíveis. Antes de qualquer intervenção, siga sempre o mesmo procedimento: é a forma de proteger o equipamento, os dados do cliente e a sua própria segurança.</a:t>
            </a:r>
            <a:endParaRPr lang="en-US" sz="1600" dirty="0"/>
          </a:p>
        </p:txBody>
      </p:sp>
      <p:sp>
        <p:nvSpPr>
          <p:cNvPr id="7" name="Cartão de dica"/>
          <p:cNvSpPr/>
          <p:nvPr/>
        </p:nvSpPr>
        <p:spPr>
          <a:xfrm>
            <a:off x="7589520" y="4768342"/>
            <a:ext cx="4069080" cy="1403858"/>
          </a:xfrm>
          <a:prstGeom prst="roundRect">
            <a:avLst>
              <a:gd name="adj" fmla="val 7816"/>
            </a:avLst>
          </a:prstGeom>
          <a:solidFill>
            <a:srgbClr val="FBEDE6"/>
          </a:solidFill>
          <a:ln w="12700">
            <a:solidFill>
              <a:srgbClr val="FBEDE6"/>
            </a:solidFill>
            <a:prstDash val="solid"/>
          </a:ln>
        </p:spPr>
      </p:sp>
      <p:pic>
        <p:nvPicPr>
          <p:cNvPr id="8" name="Image 1" descr="Helena, guia virtual AT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5081651"/>
            <a:ext cx="777240" cy="777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714232" y="4841494"/>
            <a:ext cx="2788920" cy="1257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6"/>
                </a:solidFill>
              </a:rPr>
              <a:t>Atenção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Uma descarga eletrostática que nem sente pode danificar a memória ou a placa principal. Use sempre a pulseira antiestática.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 Memória RAM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933365" y="1261872"/>
            <a:ext cx="3905670" cy="2253996"/>
          </a:xfrm>
          <a:prstGeom prst="roundRect">
            <a:avLst>
              <a:gd name="adj" fmla="val 2434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4" name="Image 0" descr="Instalar um módulo SO-DIMM: encaixe em ângulo, com o entalhe alinhado, e baixe até as patilhas prenderem. Imagem ilustrativa criada para a ATC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7373" y="1325880"/>
            <a:ext cx="3777654" cy="21259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933365" y="3525012"/>
            <a:ext cx="3905670" cy="2253996"/>
          </a:xfrm>
          <a:prstGeom prst="roundRect">
            <a:avLst>
              <a:gd name="adj" fmla="val 2434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6" name="Image 1" descr="Em cima, um módulo DIMM de computador de secretária; em baixo, um SO-DIMM de portátil. Imagem ilustrativa criada para a ATC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7373" y="3589020"/>
            <a:ext cx="3777654" cy="21259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806440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Instalar um módulo SO-DIMM: encaixe em ângulo, com o entalhe alinhado, e baixe até as patilhas prenderem. Imagem ilustrativa criada para a ATC.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7589520" y="1325880"/>
            <a:ext cx="4069080" cy="1368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Os portáteis usam memória no formato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SO-DIMM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(Small Outline DIMM), mais pequena do que a DIMM dos computadores de secretária. Em muitos portáteis finos, a memória vem soldada à placa principal e não pode ser trocada.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589520" y="2877312"/>
            <a:ext cx="4069080" cy="170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DIMM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: Computadores de secretária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SO-DIMM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: Portáteis e mini PC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Soldada (onboard)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: Ultraportáteis e tablets</a:t>
            </a:r>
            <a:endParaRPr lang="en-US" sz="1300" dirty="0"/>
          </a:p>
        </p:txBody>
      </p:sp>
      <p:sp>
        <p:nvSpPr>
          <p:cNvPr id="10" name="Cartão de dica"/>
          <p:cNvSpPr/>
          <p:nvPr/>
        </p:nvSpPr>
        <p:spPr>
          <a:xfrm>
            <a:off x="7589520" y="4768342"/>
            <a:ext cx="4069080" cy="1403858"/>
          </a:xfrm>
          <a:prstGeom prst="roundRect">
            <a:avLst>
              <a:gd name="adj" fmla="val 781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pic>
        <p:nvPicPr>
          <p:cNvPr id="11" name="Image 2" descr="Miguel, guia virtual ATC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5081651"/>
            <a:ext cx="777240" cy="7772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714232" y="4841494"/>
            <a:ext cx="2788920" cy="1257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Dica do Miguel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A memória DDR4 e a DDR5 têm o entalhe em posições diferentes: um módulo de outra geração não encaixa. Nunca force.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 Memória RAM (continuação)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434133"/>
                <a:gridCol w="5089550"/>
                <a:gridCol w="35405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se usa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Computadores de secretária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 comprido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SO-DIMM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Portáteis e mini PC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 curto; encaixa em ângulo e baixa até prender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Soldada (onboard)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Ultraportáteis e tablets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se substitui; confirme antes de vender um upgrade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 Armazenamento e placa sem fios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933365" y="1261872"/>
            <a:ext cx="3905670" cy="2253996"/>
          </a:xfrm>
          <a:prstGeom prst="roundRect">
            <a:avLst>
              <a:gd name="adj" fmla="val 2434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4" name="Image 0" descr="Interior de um portátil: SSD M.2 e placa sem fios (destacados), compartimento do disco de 2,5&quot; e bateria desligada. Imagem ilustrativa criada para a ATC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7373" y="1325880"/>
            <a:ext cx="3777654" cy="21259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933365" y="3525012"/>
            <a:ext cx="3905670" cy="2253996"/>
          </a:xfrm>
          <a:prstGeom prst="roundRect">
            <a:avLst>
              <a:gd name="adj" fmla="val 2434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6" name="Image 1" descr="Da esquerda para a direita: SSD SATA de 2,5&quot;, SSD M.2 SATA (dois entalhes) e SSD M.2 NVMe (um entalhe). Imagem ilustrativa criada para a ATC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7373" y="3589020"/>
            <a:ext cx="3777654" cy="21259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806440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Interior de um portátil: SSD M.2 e placa sem fios (destacados), compartimento do disco de 2,5" e bateria desligada. Imagem ilustrativa criada para…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7589520" y="1325880"/>
            <a:ext cx="4069080" cy="1578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Para substituir a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placa sem fios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, desligue com cuidado os pequenos conectores das antenas, retire o parafuso de fixação e puxe a placa em ângulo. Na placa nova, volte a ligar as antenas nos mesmos terminais (normalmente marcados como MAIN e AUX).</a:t>
            </a:r>
            <a:endParaRPr lang="en-US" sz="1400" dirty="0"/>
          </a:p>
        </p:txBody>
      </p:sp>
      <p:sp>
        <p:nvSpPr>
          <p:cNvPr id="9" name="Cartão de dica"/>
          <p:cNvSpPr/>
          <p:nvPr/>
        </p:nvSpPr>
        <p:spPr>
          <a:xfrm>
            <a:off x="7589520" y="4768342"/>
            <a:ext cx="4069080" cy="1403858"/>
          </a:xfrm>
          <a:prstGeom prst="roundRect">
            <a:avLst>
              <a:gd name="adj" fmla="val 781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pic>
        <p:nvPicPr>
          <p:cNvPr id="10" name="Image 2" descr="Helena, guia virtual ATC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5081651"/>
            <a:ext cx="777240" cy="7772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714232" y="4841494"/>
            <a:ext cx="2788920" cy="1257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Nota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Um SSD M.2 NVMe é muito mais rápido do que um SSD SATA, mas só funciona numa ranhura M.2 que suporte NVMe. Confirme sempre no manual.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 Armazenamento e placa sem fios (continuação)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434133"/>
                <a:gridCol w="5089550"/>
                <a:gridCol w="35405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Formato comum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verificar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 SSD ou HDD de 2,5"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Espessura (7 mm ou 9,5 mm) e o suporte do disco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M.2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M.2 SATA ou M.2 NVMe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tipo aceite pela ranhura e o comprimento (por exemplo 2280)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Placa sem fios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M.2 (em modelos antigos, Mini PCIe)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 cabos de antena e a compatibilidade Wi-Fi/Bluetooth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 Emparelhar acessórios Bluetooth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84632" y="1578127"/>
            <a:ext cx="6803136" cy="3884625"/>
          </a:xfrm>
          <a:prstGeom prst="roundRect">
            <a:avLst>
              <a:gd name="adj" fmla="val 1412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4" name="Image 0" descr="Emparelhar auriculares Bluetooth com o telemóvel. Imagem ilustrativa criada para a ATC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2135"/>
            <a:ext cx="6675120" cy="375660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806440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Emparelhar auriculares Bluetooth com o telemóvel. Imagem ilustrativa criada para a ATC.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7589520" y="1325880"/>
            <a:ext cx="4069080" cy="1548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Bluetooth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liga acessórios a curta distância (normalmente até 10 metros): auriculares, teclados, ratos, colunas e o sistema de som do carro. A primeira ligação chama-se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emparelhamento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7" name="Cartão de dica"/>
          <p:cNvSpPr/>
          <p:nvPr/>
        </p:nvSpPr>
        <p:spPr>
          <a:xfrm>
            <a:off x="7589520" y="4963160"/>
            <a:ext cx="4069080" cy="1209040"/>
          </a:xfrm>
          <a:prstGeom prst="roundRect">
            <a:avLst>
              <a:gd name="adj" fmla="val 907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pic>
        <p:nvPicPr>
          <p:cNvPr id="8" name="Image 1" descr="Miguel, guia virtual AT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5179060"/>
            <a:ext cx="777240" cy="777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714232" y="5036312"/>
            <a:ext cx="2788920" cy="1062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Dica do Miguel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Estas instruções são gerais. Cada fabricante pode usar botões ou passos ligeiramente diferentes.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 Ligações dos dispositivos móveis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933365" y="1261872"/>
            <a:ext cx="3905670" cy="2253996"/>
          </a:xfrm>
          <a:prstGeom prst="roundRect">
            <a:avLst>
              <a:gd name="adj" fmla="val 2434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4" name="Image 0" descr="Hotspot: o telemóvel partilha os dados móveis com o portátil por Wi-Fi; o cabo USB-C é a alternativa (tethering). Imagem ilustrativa criada para a ATC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7373" y="1325880"/>
            <a:ext cx="3777654" cy="21259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933365" y="3525012"/>
            <a:ext cx="3905670" cy="2253996"/>
          </a:xfrm>
          <a:prstGeom prst="roundRect">
            <a:avLst>
              <a:gd name="adj" fmla="val 2434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6" name="Image 1" descr="Estação de ancoragem: um só cabo liga o portátil ao monitor, à rede e aos periféricos. Imagem ilustrativa criada para a ATC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7373" y="3589020"/>
            <a:ext cx="3777654" cy="21259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806440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Hotspot: o telemóvel partilha os dados móveis com o portátil por Wi-Fi; o cabo USB-C é a alternativa (tethering). Imagem ilustrativa criada para a…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7589520" y="1325880"/>
            <a:ext cx="4069080" cy="130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Uma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estação de ancoragem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(docking station) ou um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replicador de portas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liga o portátil, com um só cabo, ao monitor, ao teclado, ao rato e à rede da secretária.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 Ligações dos dispositivos móveis (continuação)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434133"/>
                <a:gridCol w="5089550"/>
                <a:gridCol w="35405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que serve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Wi-Fi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Ligar a uma rede local sem fios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Wi-Fi do escritório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 móvel (4G/5G)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 através do operador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Navegar na rua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Hotspot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telemóvel partilha os dados móveis por Wi-Fi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 Internet ao portátil numa reunião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Tethering USB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Partilhar os dados móveis por cabo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Ligação mais estável ao portátil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Comunicação a poucos centímetros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Pagamentos com o telemóvel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Bluetooth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Acessórios a curta distância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Auriculares e teclados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 Sincronização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84632" y="1578127"/>
            <a:ext cx="6803136" cy="3884625"/>
          </a:xfrm>
          <a:prstGeom prst="roundRect">
            <a:avLst>
              <a:gd name="adj" fmla="val 1412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4" name="Image 0" descr="Correio, contactos e calendário sincronizados entre o telemóvel e o portátil através da nuvem. Imagem ilustrativa criada para a ATC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2135"/>
            <a:ext cx="6675120" cy="375660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806440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Correio, contactos e calendário sincronizados entre o telemóvel e o portátil através da nuvem. Imagem ilustrativa criada para a ATC.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7589520" y="1325880"/>
            <a:ext cx="4069080" cy="1368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sincronização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mantém os mesmos dados em vários dispositivos. Quando lê um e-mail no telemóvel, ele aparece como lido no portátil, porque ambos sincronizam com o servidor da conta (por exemplo, Microsoft 365 ou Google).</a:t>
            </a:r>
            <a:endParaRPr lang="en-US" sz="1400" dirty="0"/>
          </a:p>
        </p:txBody>
      </p:sp>
      <p:sp>
        <p:nvSpPr>
          <p:cNvPr id="7" name="Cartão de dica"/>
          <p:cNvSpPr/>
          <p:nvPr/>
        </p:nvSpPr>
        <p:spPr>
          <a:xfrm>
            <a:off x="7589520" y="4768342"/>
            <a:ext cx="4069080" cy="1403858"/>
          </a:xfrm>
          <a:prstGeom prst="roundRect">
            <a:avLst>
              <a:gd name="adj" fmla="val 7816"/>
            </a:avLst>
          </a:prstGeom>
          <a:solidFill>
            <a:srgbClr val="FBEDE6"/>
          </a:solidFill>
          <a:ln w="12700">
            <a:solidFill>
              <a:srgbClr val="FBEDE6"/>
            </a:solidFill>
            <a:prstDash val="solid"/>
          </a:ln>
        </p:spPr>
      </p:sp>
      <p:pic>
        <p:nvPicPr>
          <p:cNvPr id="8" name="Image 1" descr="Miguel, guia virtual AT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5081651"/>
            <a:ext cx="777240" cy="777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714232" y="4841494"/>
            <a:ext cx="2788920" cy="1257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6"/>
                </a:solidFill>
              </a:rPr>
              <a:t>Atenção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Ao configurar a conta de um cliente, nunca peça nem anote a palavra-passe. Peça ao cliente que a introduza ele próprio.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120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PARA RECORDAR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6120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Resumo do módulo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48840"/>
            <a:ext cx="5617288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Antes de abrir: cópia de segurança, bateria desligada, pulseira antiestática.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948432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9484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902712"/>
            <a:ext cx="5617288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Portáteis usam memória SO-DIMM; nos ultraportáteis pode estar soldada.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702304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702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656584"/>
            <a:ext cx="5617288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Armazenamento: SATA de 2,5" ou M.2 (SATA ou NVMe).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456176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4561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410456"/>
            <a:ext cx="5617288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Bluetooth: ativar, emparelhar, escolher, confirmar o PIN, testar.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5210048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1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5164328"/>
            <a:ext cx="5617288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Hotspot e tethering partilham os dados móveis; o NFC atua a centímetros.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596392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963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5918200"/>
            <a:ext cx="5617288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sincronização mantém correio, contactos e calendário iguais.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Exercício prático: Ficha de intervenção num portátil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108960" cy="4754880"/>
          </a:xfrm>
          <a:prstGeom prst="roundRect">
            <a:avLst>
              <a:gd name="adj" fmla="val 441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06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minutos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1546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Portátil de formação da ATC (ou fotografias do manual de serviço)</a:t>
            </a:r>
            <a:endParaRPr lang="en-US" sz="1400" dirty="0"/>
          </a:p>
        </p:txBody>
      </p:sp>
      <p:pic>
        <p:nvPicPr>
          <p:cNvPr id="7" name="Image 0" descr="Miguel, guia virtual AT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4251960"/>
            <a:ext cx="1371600" cy="1371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56692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Prática com o Miguel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069080" y="1435608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069080" y="1435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72000" y="1417320"/>
            <a:ext cx="7086600" cy="534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Preencha a lista de verificação de segurança da secção 1.1 antes de abrir o equipamento.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069080" y="2098040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069080" y="2098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0" y="2079752"/>
            <a:ext cx="7086600" cy="534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Identifique o tipo e a quantidade de memória instalada e o máximo suportado pelo modelo.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069080" y="2760472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69080" y="2760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0" y="2742184"/>
            <a:ext cx="7086600" cy="534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Identifique o tipo de armazenamento (SATA de 2,5", M.2 SATA ou M.2 NVMe).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069080" y="3422904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069080" y="3422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0" y="3404616"/>
            <a:ext cx="7086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Localize a placa sem fios e os cabos de antena MAIN e AUX.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4069080" y="3934968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69080" y="3934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3916680"/>
            <a:ext cx="7086600" cy="534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Emparelhe um rato ou auriculares Bluetooth e registe os passos que seguiu.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4069080" y="4597400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69080" y="4597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0" y="4579112"/>
            <a:ext cx="7086600" cy="534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Ative o hotspot de um telemóvel de formação e ligue o portátil a essa rede.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Glossário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ESD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48840"/>
            <a:ext cx="295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Descarga eletrostática: eletricidade estática que pode danificar componentes eletrónicos.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328160" y="13716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2480" y="160020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SO-DIMM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02480" y="2148840"/>
            <a:ext cx="295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Formato de memória RAM mais pequeno, usado em portáteis.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107680" y="13716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82000" y="160020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M.2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382000" y="2148840"/>
            <a:ext cx="295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Formato de ranhura e de cartão para SSD e placas sem fios.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11480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NVMe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663440"/>
            <a:ext cx="295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Protocolo de armazenamento rápido para SSD ligados por PCIe.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328160" y="38862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02480" y="411480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Emparelhamento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602480" y="4663440"/>
            <a:ext cx="295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Primeira ligação entre dois dispositivos Bluetooth.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107680" y="38862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82000" y="411480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Hotspot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382000" y="4663440"/>
            <a:ext cx="295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Função que transforma o telemóvel num ponto de acesso Wi-Fi.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ótipo ATC – Angbu Training Cent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519" y="640080"/>
            <a:ext cx="960120" cy="9601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19519" y="2011680"/>
            <a:ext cx="512353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Aprender hoje.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 mais longe amanhã.</a:t>
            </a:r>
            <a:endParaRPr lang="en-US" sz="3800" dirty="0"/>
          </a:p>
        </p:txBody>
      </p:sp>
      <p:sp>
        <p:nvSpPr>
          <p:cNvPr id="4" name="Text 1"/>
          <p:cNvSpPr txBox="1"/>
          <p:nvPr/>
        </p:nvSpPr>
        <p:spPr>
          <a:xfrm>
            <a:off x="6519519" y="3840480"/>
            <a:ext cx="5123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5DEE6"/>
                </a:solidFill>
              </a:rPr>
              <a:t>Continue o módulo 1 na plataforma ATC: vídeo-aulas, manual completo e o seu guia virtual.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6519519" y="5760720"/>
            <a:ext cx="5123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5DEE6"/>
                </a:solidFill>
              </a:rPr>
              <a:t>ATC – Angbu Training Centre · Luanda, Angola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TC Formação">
  <a:themeElements>
    <a:clrScheme name="ATC Formação">
      <a:dk1>
        <a:srgbClr val="1D2733"/>
      </a:dk1>
      <a:lt1>
        <a:srgbClr val="FFFFFF"/>
      </a:lt1>
      <a:dk2>
        <a:srgbClr val="0B2137"/>
      </a:dk2>
      <a:lt2>
        <a:srgbClr val="F2F4F7"/>
      </a:lt2>
      <a:accent1>
        <a:srgbClr val="DA6D24"/>
      </a:accent1>
      <a:accent2>
        <a:srgbClr val="B5272D"/>
      </a:accent2>
      <a:accent3>
        <a:srgbClr val="F08A3E"/>
      </a:accent3>
      <a:accent4>
        <a:srgbClr val="5F6B78"/>
      </a:accent4>
      <a:accent5>
        <a:srgbClr val="2E7D4F"/>
      </a:accent5>
      <a:accent6>
        <a:srgbClr val="B3361F"/>
      </a:accent6>
      <a:hlink>
        <a:srgbClr val="DA6D24"/>
      </a:hlink>
      <a:folHlink>
        <a:srgbClr val="8A5A3C"/>
      </a:folHlink>
    </a:clrScheme>
    <a:fontScheme name="ATC Form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ATC – Angbu Training Centre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CompTIA A+ (220-1201/1202) · Módulo 1 · Dispositivos móveis</dc:title>
  <dc:subject>Apresentação do manual do formando</dc:subject>
  <dc:creator>ATC – Angbu Training Centre</dc:creator>
  <cp:lastModifiedBy>ATC – Angbu Training Centre</cp:lastModifiedBy>
  <cp:revision>1</cp:revision>
  <dcterms:created xsi:type="dcterms:W3CDTF">2026-10-14T21:19:17Z</dcterms:created>
  <dcterms:modified xsi:type="dcterms:W3CDTF">2026-10-14T21:19:17Z</dcterms:modified>
</cp:coreProperties>
</file>