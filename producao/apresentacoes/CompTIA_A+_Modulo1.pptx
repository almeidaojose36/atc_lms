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1fc5dad-0bd1-ef04-f003-991afcc51c99}">
          <p14:sldIdLst>
            <p14:sldId id="256"/>
            <p14:sldId id="257"/>
            <p14:sldId id="258"/>
            <p14:sldId id="259"/>
          </p14:sldIdLst>
        </p14:section>
        <p14:section name="Conteúdos" id="{ca80c149-bbb1-6d48-15a3-c85c01cf8fc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nsolidação" id="{daacbf73-cd4c-88ab-5089-7cc12a199af6}">
          <p14:sldIdLst>
            <p14:sldId id="269"/>
            <p14:sldId id="270"/>
            <p14:sldId id="271"/>
            <p14:sldId id="272"/>
          </p14:sldIdLst>
        </p14:section>
        <p14:section name="Encerramento" id="{9a6054dc-5c10-a11c-5903-c63f1fe491d0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ATC]
Apresentação do Módulo 1 do curso CompTIA A+ (220-1201/1202).
Miguel é o guia virtual que acompanha os formandos nos vídeos e no manual na plataforma ATC.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Enquadramento]
Neste módulo vai aprender a substituir componentes de um portátil em segurança, a ligar acessórios e redes sem fios a dispositivos móveis e a sincronizar correio, contactos e calendário. Corresponde ao domínio 1 do exame Core 1 (Dispositivos móveis).
Sugestão pedagógica: pergunte aos formandos que experiência prévia já têm com este tema antes de avançar para os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Objetivos]
1. Preparar uma intervenção num portátil com as regras de segurança e de proteção contra descargas eletrostáticas.
2. Substituir ou acrescentar memória RAM SO-DIMM num portátil.
3. Identificar e substituir o armazenamento (SATA de 2,5 polegadas e M.2) e a placa sem fios.
4. Emparelhar um acessório Bluetooth com um telemóvel ou portátil.
5. Distinguir Wi-Fi, rede móvel, hotspot, tethering e NFC.
6. Configurar a sincronização de correio, contactos e calendário.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Percurso]
Temas do módulo:
1.1 Antes de abrir um portátil
1.2 Memória RAM
1.3 Armazenamento e placa sem fios
1.4 Emparelhar acessórios Bluetooth
1.5 Ligações dos dispositivos móveis
1.6 Sincronização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1.1 Antes de abrir um portátil]
Tempo sugerido: 8–10 min
[Figura] Bancada preparada: pulseira antiestática ligada à terra, tapete antiestático e parafusos arrumados por ordem. Imagem ilustrativa criada para a ATC.
Um portátil tem componentes pequenos e sensíveis. Antes de qualquer intervenção, siga sempre o mesmo procedimento: é a forma de proteger o equipamento, os dados do cliente e a sua própria segurança.
1. Faça uma cópia de segurança dos dados do cliente, se o equipamento ainda arrancar.
2. Encerre o sistema operativo e desligue o carregador.
3. Desligue ou retire a bateria; nos modelos com bateria interna, desligue o conector da bateria logo que abrir a tampa.
4. Coloque a pulseira antiestática (ESD) e ligue-a a um ponto de terra; trabalhe sobre um tapete antiestático.
5. Fotografe o interior e guarde os parafusos por ordem, porque costumam ter tamanhos diferentes.
6. Consulte o manual de serviço do fabricante antes de retirar peças.
Atenção: Uma descarga eletrostática que nem sente pode danificar a memória ou a placa principal. Use sempre a pulseira antiestática.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1.2 Memória RAM]
Tempo sugerido: 8–10 min
[Figura] Instalar um módulo SO-DIMM: encaixe em ângulo, com o entalhe alinhado, e baixe até as patilhas prenderem. Imagem ilustrativa criada para a ATC.
Os portáteis usam memória no formato SO-DIMM (Small Outline DIMM), mais pequena do que a DIMM dos computadores de secretária. Em muitos portáteis finos, a memória vem soldada à placa principal e não pode ser trocada.
Formato | Onde se usa | Nota
DIMM | Computadores de secretária | Módulo comprido
SO-DIMM | Portáteis e mini PC | Módulo curto; encaixa em ângulo e baixa até prender
Soldada (onboard) | Ultraportáteis e tablets | Não se substitui; confirme antes de vender um upgrade
1. Confirme no manual o tipo de memória (por exemplo DDR4 ou DDR5) e o máximo suportado.
2. Abra a tampa de acesso à memória ou a tampa inferior.
3. Afaste as duas patilhas laterais: o módulo antigo levanta-se em ângulo.
4. Encaixe o novo módulo a cerca de 30 graus, com o entalhe alinhado, e baixe-o até as patilhas prenderem.
5. Ligue o portátil e confirme a memória total nas Definições do Windows (Sistema › Acerca de).
Dica: A memória DDR4 e a DDR5 têm o entalhe em posições diferentes: um módulo de outra geração não encaixa. Nunca force.
[Figura] Em cima, um módulo DIMM de computador de secretária; em baixo, um SO-DIMM de portátil. Imagem ilustrativa criada para a ATC.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Quadro de referência]
1.2 Memória RAM
Explore os exemplos da tabela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1.3 Armazenamento e placa sem fios]
Tempo sugerido: 8–10 min
[Figura] Interior de um portátil: SSD M.2 e placa sem fios (destacados), compartimento do disco de 2,5" e bateria desligada. Imagem ilustrativa criada para a ATC.
Componente | Formato comum | O que verificar
Disco SSD ou HDD de 2,5" | SATA | Espessura (7 mm ou 9,5 mm) e o suporte do disco
SSD M.2 | M.2 SATA ou M.2 NVMe | O tipo aceite pela ranhura e o comprimento (por exemplo 2280)
Placa sem fios | M.2 (em modelos antigos, Mini PCIe) | Os cabos de antena e a compatibilidade Wi-Fi/Bluetooth
Para substituir a placa sem fios, desligue com cuidado os pequenos conectores das antenas, retire o parafuso de fixação e puxe a placa em ângulo. Na placa nova, volte a ligar as antenas nos mesmos terminais (normalmente marcados como MAIN e AUX).
Nota: Um SSD M.2 NVMe é muito mais rápido do que um SSD SATA, mas só funciona numa ranhura M.2 que suporte NVMe. Confirme sempre no manual.
[Figura] Da esquerda para a direita: SSD SATA de 2,5", SSD M.2 SATA (dois entalhes) e SSD M.2 NVMe (um entalhe). Imagem ilustrativa criada para a ATC.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Quadro de referência]
1.3 Armazenamento e placa sem fios
Explore os exemplos da tabela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1.4 Emparelhar acessórios Bluetooth]
Tempo sugerido: 8–10 min
[Figura] Emparelhar auriculares Bluetooth com o telemóvel. Imagem ilustrativa criada para a ATC.
O Bluetooth liga acessórios a curta distância (normalmente até 10 metros): auriculares, teclados, ratos, colunas e o sistema de som do carro. A primeira ligação chama-se emparelhamento.
1. Ative o Bluetooth no telemóvel ou no portátil.
2. Coloque o acessório em modo de emparelhamento (consulte as instruções; muitas vezes, mantém-se premido um botão até a luz piscar).
3. No telemóvel ou no portátil, procure dispositivos e escolha o acessório na lista.
4. Se for pedido, confirme ou introduza o código PIN.
5. Teste: reproduza som, escreva no teclado ou mova o rato.
Dica: Estas instruções são gerais. Cada fabricante pode usar botões ou passos ligeiramente diferentes.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1.5 Ligações dos dispositivos móveis]
Tempo sugerido: 8–10 min
[Figura] Hotspot: o telemóvel partilha os dados móveis com o portátil por Wi-Fi; o cabo USB-C é a alternativa (tethering). Imagem ilustrativa criada para a ATC.
Ligação | Para que serve | Exemplo
Wi-Fi | Ligar a uma rede local sem fios | O Wi-Fi do escritório
Rede móvel (4G/5G) | Dados através do operador | Navegar na rua
Hotspot | O telemóvel partilha os dados móveis por Wi-Fi | Dar Internet ao portátil numa reunião
Tethering USB | Partilhar os dados móveis por cabo | Ligação mais estável ao portátil
NFC | Comunicação a poucos centímetros | Pagamentos com o telemóvel
Bluetooth | Acessórios a curta distância | Auriculares e teclados
Uma estação de ancoragem (docking station) ou um replicador de portas liga o portátil, com um só cabo, ao monitor, ao teclado, ao rato e à rede da secretária.
[Figura] Estação de ancoragem: um só cabo liga o portátil ao monitor, à rede e aos periféricos. Imagem ilustrativa criada para a ATC.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Quadro de referência]
1.5 Ligações dos dispositivos móveis
Explore os exemplos da tabela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1.6 Sincronização]
Tempo sugerido: 8–10 min
[Figura] Correio, contactos e calendário sincronizados entre o telemóvel e o portátil através da nuvem. Imagem ilustrativa criada para a ATC.
A sincronização mantém os mesmos dados em vários dispositivos. Quando lê um e-mail no telemóvel, ele aparece como lido no portátil, porque ambos sincronizam com o servidor da conta (por exemplo, Microsoft 365 ou Google).
O que se sincroniza | Onde se configura
Correio | Aplicação de correio, com a conta da empresa
Contactos e calendário | Definições › Contas, na mesma conta
Fotografias e ficheiros | Serviço de nuvem (OneDrive, Google Drive, iCloud)
Atenção: Ao configurar a conta de um cliente, nunca peça nem anote a palavra-passe. Peça ao cliente que a introduza ele próprio.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Síntese]
Resumo do módulo:
Antes de abrir: cópia de segurança, bateria desligada, pulseira antiestática.
Portáteis usam memória SO-DIMM; nos ultraportáteis pode estar soldada.
Armazenamento: SATA de 2,5" ou M.2 (SATA ou NVMe).
Bluetooth: ativar, emparelhar, escolher, confirmar o PIN, testar.
Hotspot e tethering partilham os dados móveis; o NFC atua a centímetros.
A sincronização mantém correio, contactos e calendário iguais.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Exercício Prático]
Exercício prático · Ficha de intervenção num portátil (25 min)
Recurso: Portátil de formação da ATC (ou fotografias do manual de serviço)
Tarefas:
1. Preencha a lista de verificação de segurança da secção 1.1 antes de abrir o equipamento.
2. Identifique o tipo e a quantidade de memória instalada e o máximo suportado pelo modelo.
3. Identifique o tipo de armazenamento (SATA de 2,5", M.2 SATA ou M.2 NVMe).
4. Localize a placa sem fios e os cabos de antena MAIN e AUX.
5. Emparelhe um rato ou auriculares Bluetooth e registe os passos que seguiu.
6. Ative o hotspot de um telemóvel de formação e ligue o portátil a essa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Chave de Respostas]
1. Antes de tocar na placa principal ou retirar a memória RAM de um portátil, o que deve fazer para evitar descargas eletrostáticas (ESD)?
   ✓ Resposta certa: B) Desligar a fonte de energia/bateria e colocar a pulseira antiestática ligada à terra
2. Que formato de módulo de memória RAM é utilizado na maioria dos computadores portáteis com memória substituível?
   ✓ Resposta certa: B) SO-DIMM
3. Qual das seguintes opções oferece a maior velocidade de leitura e escrita num portátil compatível?
   ✓ Resposta certa: C) SSD M.2 NVMe (via barramento PCIe)
4. Ao substituir uma placa sem fios M.2 num portátil, a que pormenor deve ter especial atenção?
   ✓ Resposta certa: A) Aos pequenos conectores dos cabos de antena (normalmente MAIN e AUX)
5. Que tecnologia de curto alcance (poucos centímetros) é utilizada para pagamentos por aproximação com o telemóvel?
   ✓ Resposta certa: A) NFC (Near Field Communication)
6. Durante a configuração da sincronização de correio num telemóvel de um cliente, como deve proceder quanto à palavra-passe?
   ✓ Resposta certa: B) Pedir ao próprio cliente que introduza a sua palavra-passe sem a revelar nem anotar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Glossário]
• ESD: Descarga eletrostática: eletricidade estática que pode danificar componentes eletrónicos.
• SO-DIMM: Formato de memória RAM mais pequeno, usado em portáteis.
• M.2: Formato de ranhura e de cartão para SSD e placas sem fios.
• NVMe: Protocolo de armazenamento rápido para SSD ligados por PCIe.
• Emparelhamento: Primeira ligação entre dois dispositivos Bluetooth.
• Hotspot: Função que transforma o telemóvel num ponto de acesso Wi-Fi.
• Tethering: Partilha dos dados móveis do telemóvel com outro dispositivo.
• Sincronização: Manter os mesmos dados atualizados em vários dispositivos.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Encerramento]
Lembre os formandos de que o manual ilustrado, as vídeo-aulas e o guia por voz estão disponíveis na plataforma ATC (lms.grupoangbu.com).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272D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2900" dirty="0"/>
          </a:p>
        </p:txBody>
      </p:sp>
      <p:pic>
        <p:nvPicPr>
          <p:cNvPr id="4" name="Image 0" descr="/Users/almeidajose/Documents/A/App/ATC 2/atc_lms/static/logo-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5669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6327648"/>
            <a:ext cx="11091672" cy="13716"/>
          </a:xfrm>
          <a:prstGeom prst="rect">
            <a:avLst/>
          </a:prstGeom>
          <a:solidFill>
            <a:srgbClr val="E3E8EE"/>
          </a:solidFill>
          <a:ln/>
        </p:spPr>
      </p:sp>
      <p:sp>
        <p:nvSpPr>
          <p:cNvPr id="6" name="Text 2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ATC · Angbu Training Centre   |   CompTIA A+ (220-1201/1202) · Módulo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a">
    <p:bg>
      <p:bgPr>
        <a:solidFill>
          <a:srgbClr val="E8E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ATC · Angbu Training Centre   |   CompTIA A+ (220-1201/1202) · Módulo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ATC – Angbu Training Cen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65960"/>
            <a:ext cx="4949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MANUAL DO FORMANDO · MÓDULO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86000"/>
            <a:ext cx="4949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CompTIA A+ (220-1201/1202)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0"/>
            <a:ext cx="49498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Dispositivos móveis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49498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EE6"/>
                </a:solidFill>
              </a:rPr>
              <a:t>Suporte técnico de hardware, sistemas operativos e redes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49498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EE6"/>
                </a:solidFill>
              </a:rPr>
              <a:t>ATC – Angbu Training Centre · Cabinda, Angola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5DEE6"/>
                </a:solidFill>
              </a:rPr>
              <a:t>Versão 1.0 · amostra ·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19519" y="822960"/>
            <a:ext cx="5123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OLÁ, SOU A HELENA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19519" y="1143000"/>
            <a:ext cx="5123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Bem-vindo ao módulo 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19519" y="2103120"/>
            <a:ext cx="51235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Neste módulo vai aprender a substituir componentes de um portátil em segurança, a ligar acessórios e redes sem fios a dispositivos móveis e a sincronizar correio, contactos e calendário. Corresponde ao domínio 1 do exame Core 1 (Dispositivos móveis).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19519" y="4709160"/>
            <a:ext cx="1524965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19519" y="4800600"/>
            <a:ext cx="15249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610959" y="5468112"/>
            <a:ext cx="1342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 sala e laboratório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18805" y="4709160"/>
            <a:ext cx="1524965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318805" y="4800600"/>
            <a:ext cx="15249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min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410245" y="5468112"/>
            <a:ext cx="1342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vídeo-aulas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118090" y="4709160"/>
            <a:ext cx="1524965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118090" y="4800600"/>
            <a:ext cx="15249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0209530" y="5468112"/>
            <a:ext cx="1342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temas estruturados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COMPETÊNCIAS E RESULTADOS DE APRENDIZAGEM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91840" cy="47091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rgbClr val="0B2137"/>
            </a:solidFill>
            <a:prstDash val="solid"/>
          </a:ln>
        </p:spPr>
      </p:sp>
      <p:pic>
        <p:nvPicPr>
          <p:cNvPr id="5" name="Image 0" descr="Miguel, guia virtual A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931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final deste módulo,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será capaz de: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Miguel · guia virtual ATC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142646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07408" y="153543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07408" y="15354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142646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Preparar uma intervenção num portátil com as regras de segurança e de proteção contra descargas eletrostáticas.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06240" y="221132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7408" y="232029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07408" y="23202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074920" y="221132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Substituir ou acrescentar memória RAM SO-DIMM num portátil.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06240" y="299618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07408" y="310515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07408" y="31051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299618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Identificar e substituir o armazenamento (SATA de 2,5 polegadas e M.2) e a placa sem fios.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06240" y="378104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07408" y="389001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07408" y="38900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074920" y="378104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Emparelhar um acessório Bluetooth com um telemóvel ou portátil.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06240" y="456590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07408" y="467487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07408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074920" y="456590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Distinguir Wi-Fi, rede móvel, hotspot, tethering e NFC.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206240" y="535076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07408" y="545973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07408" y="54597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074920" y="535076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Configurar a sincronização de correio, contactos e calendário.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949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MÓDULO 1 · DISPOSITIVOS MÓVEIS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9498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Percurso do módulo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03704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037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148840"/>
            <a:ext cx="429143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Antes de abrir um portátil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7063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715768"/>
            <a:ext cx="429143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Memória RAM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282696"/>
            <a:ext cx="429143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Armazenamento e placa sem fios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4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849624"/>
            <a:ext cx="429143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Emparelhar acessórios Bluetooth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7141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416552"/>
            <a:ext cx="429143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Ligações dos dispositivos móveis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038344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3834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983480"/>
            <a:ext cx="429143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Sincronização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1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Antes de abrir um portátil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Bancada preparada: pulseira antiestática ligada à terra, tapete antiestático e parafusos arrumados por ordem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Bancada preparada: pulseira antiestática ligada à terra, tapete antiestático e parafusos arrumados por ordem. Imagem ilustrativa criada para a ATC.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325880"/>
            <a:ext cx="4069080" cy="154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portátil tem componentes pequenos e sensíveis. Antes de qualquer intervenção, siga sempre o mesmo procedimento: é a forma de proteger o equipamento, os dados do cliente e a sua própria segurança.</a:t>
            </a:r>
            <a:endParaRPr lang="en-US" sz="1600" dirty="0"/>
          </a:p>
        </p:txBody>
      </p:sp>
      <p:sp>
        <p:nvSpPr>
          <p:cNvPr id="8" name="Cartão de dica"/>
          <p:cNvSpPr/>
          <p:nvPr/>
        </p:nvSpPr>
        <p:spPr>
          <a:xfrm>
            <a:off x="7589520" y="4768342"/>
            <a:ext cx="4069080" cy="1403858"/>
          </a:xfrm>
          <a:prstGeom prst="roundRect">
            <a:avLst>
              <a:gd name="adj" fmla="val 7816"/>
            </a:avLst>
          </a:prstGeom>
          <a:solidFill>
            <a:srgbClr val="FBEDE6"/>
          </a:solidFill>
          <a:ln w="9525">
            <a:solidFill>
              <a:srgbClr val="F0C7B4"/>
            </a:solidFill>
            <a:prstDash val="solid"/>
          </a:ln>
        </p:spPr>
      </p:sp>
      <p:pic>
        <p:nvPicPr>
          <p:cNvPr id="9" name="Image 1" descr="Helena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081651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14232" y="4841494"/>
            <a:ext cx="2788920" cy="12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Atenção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Uma descarga eletrostática que nem sente pode danificar a memória ou a placa principal. Use sempre a pulseira antiestática.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2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Memória RAM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933365" y="1261872"/>
            <a:ext cx="3905670" cy="2253996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Instalar um módulo SO-DIMM: encaixe em ângulo, com o entalhe alinhado, e baixe até as patilhas prenderem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373" y="1325880"/>
            <a:ext cx="3777654" cy="2125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33365" y="3525012"/>
            <a:ext cx="3905670" cy="2253996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7" name="Image 1" descr="Em cima, um módulo DIMM de computador de secretária; em baixo, um SO-DIMM de portátil. Imagem ilustrativa criada para a ATC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373" y="3589020"/>
            <a:ext cx="3777654" cy="21259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Instalar um módulo SO-DIMM: encaixe em ângulo, com o entalhe alinhado, e baixe até as patilhas prenderem. Imagem ilustrativa criada para a ATC.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1325880"/>
            <a:ext cx="4069080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portáteis usam memória no formato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SO-DIMM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(Small Outline DIMM), mais pequena do que a DIMM dos computadores de secretária. Em muitos portáteis finos, a memória vem soldada à placa principal e não pode ser trocada.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2877312"/>
            <a:ext cx="4069080" cy="170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DIMM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Computadores de secretária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SO-DIMM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Portáteis e mini PC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Soldada (onboard)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Ultraportáteis e tablets</a:t>
            </a:r>
            <a:endParaRPr lang="en-US" sz="1300" dirty="0"/>
          </a:p>
        </p:txBody>
      </p:sp>
      <p:sp>
        <p:nvSpPr>
          <p:cNvPr id="11" name="Cartão de dica"/>
          <p:cNvSpPr/>
          <p:nvPr/>
        </p:nvSpPr>
        <p:spPr>
          <a:xfrm>
            <a:off x="7589520" y="4768342"/>
            <a:ext cx="4069080" cy="1403858"/>
          </a:xfrm>
          <a:prstGeom prst="roundRect">
            <a:avLst>
              <a:gd name="adj" fmla="val 7816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12" name="Image 2" descr="Miguel, guia virtual AT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081651"/>
            <a:ext cx="777240" cy="777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14232" y="4841494"/>
            <a:ext cx="2788920" cy="12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do Miguel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memória DDR4 e a DDR5 têm o entalhe em posições diferentes: um módulo de outra geração não encaixa. Nunca force.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2 DE 6 · QUADRO-RESUMO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Memória RAM — Quadro de referência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5089550"/>
                <a:gridCol w="35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se usa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Computadores de secretária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comprido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SO-DIMM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Portáteis e mini PC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curto; encaixa em ângulo e baixa até prender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Soldada (onboard)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Ultraportáteis e tablets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se substitui; confirme antes de vender um upgrade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3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Armazenamento e placa sem fios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933365" y="1261872"/>
            <a:ext cx="3905670" cy="2253996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Interior de um portátil: SSD M.2 e placa sem fios (destacados), compartimento do disco de 2,5&quot; e bateria desligada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373" y="1325880"/>
            <a:ext cx="3777654" cy="2125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33365" y="3525012"/>
            <a:ext cx="3905670" cy="2253996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7" name="Image 1" descr="Da esquerda para a direita: SSD SATA de 2,5&quot;, SSD M.2 SATA (dois entalhes) e SSD M.2 NVMe (um entalhe). Imagem ilustrativa criada para a ATC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373" y="3589020"/>
            <a:ext cx="3777654" cy="21259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Interior de um portátil: SSD M.2 e placa sem fios (destacados), compartimento do disco de 2,5" e bateria desligada. Imagem ilustrativa criada para…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1325880"/>
            <a:ext cx="406908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substituir 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placa sem fios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desligue com cuidado os pequenos conectores das antenas, retire o parafuso de fixação e puxe a placa em ângulo. Na placa nova, volte a ligar as antenas nos mesmos terminais (normalmente marcados como MAIN e AUX).</a:t>
            </a:r>
            <a:endParaRPr lang="en-US" sz="1400" dirty="0"/>
          </a:p>
        </p:txBody>
      </p:sp>
      <p:sp>
        <p:nvSpPr>
          <p:cNvPr id="10" name="Cartão de dica"/>
          <p:cNvSpPr/>
          <p:nvPr/>
        </p:nvSpPr>
        <p:spPr>
          <a:xfrm>
            <a:off x="7589520" y="4768342"/>
            <a:ext cx="4069080" cy="1403858"/>
          </a:xfrm>
          <a:prstGeom prst="roundRect">
            <a:avLst>
              <a:gd name="adj" fmla="val 7816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11" name="Image 2" descr="Helena, guia virtual AT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081651"/>
            <a:ext cx="777240" cy="7772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14232" y="4841494"/>
            <a:ext cx="2788920" cy="12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Nota pedagógica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Um SSD M.2 NVMe é muito mais rápido do que um SSD SATA, mas só funciona numa ranhura M.2 que suporte NVMe. Confirme sempre no manual.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3 DE 6 · QUADRO-RESUMO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Armazenamento e placa sem fios — Quadro de referência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5089550"/>
                <a:gridCol w="35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comum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verificar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 SSD ou HDD de 2,5"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Espessura (7 mm ou 9,5 mm) e o suporte do disco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M.2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M.2 SATA ou M.2 NVMe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tipo aceite pela ranhura e o comprimento (por exemplo 2280)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 sem fios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M.2 (em modelos antigos, Mini PCIe)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cabos de antena e a compatibilidade Wi-Fi/Bluetooth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4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Emparelhar acessórios Bluetooth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Emparelhar auriculares Bluetooth com o telemóvel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Emparelhar auriculares Bluetooth com o telemóvel. Imagem ilustrativa criada para a ATC.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325880"/>
            <a:ext cx="4069080" cy="154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Bluetooth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liga acessórios a curta distância (normalmente até 10 metros): auriculares, teclados, ratos, colunas e o sistema de som do carro. A primeira ligação chama-se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emparelhamento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Cartão de dica"/>
          <p:cNvSpPr/>
          <p:nvPr/>
        </p:nvSpPr>
        <p:spPr>
          <a:xfrm>
            <a:off x="7589520" y="4963160"/>
            <a:ext cx="4069080" cy="1209040"/>
          </a:xfrm>
          <a:prstGeom prst="roundRect">
            <a:avLst>
              <a:gd name="adj" fmla="val 9076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9" name="Image 1" descr="Miguel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17906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14232" y="5036312"/>
            <a:ext cx="2788920" cy="106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do Miguel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Estas instruções são gerais. Cada fabricante pode usar botões ou passos ligeiramente diferentes.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5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Ligações dos dispositivos móveis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933365" y="1261872"/>
            <a:ext cx="3905670" cy="2253996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Hotspot: o telemóvel partilha os dados móveis com o portátil por Wi-Fi; o cabo USB-C é a alternativa (tethering)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373" y="1325880"/>
            <a:ext cx="3777654" cy="2125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33365" y="3525012"/>
            <a:ext cx="3905670" cy="2253996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7" name="Image 1" descr="Estação de ancoragem: um só cabo liga o portátil ao monitor, à rede e aos periféricos. Imagem ilustrativa criada para a ATC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373" y="3589020"/>
            <a:ext cx="3777654" cy="21259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Hotspot: o telemóvel partilha os dados móveis com o portátil por Wi-Fi; o cabo USB-C é a alternativa (tethering). Imagem ilustrativa criada para a…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1325880"/>
            <a:ext cx="4069080" cy="130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estação de ancoragem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(docking station) ou um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replicador de portas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liga o portátil, com um só cabo, ao monitor, ao teclado, ao rato e à rede da secretária.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5 DE 6 · QUADRO-RESUMO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Ligações dos dispositivos móveis — Quadro de referência</a:t>
            </a:r>
            <a:endParaRPr lang="en-US" sz="2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5089550"/>
                <a:gridCol w="35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Ligar a uma rede local sem fios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Wi-Fi do escritório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móvel (4G/5G)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através do operador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Navegar na rua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Hotspot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telemóvel partilha os dados móveis por Wi-Fi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 Internet ao portátil numa reunião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Tethering USB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Partilhar os dados móveis por cabo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Ligação mais estável ao portátil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a poucos centímetros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 com o telemóvel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Acessórios a curta distância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Auriculares e teclados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6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Sincronização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Correio, contactos e calendário sincronizados entre o telemóvel e o portátil através da nuvem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Correio, contactos e calendário sincronizados entre o telemóvel e o portátil através da nuvem. Imagem ilustrativa criada para a ATC.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325880"/>
            <a:ext cx="4069080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sincronização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mantém os mesmos dados em vários dispositivos. Quando lê um e-mail no telemóvel, ele aparece como lido no portátil, porque ambos sincronizam com o servidor da conta (por exemplo, Microsoft 365 ou Google).</a:t>
            </a:r>
            <a:endParaRPr lang="en-US" sz="1400" dirty="0"/>
          </a:p>
        </p:txBody>
      </p:sp>
      <p:sp>
        <p:nvSpPr>
          <p:cNvPr id="8" name="Cartão de dica"/>
          <p:cNvSpPr/>
          <p:nvPr/>
        </p:nvSpPr>
        <p:spPr>
          <a:xfrm>
            <a:off x="7589520" y="4768342"/>
            <a:ext cx="4069080" cy="1403858"/>
          </a:xfrm>
          <a:prstGeom prst="roundRect">
            <a:avLst>
              <a:gd name="adj" fmla="val 7816"/>
            </a:avLst>
          </a:prstGeom>
          <a:solidFill>
            <a:srgbClr val="FBEDE6"/>
          </a:solidFill>
          <a:ln w="9525">
            <a:solidFill>
              <a:srgbClr val="F0C7B4"/>
            </a:solidFill>
            <a:prstDash val="solid"/>
          </a:ln>
        </p:spPr>
      </p:sp>
      <p:pic>
        <p:nvPicPr>
          <p:cNvPr id="9" name="Image 1" descr="Miguel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081651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14232" y="4841494"/>
            <a:ext cx="2788920" cy="12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Atenção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Ao configurar a conta de um cliente, nunca peça nem anote a palavra-passe. Peça ao cliente que a introduza ele próprio.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12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MÓDULO 1 · SÍNTESE PEDAGÓGICA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120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Ideias-chave a reter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48840"/>
            <a:ext cx="561728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Antes de abrir: cópia de segurança, bateria desligada, pulseira antiestática.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48432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48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02712"/>
            <a:ext cx="561728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Portáteis usam memória SO-DIMM; nos ultraportáteis pode estar soldada.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02304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0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56584"/>
            <a:ext cx="561728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Armazenamento: SATA de 2,5" ou M.2 (SATA ou NVMe).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56176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56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10456"/>
            <a:ext cx="561728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Bluetooth: ativar, emparelhar, escolher, confirmar o PIN, testar.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2100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1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164328"/>
            <a:ext cx="561728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Hotspot e tethering partilham os dados móveis; o NFC atua a centímetros.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963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963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918200"/>
            <a:ext cx="561728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sincronização mantém correio, contactos e calendário iguais.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PRÁTICA GUIADA EM LABORATÓRIO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prático: Ficha de intervenção num portátil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108960" cy="4754880"/>
          </a:xfrm>
          <a:prstGeom prst="roundRect">
            <a:avLst>
              <a:gd name="adj" fmla="val 441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minutos de prática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Portátil de formação da ATC (ou fotografias do manual de serviço)</a:t>
            </a:r>
            <a:endParaRPr lang="en-US" sz="1350" dirty="0"/>
          </a:p>
        </p:txBody>
      </p:sp>
      <p:pic>
        <p:nvPicPr>
          <p:cNvPr id="8" name="Image 0" descr="Miguel, guia virtual A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416052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650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Apoio do Miguel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69080" y="143560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6908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1417320"/>
            <a:ext cx="708660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Preencha a lista de verificação de segurança da secção 1.1 antes de abrir o equipamento.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069080" y="20680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69080" y="20680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049780"/>
            <a:ext cx="708660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Identifique o tipo e a quantidade de memória instalada e o máximo suportado pelo modelo.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069080" y="270052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69080" y="2700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2682240"/>
            <a:ext cx="708660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Identifique o tipo de armazenamento (SATA de 2,5", M.2 SATA ou M.2 NVMe).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069080" y="333298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69080" y="33329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31470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Localize a placa sem fios e os cabos de antena MAIN e AUX.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069080" y="3845052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69080" y="38450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3826764"/>
            <a:ext cx="708660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Emparelhe um rato ou auriculares Bluetooth e registe os passos que seguiu.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069080" y="4477512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69080" y="4477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4459224"/>
            <a:ext cx="708660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Ative o hotspot de um telemóvel de formação e ligue o portátil a essa rede.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069080" y="5532120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EDF7F1"/>
          </a:solidFill>
          <a:ln w="9525">
            <a:solidFill>
              <a:srgbClr val="B8DE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251960" y="55778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Critério de sucesso: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concluir todos os passos com autonomia e validar o resultado com o formador.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AVALIAÇÃO FORMATIVA EM SALA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os seus conhecimentos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53896"/>
            <a:ext cx="114300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53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QUESTÃO 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465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Antes de tocar na placa principal ou retirar a memória RAM de um portátil, o que deve fazer para evitar descargas eletrostáticas (ESD)?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5029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A) Ligar o carregador à tomada e manter o portátil em suspensão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B) Desligar a fonte de energia/bateria e colocar a pulseira antiestática ligada à terra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C) Limpar os contactos com água corrente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D) Aumentar o brilho do ecrã ao máximo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453896"/>
            <a:ext cx="114300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453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QUESTÃO 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7465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Que formato de módulo de memória RAM é utilizado na maioria dos computadores portáteis com memória substituível?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31720"/>
            <a:ext cx="5029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A) DIMM de 288 pinos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B) SO-DIMM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C) SATA de 2,5 polegadas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D) Mini PCIe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12464"/>
            <a:ext cx="114300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12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QUESTÃO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0050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Qual das seguintes opções oferece a maior velocidade de leitura e escrita num portátil compatível?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590288"/>
            <a:ext cx="5029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A) Disco rígido mecânico (HDD) SATA de 2,5"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B) SSD SATA de 2,5"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C) SSD M.2 NVMe (via barramento PCIe)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D) Cartão microSD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584448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712464"/>
            <a:ext cx="114300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712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QUESTÃO 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0050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Ao substituir uma placa sem fios M.2 num portátil, a que pormenor deve ter especial atenção?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590288"/>
            <a:ext cx="5029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A) Aos pequenos conectores dos cabos de antena (normalmente MAIN e AUX)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B) À capacidade em gigabytes da placa sem fios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C) À formatação do disco rígido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D) À resolução da câmara web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87568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FFF7F0"/>
          </a:solidFill>
          <a:ln w="9525">
            <a:solidFill>
              <a:srgbClr val="F2B48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71500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Dinâmica pedagógica: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discuta cada questão em turma antes de confirmar a resposta certa (chave disponível nas notas do formador).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TERMINOLOGIA TÉCNICA EM PORTUGUÊS EUROPEU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Glossário essencial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Descarga eletrostática: eletricidade estática que pode danificar componentes eletrónicos.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2816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6760" y="15544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6760" y="16642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SO-DIMM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56760" y="21488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Formato de memória RAM mais pequeno, usado em portáteis.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0768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6280" y="15544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6280" y="16642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36280" y="21488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Formato de ranhura e de cartão para SSD e placas sem fios.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690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1788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NVMe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663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Protocolo de armazenamento rápido para SSD ligados por PCIe.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32816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6760" y="40690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6760" y="41788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Emparelhamento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556760" y="4663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Primeira ligação entre dois dispositivos Bluetooth.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10768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6280" y="40690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36280" y="41788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Hotspot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336280" y="4663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Função que transforma o telemóvel num ponto de acesso Wi-Fi.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ATC – Angbu Training Cen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519" y="64008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19519" y="2011680"/>
            <a:ext cx="5123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hoje.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mais longe amanhã.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519519" y="3840480"/>
            <a:ext cx="5123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EE6"/>
                </a:solidFill>
              </a:rPr>
              <a:t>Continue o módulo 1 na plataforma ATC: vídeo-aulas, manual completo, exercícios e o seu guia virtual por voz.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519519" y="5760720"/>
            <a:ext cx="5123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EE6"/>
                </a:solidFill>
              </a:rPr>
              <a:t>ATC – Angbu Training Centre · Cabinda, Angola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C Formação">
  <a:themeElements>
    <a:clrScheme name="ATC Formação">
      <a:dk1>
        <a:srgbClr val="1D2733"/>
      </a:dk1>
      <a:lt1>
        <a:srgbClr val="FFFFFF"/>
      </a:lt1>
      <a:dk2>
        <a:srgbClr val="0B2137"/>
      </a:dk2>
      <a:lt2>
        <a:srgbClr val="F2F4F7"/>
      </a:lt2>
      <a:accent1>
        <a:srgbClr val="DA6D24"/>
      </a:accent1>
      <a:accent2>
        <a:srgbClr val="B5272D"/>
      </a:accent2>
      <a:accent3>
        <a:srgbClr val="F08A3E"/>
      </a:accent3>
      <a:accent4>
        <a:srgbClr val="5F6B78"/>
      </a:accent4>
      <a:accent5>
        <a:srgbClr val="2E7D4F"/>
      </a:accent5>
      <a:accent6>
        <a:srgbClr val="B3361F"/>
      </a:accent6>
      <a:hlink>
        <a:srgbClr val="DA6D24"/>
      </a:hlink>
      <a:folHlink>
        <a:srgbClr val="8A5A3C"/>
      </a:folHlink>
    </a:clrScheme>
    <a:fontScheme name="ATC Form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ATC – Angbu Training Centre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CompTIA A+ (220-1201/1202) · Módulo 1 · Dispositivos móveis</dc:title>
  <dc:subject>Apresentação do manual do formando</dc:subject>
  <dc:creator>ATC – Angbu Training Centre</dc:creator>
  <cp:lastModifiedBy>ATC – Angbu Training Centre</cp:lastModifiedBy>
  <cp:revision>1</cp:revision>
  <dcterms:created xsi:type="dcterms:W3CDTF">2026-10-17T08:00:01Z</dcterms:created>
  <dcterms:modified xsi:type="dcterms:W3CDTF">2026-10-17T08:00:01Z</dcterms:modified>
</cp:coreProperties>
</file>