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a916634-2b5c-8d63-56e0-1f14ab72c2a2}">
          <p14:sldIdLst>
            <p14:sldId id="256"/>
            <p14:sldId id="257"/>
            <p14:sldId id="258"/>
            <p14:sldId id="259"/>
          </p14:sldIdLst>
        </p14:section>
        <p14:section name="Conteúdos" id="{c412e994-3e97-2d99-6cdc-e041615c7005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solidação" id="{7a2488db-8839-5b61-e1c8-28b3b86c71c8}">
          <p14:sldIdLst>
            <p14:sldId id="266"/>
            <p14:sldId id="267"/>
            <p14:sldId id="268"/>
          </p14:sldIdLst>
        </p14:section>
        <p14:section name="Encerramento" id="{09fc2ccc-ff69-9568-76bf-0a3e6ade71d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módulo 1 do curso Microsoft Word. Helena é o guia virtual que acompanha os formandos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Microsoft Word é uma aplicação para criar e editar documentos de texto. Neste módulo vai conhecer o friso, escrever um pequeno relatório de formação e aplicar títulos, parágrafos e 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Objetivos:
1. Reconhecer o Microsoft Word e a sua janela.
2. Identificar os separadores Base e Inserir do friso.
3. Escrever um documento com título, parágrafos e uma lista.
4. Distinguir um título de um parágrafo normal.
5. Rever o texto em português de Portugal antes de guardar.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Temas do módulo:
1.1 O que é o Word?
1.2 Conhecer o friso: o separador Base
1.3 O separador Inserir
1.4 Escrever um relatório simples
1.5 Títulos, parágrafos e listas
1.6 Rever e guardar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O que é o Word?
[Figura] Ícone de identificação do Microsoft Word, réplica visual fornecida para este curso.
O Microsoft Word é uma aplicação para escrever, formatar e imprimir documentos: cartas, relatórios, currículos e manuais. O ficheiro que cria chama-se documento.
Termo | Significado | Exemplo
Documento | Ficheiro de texto criado no Word. | Relatório de Formação
Friso | Faixa de comandos organizada em separadores. | Base, Inserir, Rever
Separador | Grupo de comandos relacionados no friso. | Base
Estilo | Conjunto de formatação aplicado a um título ou parágrafo. | Normal
Dica: Os nomes dos separadores e dos botões podem variar ligeiramente conforme a versão do programa e o idioma instalado. Neste manual usamos os termos da interface em português europeu, na versão para 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 Conhecer o friso: o separador Base
Na parte superior da janela encontra o friso. O separador Base reúne os comandos mais usados enquanto escreve.
[Figura] Captura própria de um exemplo fictício ATC no Word para a Web: separador Base, com tipo de letra, tamanho, listas, alinhamento e estilos.
Comando | Para que serve
Tipo de letra e tamanho | Escolher a letra e o seu tamanho (por exemplo, Aptos e 12).
N e I | Aplicar negrito ou itálico ao texto selecionado.
Listas | Criar listas com marcas ou numeradas.
Alinhamento | Alinhar o parágrafo à esquerda, ao centro ou à direita.
Estilos | Aplicar um estilo, como Normal, ao parágrafo.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 O separador Inserir
Use Inserir para acrescentar elementos ao documento, como uma tabela, uma imagem ou um número de página.
[Figura] Captura própria de um exemplo fictício ATC no Word para a Web: separador Inserir, com Quebra de Página, Tabela, Imagem, Índice, Cabeçalho e Rodapé e Números de Página.
1. Clique no separador Inserir.
2. Observe os grupos de comandos: Quebra de Página, Tabela, Imagem, Índice, Cabeçalho e Rodapé e Números de Página.
3. Volte ao separador Base para continuar a 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1.4 Escrever um relatório simples
O exemplo do manual é um relatório de formação com um título, quatro linhas de identificação e duas secções.
1. Escreva o título Relatório de Formação e carregue em Enter.
2. Escreva as linhas de identificação: ATC — Angbu Training Centre, Curso: Microsoft Word, Local: Luanda e Formadora: Helena.
3. Escreva o título da secção Objetivo da sessão e, por baixo, uma frase: Criar um documento claro e organizar informação profissional.
4. Escreva o título da secção Atividades realizadas e continue na linha seguinte.
Nota: Use apenas dados fictícios nos exercícios. Não escreva dados pessoais verdadeiros nem informação confidencial.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Títulos, parágrafos e listas
Um título organiza o documento e ajuda o leitor a encontrar a informação. Um parágrafo contém o texto corrente. Uma lista com marcas apresenta itens curtos, sem uma ordem obrigatória.
1. Selecione a linha Objetivo da sessão.
2. No separador Base, escolha um estilo de título no grupo Estilos.
3. Repita para Atividades realizadas.
4. Escreva três itens numa lista com marcas: Criar e guardar um ficheiro., Formatar títulos e parágrafos. e Rever o texto em português de Portugal.
Dica: Use os estilos em vez de aumentar a letra à mão. Assim, todos os títulos ficam iguais e o documento fica mais fácil de organizar.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1.6 Rever e guardar
Antes de terminar, leia o documento do princípio ao fim. A barra de estado, em baixo, indica a página, o número de palavras e o idioma de revisão. Para este curso, o idioma é Português (Portugal).
1. Corrija o texto sublinhado a vermelho, se for um erro de escrita. Nomes próprios, como Angbu, podem aparecer sublinhados e estar corretos.
2. Verifique se o título e as secções estão iguais entre si.
3. Confirme que o documento tem um nome claro, por exemplo ATC — Exercício Word.
4. Confirme que o documento ficou guardado antes de fechar.
Atenção: Na versão para a Web, o ficheiro é guardado na conta Microsoft. Confirme sempre o estado do guardado antes de fechar o separador do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
O Word serve para criar e editar documentos de texto.
O friso organiza os comandos em separadores, como Base e Inserir.
Os estilos mantêm os títulos e os parágrafos consistentes.
Uma lista com marcas apresenta itens curtos.
Reveja sempre o documento antes de o fechar ou partilhar.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prático · Relatório de formação (15 min)
Crie um documento novo no Microsoft Word
1. Crie um documento em branco e dê-lhe o nome Relatorio_ATC.
2. Escreva o título Relatório de Formação e as quatro linhas de identificação, com dados fictícios.
3. Acrescente as secções Objetivo da sessão e Atividades realizadas.
4. Aplique um estilo de título a cada secção.
5. Crie uma lista com três atividades realizadas.
6. Reveja o texto em português de Portugal e confirme que o documento ficou guardado.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Documento: Ficheiro de texto criado no Word.
Estilo: Conjunto de formatação aplicado a um título ou parágrafo.
Friso: Faixa de comandos organizada em separadores.
Lista com marcas: Lista de itens curtos precedidos de um símbolo.
Parágrafo: Bloco de texto terminado com Enter.
Separador: Grupo de comandos do friso, como Base ou Inserir.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Lembre os formandos de que o manual, os vídeos e o guia por voz estão disponíveis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000" dirty="0"/>
          </a:p>
        </p:txBody>
      </p:sp>
      <p:pic>
        <p:nvPicPr>
          <p:cNvPr id="3" name="Image 0" descr="/home/user/atc_lms/static/logo-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Microsoft Word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a">
    <p:bg>
      <p:bgPr>
        <a:solidFill>
          <a:srgbClr val="E8E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Microsoft Word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5693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MANUAL DO FORMANDO · MÓDULO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56934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Word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0"/>
            <a:ext cx="56934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Primeiros passos no Word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56934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EE6"/>
                </a:solidFill>
              </a:rPr>
              <a:t>Documentos de texto claros e bem organizados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56934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Luanda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DEE6"/>
                </a:solidFill>
              </a:rPr>
              <a:t>Versão 1.0 — módulo introdutório ATC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61027" y="822960"/>
            <a:ext cx="528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OLÁ, SOU O MIGUEL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361027" y="1143000"/>
            <a:ext cx="52820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ao módulo 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361027" y="2103120"/>
            <a:ext cx="52820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Microsoft Word é uma aplicação para criar e editar documentos de texto. Neste módulo vai conhecer o friso, escrever um pequeno relatório de formação e aplicar títulos, parágrafos e listas.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61027" y="4709160"/>
            <a:ext cx="157779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361027" y="4800600"/>
            <a:ext cx="1577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52467" y="5468112"/>
            <a:ext cx="1394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sessão presencial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13143" y="4709160"/>
            <a:ext cx="157779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13143" y="4800600"/>
            <a:ext cx="1577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304583" y="5468112"/>
            <a:ext cx="1394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vídeo-aulas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65259" y="4709160"/>
            <a:ext cx="157779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065259" y="4800600"/>
            <a:ext cx="1577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0156699" y="5468112"/>
            <a:ext cx="1394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temas neste módulo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módulo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7091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rgbClr val="0B2137"/>
            </a:solidFill>
            <a:prstDash val="solid"/>
          </a:ln>
        </p:spPr>
      </p:sp>
      <p:pic>
        <p:nvPicPr>
          <p:cNvPr id="4" name="Image 0" descr="Helena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final deste módulo,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ser capaz de: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Helena · guia virtual ATC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06240" y="14264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07408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0740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14264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Reconhecer o Microsoft Word e a sua janela.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23408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7408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0740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3408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Identificar os separadores Base e Inserir do friso.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06240" y="32552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07408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074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32552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Escrever um documento com título, parágrafos e uma lista.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206240" y="41696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07408" y="4343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0740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74920" y="41696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Distinguir um título de um parágrafo normal.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06240" y="50840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07408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0740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50840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Rever o texto em português de Portugal antes de guardar.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693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MÓDULO 1 · PRIMEIROS PASSOS NO WORD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6934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148840"/>
            <a:ext cx="50534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que é o Word?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715768"/>
            <a:ext cx="50534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Conhecer o friso: o separador Base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826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82696"/>
            <a:ext cx="50534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separador Inserir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96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49624"/>
            <a:ext cx="50534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Escrever um relatório simples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16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416552"/>
            <a:ext cx="50534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Títulos, parágrafos e listas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983480"/>
            <a:ext cx="50534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Rever e guardar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O que é o Word?</a:t>
            </a:r>
            <a:endParaRPr lang="en-US" sz="3000" dirty="0"/>
          </a:p>
        </p:txBody>
      </p:sp>
      <p:pic>
        <p:nvPicPr>
          <p:cNvPr id="3" name="Image 0" descr="Ícone de identificação do Microsoft Word, réplica visual fornecida para este cur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297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1106424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Microsoft Word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é uma aplicação para escrever, formatar e imprimir documentos: cartas, relatórios, currículos e manuais. O ficheiro que cria chama-se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16328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Ficheiro de texto criado no Word.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Formação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de comandos organizada em separadores.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Base, Inserir, Rever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de comandos relacionados no friso.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formatação aplicado a um título ou parágrafo.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Cartão de dica"/>
          <p:cNvSpPr/>
          <p:nvPr/>
        </p:nvSpPr>
        <p:spPr>
          <a:xfrm>
            <a:off x="548640" y="5158740"/>
            <a:ext cx="11064240" cy="1013460"/>
          </a:xfrm>
          <a:prstGeom prst="roundRect">
            <a:avLst>
              <a:gd name="adj" fmla="val 1082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7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95900"/>
            <a:ext cx="739140" cy="7391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35252" y="5231892"/>
            <a:ext cx="9822180" cy="86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Dica do Miguel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Os nomes dos separadores e dos botões podem variar ligeiramente conforme a versão do programa e o idioma instalado. Neste manual usamos os termos da interface em português europeu, na versão para a Web.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Conhecer o friso: o separador 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45177" y="1261872"/>
            <a:ext cx="5882045" cy="4517136"/>
          </a:xfrm>
          <a:prstGeom prst="roundRect">
            <a:avLst>
              <a:gd name="adj" fmla="val 1215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Captura própria de um exemplo fictício ATC no Word para a Web: separador Base, com tipo de letra, tamanho, listas, alinhamento e estil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85" y="1325880"/>
            <a:ext cx="5754029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Captura própria de um exemplo fictício ATC no Word para a Web: separador Base, com tipo de letra, tamanho, listas, alinhamento e estilos.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 parte superior da janela encontra o friso. O separador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Base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reúne os comandos mais usados enquanto escreve.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577592"/>
          <a:ext cx="4069080" cy="914400"/>
        </p:xfrm>
        <a:graphic>
          <a:graphicData uri="http://schemas.openxmlformats.org/drawingml/2006/table">
            <a:tbl>
              <a:tblPr/>
              <a:tblGrid>
                <a:gridCol w="1383487"/>
                <a:gridCol w="26855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letra e tamanho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Escolher a letra e o seu tamanho (por exemplo, Aptos e 12).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e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Aplicar negrito ou itálico ao texto selecionado.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listas com marcas ou numeradas.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Alinhamento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Alinhar o parágrafo à esquerda, ao centro ou à direita.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Aplicar um estilo, como Normal, ao parágrafo.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O separador Inserir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45177" y="1261872"/>
            <a:ext cx="5882045" cy="4517136"/>
          </a:xfrm>
          <a:prstGeom prst="roundRect">
            <a:avLst>
              <a:gd name="adj" fmla="val 1215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Captura própria de um exemplo fictício ATC no Word para a Web: separador Inserir, com Quebra de Página, Tabela, Imagem, Índice, Cabeçalho e Rodapé e Números de Págin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85" y="1325880"/>
            <a:ext cx="5754029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Captura própria de um exemplo fictício ATC no Word para a Web: separador Inserir, com Quebra de Página, Tabela, Imagem, Índice, Cabeçalho e Rodapé…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Inserir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para acrescentar elementos ao documento, como uma tabela, uma imagem ou um número de página.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25958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59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577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Clique no separador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Inserir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89520" y="31079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310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3089656"/>
            <a:ext cx="356616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Observe os grupos de comandos: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Quebra de Página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Tabela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Imagem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Índice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Cabeçalho e Rodapé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Números de Página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413004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413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4111752"/>
            <a:ext cx="3566160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Volte ao separador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para continuar a escrever.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19660" y="822960"/>
            <a:ext cx="562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TEMA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19660" y="1143000"/>
            <a:ext cx="56233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Escrever um relatório simples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19660" y="2121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1966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22580" y="2103120"/>
            <a:ext cx="5120475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Escreva o título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Relatório de Formação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 carregue em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19660" y="27238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19660" y="272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22580" y="2705608"/>
            <a:ext cx="5120475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Escreva as linhas de identificação: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ATC — Angbu Training Centre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Curso: Microsoft Word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Local: Luanda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Formadora: Helena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19660" y="35361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19660" y="35361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22580" y="3517900"/>
            <a:ext cx="5120475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Escreva o título da secção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Objetivo da sessão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e, por baixo, uma frase: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Criar um documento claro e organizar informação profissional.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660" y="43484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19660" y="4348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22580" y="4330192"/>
            <a:ext cx="5120475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Escreva o título da secção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Atividades realizadas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 continue na linha seguinte.</a:t>
            </a:r>
            <a:endParaRPr lang="en-US" sz="1400" dirty="0"/>
          </a:p>
        </p:txBody>
      </p:sp>
      <p:sp>
        <p:nvSpPr>
          <p:cNvPr id="16" name="Cartão de dica"/>
          <p:cNvSpPr/>
          <p:nvPr/>
        </p:nvSpPr>
        <p:spPr>
          <a:xfrm>
            <a:off x="6019660" y="5158740"/>
            <a:ext cx="5623395" cy="1013460"/>
          </a:xfrm>
          <a:prstGeom prst="roundRect">
            <a:avLst>
              <a:gd name="adj" fmla="val 1082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7" name="Image 0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540" y="5295900"/>
            <a:ext cx="739140" cy="7391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106272" y="5231892"/>
            <a:ext cx="4381335" cy="86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 apenas dados fictícios nos exercícios. Não escreva dados pessoais verdadeiros nem informação confidencial.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64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TEMA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6447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Títulos, parágrafos e listas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21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03120"/>
            <a:ext cx="5141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Selecione a linha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Objetivo da sessão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15184"/>
            <a:ext cx="51418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separador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escolha um estilo de título no grupo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Estilos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596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3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217672"/>
            <a:ext cx="5141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Repita para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Atividades realizadas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802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4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29736"/>
            <a:ext cx="5141812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Escreva três itens numa lista com marcas: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Criar e guardar um ficheiro.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Formatar títulos e parágrafos.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Rever o texto em português de Portugal.</a:t>
            </a:r>
            <a:endParaRPr lang="en-US" sz="1400" dirty="0"/>
          </a:p>
        </p:txBody>
      </p:sp>
      <p:sp>
        <p:nvSpPr>
          <p:cNvPr id="16" name="Cartão de dica"/>
          <p:cNvSpPr/>
          <p:nvPr/>
        </p:nvSpPr>
        <p:spPr>
          <a:xfrm>
            <a:off x="548640" y="4948936"/>
            <a:ext cx="5644732" cy="1223264"/>
          </a:xfrm>
          <a:prstGeom prst="roundRect">
            <a:avLst>
              <a:gd name="adj" fmla="val 897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7" name="Image 0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71948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73352" y="5022088"/>
            <a:ext cx="4364572" cy="1076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Dica do Miguel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 os estilos em vez de aumentar a letra à mão. Assim, todos os títulos ficam iguais e o documento fica mais fácil de organizar.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693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TEMA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6934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 e guardar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21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03120"/>
            <a:ext cx="5190579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Corrija o texto sublinhado a vermelho, se for um erro de escrita. Nomes próprios, como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Angbu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podem aparecer sublinhados e estar corretos.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337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337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15412"/>
            <a:ext cx="5190579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Verifique se o título e as secções estão iguais entre si.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361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361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17900"/>
            <a:ext cx="5190579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 que o documento tem um nome claro, por exemplo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ATC — Exercício Word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3867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386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120388"/>
            <a:ext cx="5190579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 que o documento ficou guardado antes de fechar.</a:t>
            </a:r>
            <a:endParaRPr lang="en-US" sz="1400" dirty="0"/>
          </a:p>
        </p:txBody>
      </p:sp>
      <p:sp>
        <p:nvSpPr>
          <p:cNvPr id="16" name="Cartão de dica"/>
          <p:cNvSpPr/>
          <p:nvPr/>
        </p:nvSpPr>
        <p:spPr>
          <a:xfrm>
            <a:off x="548640" y="4948936"/>
            <a:ext cx="5693499" cy="1223264"/>
          </a:xfrm>
          <a:prstGeom prst="roundRect">
            <a:avLst>
              <a:gd name="adj" fmla="val 8970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pic>
        <p:nvPicPr>
          <p:cNvPr id="17" name="Image 0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71948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73352" y="5022088"/>
            <a:ext cx="4413339" cy="1076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Atenção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 versão para a Web, o ficheiro é guardado na conta Microsoft. Confirme sempre o estado do guardado antes de fechar o separador do navegador.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64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PARA 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6447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módulo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5141812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Word serve para criar e editar documentos de texto.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48432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48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02712"/>
            <a:ext cx="5141812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friso organiza os comandos em separadores, como Base e Inserir.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2304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0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56584"/>
            <a:ext cx="5141812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Os estilos mantêm os títulos e os parágrafos consistentes.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56176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56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10456"/>
            <a:ext cx="5141812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Uma lista com marcas apresenta itens curtos.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100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1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64328"/>
            <a:ext cx="5141812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Reveja sempre o documento antes de o fechar ou partilhar.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prático: Relatório de formação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44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minutos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Crie um documento novo no Microsoft Word</a:t>
            </a:r>
            <a:endParaRPr lang="en-US" sz="1400" dirty="0"/>
          </a:p>
        </p:txBody>
      </p:sp>
      <p:pic>
        <p:nvPicPr>
          <p:cNvPr id="7" name="Image 0" descr="Helena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25196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69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Prática com a Helena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69080" y="14356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4173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Crie um documento em branco e dê-lhe o nome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Relatorio_ATC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69080" y="1947672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1929384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Escreva o título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Relatório de Formação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 as quatro linhas de identificação, com dados fictícios.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69080" y="261010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69080" y="2610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591816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Acrescente as secções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Objetivo da sessão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Atividades realizadas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69080" y="327253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69080" y="327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254248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Aplique um estilo de título a cada secção.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69080" y="378460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69080" y="378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766312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Crie uma lista com três atividades realizadas.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069080" y="429666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69080" y="429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4278376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Reveja o texto em português de Portugal e confirme que o documento ficou guardado.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Glossário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Ficheiro de texto criado no Word.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Conjunto de formatação aplicado a um título ou parágrafo.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Friso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Faixa de comandos organizada em separadores.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com marcas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Lista de itens curtos precedidos de um símbolo.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2816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2480" y="41148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Parágrafo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02480" y="46634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Bloco de texto terminado com Enter.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0768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2000" y="41148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Separador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46634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Grupo de comandos do friso, como Base ou Inserir.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27" y="64008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361027" y="2011680"/>
            <a:ext cx="52820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hoje.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mais longe amanhã.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361027" y="3840480"/>
            <a:ext cx="52820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EE6"/>
                </a:solidFill>
              </a:rPr>
              <a:t>Continue o módulo 1 na plataforma ATC: vídeo-aulas, manual completo e o seu guia virtual.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361027" y="5760720"/>
            <a:ext cx="5282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Luanda, Angola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C Formação">
  <a:themeElements>
    <a:clrScheme name="ATC Formação">
      <a:dk1>
        <a:srgbClr val="1D2733"/>
      </a:dk1>
      <a:lt1>
        <a:srgbClr val="FFFFFF"/>
      </a:lt1>
      <a:dk2>
        <a:srgbClr val="0B2137"/>
      </a:dk2>
      <a:lt2>
        <a:srgbClr val="F2F4F7"/>
      </a:lt2>
      <a:accent1>
        <a:srgbClr val="DA6D24"/>
      </a:accent1>
      <a:accent2>
        <a:srgbClr val="2B579A"/>
      </a:accent2>
      <a:accent3>
        <a:srgbClr val="F08A3E"/>
      </a:accent3>
      <a:accent4>
        <a:srgbClr val="5F6B78"/>
      </a:accent4>
      <a:accent5>
        <a:srgbClr val="2E7D4F"/>
      </a:accent5>
      <a:accent6>
        <a:srgbClr val="B3361F"/>
      </a:accent6>
      <a:hlink>
        <a:srgbClr val="DA6D24"/>
      </a:hlink>
      <a:folHlink>
        <a:srgbClr val="8A5A3C"/>
      </a:folHlink>
    </a:clrScheme>
    <a:fontScheme name="ATC Form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ATC – Angbu Training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· Módulo 1 · Primeiros passos no Word</dc:title>
  <dc:subject>Apresentação do manual do formando</dc:subject>
  <dc:creator>ATC – Angbu Training Centre</dc:creator>
  <cp:lastModifiedBy>ATC – Angbu Training Centre</cp:lastModifiedBy>
  <cp:revision>1</cp:revision>
  <dcterms:created xsi:type="dcterms:W3CDTF">2026-10-10T21:03:10Z</dcterms:created>
  <dcterms:modified xsi:type="dcterms:W3CDTF">2026-10-10T21:03:10Z</dcterms:modified>
</cp:coreProperties>
</file>