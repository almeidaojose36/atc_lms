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828931d6-e47e-21b2-f9b3-fe9ca87436f1}">
          <p14:sldIdLst>
            <p14:sldId id="256"/>
            <p14:sldId id="257"/>
            <p14:sldId id="258"/>
            <p14:sldId id="259"/>
          </p14:sldIdLst>
        </p14:section>
        <p14:section name="Conteúdos" id="{f031519f-631f-df2f-3022-77978b7d5da3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Consolidação" id="{1b1f4861-ce20-0c17-3dc4-4686998cf7aa}">
          <p14:sldIdLst>
            <p14:sldId id="266"/>
            <p14:sldId id="267"/>
            <p14:sldId id="268"/>
            <p14:sldId id="269"/>
          </p14:sldIdLst>
        </p14:section>
        <p14:section name="Encerramento" id="{732cf5bd-9553-fa5d-ed4c-390e77ee6b21}">
          <p14:sldIdLst>
            <p14:sldId id="27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ATC]
Apresentação do Módulo 1 do curso Microsoft Word.
Helena é o guia virtual que acompanha os formandos nos vídeos e no manual na plataforma ATC.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Enquadramento]
O Microsoft Word é uma aplicação para criar e editar documentos de texto. Neste módulo vai conhecer o friso, escrever um pequeno relatório de formação e aplicar títulos, parágrafos e listas.
Sugestão pedagógica: pergunte aos formandos que experiência prévia já têm com este tema antes de avançar para os objetivos.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Objetivos]
1. Reconhecer o Microsoft Word e a sua janela.
2. Identificar os separadores Base e Inserir do friso.
3. Escrever um documento com título, parágrafos e uma lista.
4. Distinguir um título de um parágrafo normal.
5. Rever o texto em português de Portugal antes de guardar.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Percurso]
Temas do módulo:
1.1 O que é o Word?
1.2 Conhecer o friso: o separador Base
1.3 O separador Inserir
1.4 Escrever um relatório simples
1.5 Títulos, parágrafos e listas
1.6 Rever e guardar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1.1 O que é o Word?]
Tempo sugerido: 8–10 min
[Figura] Ícone de identificação do Microsoft Word, réplica visual fornecida para este curso.
O Microsoft Word é uma aplicação para escrever, formatar e imprimir documentos: cartas, relatórios, currículos e manuais. O ficheiro que cria chama-se documento.
Termo | Significado | Exemplo
Documento | Ficheiro de texto criado no Word. | Relatório de Formação
Friso | Faixa de comandos organizada em separadores. | Base, Inserir, Rever
Separador | Grupo de comandos relacionados no friso. | Base
Estilo | Conjunto de formatação aplicado a um título ou parágrafo. | Normal
Dica: Os nomes dos separadores e dos botões podem variar ligeiramente conforme a versão do programa e o idioma instalado. Neste manual usamos os termos da interface em português europeu, na versão para a Web.
Verificação em sala: peça a um formando que demonstre ou explique o passo principal antes de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1.2 Conhecer o friso: o separador Base]
Tempo sugerido: 8–10 min
Na parte superior da janela encontra o friso. O separador Base reúne os comandos mais usados enquanto escreve.
[Figura] Captura própria de um exemplo fictício ATC no Word para a Web: separador Base, com tipo de letra, tamanho, listas, alinhamento e estilos.
Comando | Para que serve
Tipo de letra e tamanho | Escolher a letra e o seu tamanho (por exemplo, Aptos e 12).
N e I | Aplicar negrito ou itálico ao texto selecionado.
Listas | Criar listas com marcas ou numeradas.
Alinhamento | Alinhar o parágrafo à esquerda, ao centro ou à direita.
Estilos | Aplicar um estilo, como Normal, ao parágrafo.
Verificação em sala: peça a um formando que demonstre ou explique o passo principal antes de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1.3 O separador Inserir]
Tempo sugerido: 8–10 min
Use Inserir para acrescentar elementos ao documento, como uma tabela, uma imagem ou um número de página.
[Figura] Captura própria de um exemplo fictício ATC no Word para a Web: separador Inserir, com Quebra de Página, Tabela, Imagem, Índice, Cabeçalho e Rodapé e Números de Página.
1. Clique no separador Inserir.
2. Observe os grupos de comandos: Quebra de Página, Tabela, Imagem, Índice, Cabeçalho e Rodapé e Números de Página.
3. Volte ao separador Base para continuar a escrever.
Verificação em sala: peça a um formando que demonstre ou explique o passo principal antes de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1.4 Escrever um relatório simples]
Tempo sugerido: 8–10 min
O exemplo do manual é um relatório de formação com um título, quatro linhas de identificação e duas secções.
1. Escreva o título Relatório de Formação e carregue em Enter.
2. Escreva as linhas de identificação: ATC — Angbu Training Centre, Curso: Microsoft Word, Local: Cabinda e Formadora: Helena.
3. Escreva o título da secção Objetivo da sessão e, por baixo, uma frase: Criar um documento claro e organizar informação profissional.
4. Escreva o título da secção Atividades realizadas e continue na linha seguinte.
Nota: Use apenas dados fictícios nos exercícios. Não escreva dados pessoais verdadeiros nem informação confidencial.
Verificação em sala: peça a um formando que demonstre ou explique o passo principal antes de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1.5 Títulos, parágrafos e listas]
Tempo sugerido: 8–10 min
Um título organiza o documento e ajuda o leitor a encontrar a informação. Um parágrafo contém o texto corrente. Uma lista com marcas apresenta itens curtos, sem uma ordem obrigatória.
1. Selecione a linha Objetivo da sessão.
2. No separador Base, escolha um estilo de título no grupo Estilos.
3. Repita para Atividades realizadas.
4. Escreva três itens numa lista com marcas: Criar e guardar um ficheiro., Formatar títulos e parágrafos. e Rever o texto em português de Portugal.
Dica: Use os estilos em vez de aumentar a letra à mão. Assim, todos os títulos ficam iguais e o documento fica mais fácil de organizar.
Verificação em sala: peça a um formando que demonstre ou explique o passo principal antes de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1.6 Rever e guardar]
Tempo sugerido: 8–10 min
Antes de terminar, leia o documento do princípio ao fim. A barra de estado, em baixo, indica a página, o número de palavras e o idioma de revisão. Para este curso, o idioma é Português (Portugal).
1. Corrija o texto sublinhado a vermelho, se for um erro de escrita. Nomes próprios, como Angbu, podem aparecer sublinhados e estar corretos.
2. Verifique se o título e as secções estão iguais entre si.
3. Confirme que o documento tem um nome claro, por exemplo ATC — Exercício Word.
4. Confirme que o documento ficou guardado antes de fechar.
Atenção: Na versão para a Web, o ficheiro é guardado na conta Microsoft. Confirme sempre o estado do guardado antes de fechar o separador do navegador.
Verificação em sala: peça a um formando que demonstre ou explique o passo principal antes de avançar.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Síntese]
Resumo do módulo:
O Word serve para criar e editar documentos de texto.
O friso organiza os comandos em separadores, como Base e Inserir.
Os estilos mantêm os títulos e os parágrafos consistentes.
Uma lista com marcas apresenta itens curtos.
Reveja sempre o documento antes de o fechar ou partilhar.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Exercício Prático]
Exercício prático · Relatório de formação (15 min)
Recurso: Crie um documento novo no Microsoft Word
Tarefas:
1. Crie um documento em branco e dê-lhe o nome Relatorio_ATC.
2. Escreva o título Relatório de Formação e as quatro linhas de identificação, com dados fictícios.
3. Acrescente as secções Objetivo da sessão e Atividades realizadas.
4. Aplique um estilo de título a cada secção.
5. Crie uma lista com três atividades realizadas.
6. Reveja o texto em português de Portugal e confirme que o documento ficou guardado.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Chave de Respostas]
1. Em que separador do friso se encontram os comandos para mudar o tipo de letra, aplicar listas e escolher estilos?
   ✓ Resposta certa: B) Base
2. Qual é a vantagem de usar o grupo Estilos nos títulos em vez de aumentar o tamanho da letra manualmente?
   ✓ Resposta certa: B) Todos os títulos ficam consistentes e o documento fica mais fácil de estruturar
3. Que separador deve abrir para adicionar uma tabela, uma imagem ou números de página?
   ✓ Resposta certa: C) Inserir
4. O que indica um sublinhado ondulado vermelho debaixo de uma palavra no Word?
   ✓ Resposta certa: B) Um possível erro ortográfico ou uma palavra não reconhecida pelo dicionário
5. Quando deve usar uma lista com marcas num relatório profissional?
   ✓ Resposta certa: B) Para apresentar itens curtos e claros sem uma ordem obrigatória
6. Antes de fechar o separador do navegador no Word para a Web, o que deve confirmar?
   ✓ Resposta certa: B) Que o estado do ficheiro indica que ficou guardado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Glossário]
• Documento: Ficheiro de texto criado no Word.
• Estilo: Conjunto de formatação aplicado a um título ou parágrafo.
• Friso: Faixa de comandos organizada em separadores.
• Lista com marcas: Lista de itens curtos precedidos de um símbolo.
• Parágrafo: Bloco de texto terminado com Enter.
• Separador: Grupo de comandos do friso, como Base ou Inserir.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[Guia do Formador ATC · Encerramento]
Lembre os formandos de que o manual ilustrado, as vídeo-aulas e o guia por voz estão disponíveis na plataforma ATC (lms.grupoangbu.com).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B579A"/>
          </a:solidFill>
          <a:ln/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2900" dirty="0"/>
          </a:p>
        </p:txBody>
      </p:sp>
      <p:pic>
        <p:nvPicPr>
          <p:cNvPr id="4" name="Image 0" descr="/Users/almeidajose/Documents/A/App/ATC 2/atc_lms/static/logo-6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09960" y="384048"/>
            <a:ext cx="566928" cy="566928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548640" y="6327648"/>
            <a:ext cx="11091672" cy="13716"/>
          </a:xfrm>
          <a:prstGeom prst="rect">
            <a:avLst/>
          </a:prstGeom>
          <a:solidFill>
            <a:srgbClr val="E3E8EE"/>
          </a:solidFill>
          <a:ln/>
        </p:spPr>
      </p:sp>
      <p:sp>
        <p:nvSpPr>
          <p:cNvPr id="6" name="Text 2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ATC · Angbu Training Centre   |   Microsoft Word · Módulo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a">
    <p:bg>
      <p:bgPr>
        <a:solidFill>
          <a:srgbClr val="E8EA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ATC · Angbu Training Centre   |   Microsoft Word · Módulo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B21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ótipo ATC – Angbu Training Cent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02920"/>
            <a:ext cx="960120" cy="9601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48640" y="1965960"/>
            <a:ext cx="56934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MANUAL DO FORMANDO · MÓDULO 1</a:t>
            </a:r>
            <a:endParaRPr lang="en-US" sz="1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286000"/>
            <a:ext cx="5693499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Microsoft Word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657600"/>
            <a:ext cx="569349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chemeClr val="accent3"/>
                </a:solidFill>
              </a:rPr>
              <a:t>Primeiros passos no Word</a:t>
            </a:r>
            <a:endParaRPr lang="en-US" sz="2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569349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5DEE6"/>
                </a:solidFill>
              </a:rPr>
              <a:t>Documentos de texto claros e bem organizados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715000"/>
            <a:ext cx="569349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5DEE6"/>
                </a:solidFill>
              </a:rPr>
              <a:t>ATC – Angbu Training Centre · Cabinda, Angola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5DEE6"/>
                </a:solidFill>
              </a:rPr>
              <a:t>Versão 1.0 — módulo introdutório ATC · outubro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361027" y="822960"/>
            <a:ext cx="52820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OLÁ, SOU O MIGUEL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361027" y="1143000"/>
            <a:ext cx="52820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Bem-vindo ao módulo 1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361027" y="2103120"/>
            <a:ext cx="528202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 Microsoft Word é uma aplicação para criar e editar documentos de texto. Neste módulo vai conhecer o friso, escrever um pequeno relatório de formação e aplicar títulos, parágrafos e listas.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6361027" y="4709160"/>
            <a:ext cx="1577796" cy="1325880"/>
          </a:xfrm>
          <a:prstGeom prst="roundRect">
            <a:avLst>
              <a:gd name="adj" fmla="val 6897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6361027" y="4800600"/>
            <a:ext cx="15777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h</a:t>
            </a:r>
            <a:endParaRPr lang="en-US" sz="3200" dirty="0"/>
          </a:p>
        </p:txBody>
      </p:sp>
      <p:sp>
        <p:nvSpPr>
          <p:cNvPr id="7" name="Text 5"/>
          <p:cNvSpPr txBox="1"/>
          <p:nvPr/>
        </p:nvSpPr>
        <p:spPr>
          <a:xfrm>
            <a:off x="6452467" y="5468112"/>
            <a:ext cx="13949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em sala e laboratório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13143" y="4709160"/>
            <a:ext cx="1577796" cy="1325880"/>
          </a:xfrm>
          <a:prstGeom prst="roundRect">
            <a:avLst>
              <a:gd name="adj" fmla="val 6897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13143" y="4800600"/>
            <a:ext cx="15777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 min</a:t>
            </a:r>
            <a:endParaRPr lang="en-US" sz="3200" dirty="0"/>
          </a:p>
        </p:txBody>
      </p:sp>
      <p:sp>
        <p:nvSpPr>
          <p:cNvPr id="10" name="Text 8"/>
          <p:cNvSpPr txBox="1"/>
          <p:nvPr/>
        </p:nvSpPr>
        <p:spPr>
          <a:xfrm>
            <a:off x="8304583" y="5468112"/>
            <a:ext cx="13949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 vídeo-aulas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0065259" y="4709160"/>
            <a:ext cx="1577796" cy="1325880"/>
          </a:xfrm>
          <a:prstGeom prst="roundRect">
            <a:avLst>
              <a:gd name="adj" fmla="val 6897"/>
            </a:avLst>
          </a:prstGeom>
          <a:solidFill>
            <a:srgbClr val="FFFFFF">
              <a:alpha val="92000"/>
            </a:srgbClr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10065259" y="4800600"/>
            <a:ext cx="157779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200" dirty="0"/>
          </a:p>
        </p:txBody>
      </p:sp>
      <p:sp>
        <p:nvSpPr>
          <p:cNvPr id="13" name="Text 11"/>
          <p:cNvSpPr txBox="1"/>
          <p:nvPr/>
        </p:nvSpPr>
        <p:spPr>
          <a:xfrm>
            <a:off x="10156699" y="5468112"/>
            <a:ext cx="13949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temas estruturados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COMPETÊNCIAS E RESULTADOS DE APRENDIZAGEM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Objetivos de aprendizagem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291840" cy="4709160"/>
          </a:xfrm>
          <a:prstGeom prst="roundRect">
            <a:avLst>
              <a:gd name="adj" fmla="val 4167"/>
            </a:avLst>
          </a:prstGeom>
          <a:solidFill>
            <a:schemeClr val="tx2"/>
          </a:solidFill>
          <a:ln w="12700">
            <a:solidFill>
              <a:srgbClr val="0B2137"/>
            </a:solidFill>
            <a:prstDash val="solid"/>
          </a:ln>
        </p:spPr>
      </p:sp>
      <p:pic>
        <p:nvPicPr>
          <p:cNvPr id="5" name="Image 0" descr="Helena, guia virtual AT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737360"/>
            <a:ext cx="1920240" cy="1920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77240" y="393192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final deste módulo,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será capaz de: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51206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3"/>
                </a:solidFill>
              </a:rPr>
              <a:t>Helena · guia virtual ATC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4206240" y="1426464"/>
            <a:ext cx="7406640" cy="786384"/>
          </a:xfrm>
          <a:prstGeom prst="roundRect">
            <a:avLst>
              <a:gd name="adj" fmla="val 9302"/>
            </a:avLst>
          </a:prstGeom>
          <a:solidFill>
            <a:srgbClr val="F2F4F7"/>
          </a:solidFill>
          <a:ln w="6350">
            <a:solidFill>
              <a:srgbClr val="DCE3E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407408" y="16002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407408" y="160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5074920" y="1426464"/>
            <a:ext cx="6355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Reconhecer o Microsoft Word e a sua janela.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4206240" y="2340864"/>
            <a:ext cx="7406640" cy="786384"/>
          </a:xfrm>
          <a:prstGeom prst="roundRect">
            <a:avLst>
              <a:gd name="adj" fmla="val 9302"/>
            </a:avLst>
          </a:prstGeom>
          <a:solidFill>
            <a:srgbClr val="F2F4F7"/>
          </a:solidFill>
          <a:ln w="6350">
            <a:solidFill>
              <a:srgbClr val="DCE3E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407408" y="25146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07408" y="2514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5074920" y="2340864"/>
            <a:ext cx="6355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Identificar os separadores Base e Inserir do friso.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4206240" y="3255264"/>
            <a:ext cx="7406640" cy="786384"/>
          </a:xfrm>
          <a:prstGeom prst="roundRect">
            <a:avLst>
              <a:gd name="adj" fmla="val 9302"/>
            </a:avLst>
          </a:prstGeom>
          <a:solidFill>
            <a:srgbClr val="F2F4F7"/>
          </a:solidFill>
          <a:ln w="6350">
            <a:solidFill>
              <a:srgbClr val="DCE3E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4407408" y="3429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407408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074920" y="3255264"/>
            <a:ext cx="6355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Escrever um documento com título, parágrafos e uma lista.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206240" y="4169664"/>
            <a:ext cx="7406640" cy="786384"/>
          </a:xfrm>
          <a:prstGeom prst="roundRect">
            <a:avLst>
              <a:gd name="adj" fmla="val 9302"/>
            </a:avLst>
          </a:prstGeom>
          <a:solidFill>
            <a:srgbClr val="F2F4F7"/>
          </a:solidFill>
          <a:ln w="6350">
            <a:solidFill>
              <a:srgbClr val="DCE3E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407408" y="4343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407408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3" name="Text 20"/>
          <p:cNvSpPr txBox="1"/>
          <p:nvPr/>
        </p:nvSpPr>
        <p:spPr>
          <a:xfrm>
            <a:off x="5074920" y="4169664"/>
            <a:ext cx="6355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Distinguir um título de um parágrafo normal.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4206240" y="5084064"/>
            <a:ext cx="7406640" cy="786384"/>
          </a:xfrm>
          <a:prstGeom prst="roundRect">
            <a:avLst>
              <a:gd name="adj" fmla="val 9302"/>
            </a:avLst>
          </a:prstGeom>
          <a:solidFill>
            <a:srgbClr val="F2F4F7"/>
          </a:solidFill>
          <a:ln w="6350">
            <a:solidFill>
              <a:srgbClr val="DCE3E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4407408" y="52578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DA6D24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407408" y="5257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5074920" y="5084064"/>
            <a:ext cx="635508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Rever o texto em português de Portugal antes de guardar.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56934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MÓDULO 1 · PRIMEIROS PASSOS NO WORD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569349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Percurso do módulo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203704"/>
            <a:ext cx="493776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203704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148840"/>
            <a:ext cx="503513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 que é o Word?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2770632"/>
            <a:ext cx="493776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70632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715768"/>
            <a:ext cx="503513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Conhecer o friso: o separador Base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548640" y="3337560"/>
            <a:ext cx="493776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337560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3282696"/>
            <a:ext cx="503513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 separador Inserir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548640" y="3904488"/>
            <a:ext cx="493776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904488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3849624"/>
            <a:ext cx="503513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Escrever um relatório simples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4471416"/>
            <a:ext cx="493776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471416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207008" y="4416552"/>
            <a:ext cx="503513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Títulos, parágrafos e listas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548640" y="5038344"/>
            <a:ext cx="493776" cy="457200"/>
          </a:xfrm>
          <a:prstGeom prst="roundRect">
            <a:avLst>
              <a:gd name="adj" fmla="val 12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038344"/>
            <a:ext cx="4937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207008" y="4983480"/>
            <a:ext cx="503513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Rever e guardar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TEMA 1 DE 6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 O que é o Word?</a:t>
            </a:r>
            <a:endParaRPr lang="en-US" sz="2900" dirty="0"/>
          </a:p>
        </p:txBody>
      </p:sp>
      <p:pic>
        <p:nvPicPr>
          <p:cNvPr id="4" name="Image 0" descr="Ícone de identificação do Microsoft Word, réplica visual fornecida para este curso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429768"/>
            <a:ext cx="566928" cy="56692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1325880"/>
            <a:ext cx="11064240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Microsoft Word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é uma aplicação para escrever, formatar e imprimir documentos: cartas, relatórios, currículos e manuais. O ficheiro que cria chama-se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documento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.</a:t>
            </a:r>
            <a:endParaRPr lang="en-US" sz="16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16328"/>
          <a:ext cx="11064240" cy="914400"/>
        </p:xfrm>
        <a:graphic>
          <a:graphicData uri="http://schemas.openxmlformats.org/drawingml/2006/table">
            <a:tbl>
              <a:tblPr/>
              <a:tblGrid>
                <a:gridCol w="2434133"/>
                <a:gridCol w="5089550"/>
                <a:gridCol w="3540557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Documento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Ficheiro de texto criado no Word.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Relatório de Formação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Friso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Faixa de comandos organizada em separadores.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Base, Inserir, Rever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Separador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Grupo de comandos relacionados no friso.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Estilo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Conjunto de formatação aplicado a um título ou parágrafo.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7" name="Cartão de dica"/>
          <p:cNvSpPr/>
          <p:nvPr/>
        </p:nvSpPr>
        <p:spPr>
          <a:xfrm>
            <a:off x="548640" y="5158740"/>
            <a:ext cx="11064240" cy="1013460"/>
          </a:xfrm>
          <a:prstGeom prst="roundRect">
            <a:avLst>
              <a:gd name="adj" fmla="val 10827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pic>
        <p:nvPicPr>
          <p:cNvPr id="8" name="Image 1" descr="Miguel, guia virtual AT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295900"/>
            <a:ext cx="739140" cy="73914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635252" y="5231892"/>
            <a:ext cx="9822180" cy="867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Dica do Miguel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Os nomes dos separadores e dos botões podem variar ligeiramente conforme a versão do programa e o idioma instalado. Neste manual usamos os termos da interface em português europeu, na versão para a Web.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TEMA 2 DE 6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 Conhecer o friso: o separador Base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945129" y="1261872"/>
            <a:ext cx="5882143" cy="4517136"/>
          </a:xfrm>
          <a:prstGeom prst="roundRect">
            <a:avLst>
              <a:gd name="adj" fmla="val 1215"/>
            </a:avLst>
          </a:prstGeom>
          <a:solidFill>
            <a:srgbClr val="FFFFFF"/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pic>
        <p:nvPicPr>
          <p:cNvPr id="5" name="Image 0" descr="Captura própria de um exemplo fictício ATC no Word para a Web: separador Base, com tipo de letra, tamanho, listas, alinhamento e estilos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137" y="1325880"/>
            <a:ext cx="5754127" cy="43891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806440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Captura própria de um exemplo fictício ATC no Word para a Web: separador Base, com tipo de letra, tamanho, listas, alinhamento e estilos.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589520" y="1325880"/>
            <a:ext cx="4069080" cy="1068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Na parte superior da janela encontra o friso. O separador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Base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reúne os comandos mais usados enquanto escreve.</a:t>
            </a:r>
            <a:endParaRPr lang="en-US" sz="16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2577592"/>
          <a:ext cx="4069080" cy="914400"/>
        </p:xfrm>
        <a:graphic>
          <a:graphicData uri="http://schemas.openxmlformats.org/drawingml/2006/table">
            <a:tbl>
              <a:tblPr/>
              <a:tblGrid>
                <a:gridCol w="1383487"/>
                <a:gridCol w="2685593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Comando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que serve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de letra e tamanho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Escolher a letra e o seu tamanho (por exemplo, Aptos e 12).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e 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Aplicar negrito ou itálico ao texto selecionado.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Criar listas com marcas ou numeradas.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Alinhamento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Alinhar o parágrafo à esquerda, ao centro ou à direita.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Estilos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D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Aplicar um estilo, como Normal, ao parágrafo.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ctr">
                    <a:lnL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TEMA 3 DE 6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 O separador Inserir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945129" y="1261872"/>
            <a:ext cx="5882143" cy="4517136"/>
          </a:xfrm>
          <a:prstGeom prst="roundRect">
            <a:avLst>
              <a:gd name="adj" fmla="val 1215"/>
            </a:avLst>
          </a:prstGeom>
          <a:solidFill>
            <a:srgbClr val="FFFFFF"/>
          </a:solidFill>
          <a:ln w="9525">
            <a:solidFill>
              <a:srgbClr val="DCE3E9"/>
            </a:solidFill>
            <a:prstDash val="solid"/>
          </a:ln>
          <a:effectLst>
            <a:outerShdw sx="100000" sy="100000" kx="0" ky="0" algn="bl" rotWithShape="0" blurRad="127000" dist="38100" dir="5400000">
              <a:srgbClr val="0B2137">
                <a:alpha val="18000"/>
              </a:srgbClr>
            </a:outerShdw>
          </a:effectLst>
        </p:spPr>
      </p:sp>
      <p:pic>
        <p:nvPicPr>
          <p:cNvPr id="5" name="Image 0" descr="Captura própria de um exemplo fictício ATC no Word para a Web: separador Inserir, com Quebra de Página, Tabela, Imagem, Índice, Cabeçalho e Rodapé e Números de Página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9137" y="1325880"/>
            <a:ext cx="5754127" cy="43891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806440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Captura própria de um exemplo fictício ATC no Word para a Web: separador Inserir, com Quebra de Página, Tabela, Imagem, Índice, Cabeçalho e Rodapé…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7589520" y="1325880"/>
            <a:ext cx="4069080" cy="1068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Use </a:t>
            </a:r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Inserir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para acrescentar elementos ao documento, como uma tabela, uma imagem ou um número de página.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7589520" y="259588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589520" y="25958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092440" y="257759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Clique no separador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Inserir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589520" y="3107944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589520" y="310794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092440" y="3089656"/>
            <a:ext cx="3566160" cy="894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Observe os grupos de comandos: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Quebra de Página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,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Tabela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,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Imagem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,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Índice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,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Cabeçalho e Rodapé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e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Números de Página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589520" y="413004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589520" y="4130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092440" y="4111752"/>
            <a:ext cx="3566160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Volte ao separador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Base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para continuar a escrever.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019660" y="822960"/>
            <a:ext cx="56233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MÓDULO 1 · TEMA 4 DE 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019660" y="1143000"/>
            <a:ext cx="56233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Escrever um relatório simples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019660" y="2121408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019660" y="21214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522580" y="2103120"/>
            <a:ext cx="5120475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Escreva o título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Relatório de Formação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e carregue em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Enter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19660" y="272389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019660" y="2723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522580" y="2705608"/>
            <a:ext cx="5120475" cy="684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Escreva as linhas de identificação: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ATC — Angbu Training Centre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,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Curso: Microsoft Word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,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Local: Cabinda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e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Formadora: Helena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019660" y="3536188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19660" y="35361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22580" y="3517900"/>
            <a:ext cx="5120475" cy="684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Escreva o título da secção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Objetivo da sessão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e, por baixo, uma frase: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Criar um documento claro e organizar informação profissional.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019660" y="434848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019660" y="4348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522580" y="4330192"/>
            <a:ext cx="5120475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Escreva o título da secção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Atividades realizadas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e continue na linha seguinte.</a:t>
            </a:r>
            <a:endParaRPr lang="en-US" sz="1400" dirty="0"/>
          </a:p>
        </p:txBody>
      </p:sp>
      <p:sp>
        <p:nvSpPr>
          <p:cNvPr id="16" name="Cartão de dica"/>
          <p:cNvSpPr/>
          <p:nvPr/>
        </p:nvSpPr>
        <p:spPr>
          <a:xfrm>
            <a:off x="6019660" y="5158740"/>
            <a:ext cx="5623395" cy="1013460"/>
          </a:xfrm>
          <a:prstGeom prst="roundRect">
            <a:avLst>
              <a:gd name="adj" fmla="val 10827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pic>
        <p:nvPicPr>
          <p:cNvPr id="17" name="Image 0" descr="Helena, guia virtual AT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02540" y="5295900"/>
            <a:ext cx="739140" cy="73914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7106272" y="5231892"/>
            <a:ext cx="4381335" cy="8671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Nota pedagógica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Use apenas dados fictícios nos exercícios. Não escreva dados pessoais verdadeiros nem informação confidencial.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56447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MÓDULO 1 · TEMA 5 DE 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56447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Títulos, parágrafos e listas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2121408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214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03120"/>
            <a:ext cx="5141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Selecione a linha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Objetivo da sessão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633472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6334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615184"/>
            <a:ext cx="5141812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separador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Base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, escolha um estilo de título no grupo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Estilos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23596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2359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217672"/>
            <a:ext cx="51418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Repita para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Atividades realizadas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3748024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480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3729736"/>
            <a:ext cx="5141812" cy="684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Escreva três itens numa lista com marcas: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Criar e guardar um ficheiro.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,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Formatar títulos e parágrafos.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e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Rever o texto em português de Portugal.</a:t>
            </a:r>
            <a:endParaRPr lang="en-US" sz="1400" dirty="0"/>
          </a:p>
        </p:txBody>
      </p:sp>
      <p:sp>
        <p:nvSpPr>
          <p:cNvPr id="16" name="Cartão de dica"/>
          <p:cNvSpPr/>
          <p:nvPr/>
        </p:nvSpPr>
        <p:spPr>
          <a:xfrm>
            <a:off x="548640" y="4948936"/>
            <a:ext cx="5644732" cy="1223264"/>
          </a:xfrm>
          <a:prstGeom prst="roundRect">
            <a:avLst>
              <a:gd name="adj" fmla="val 8970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pic>
        <p:nvPicPr>
          <p:cNvPr id="17" name="Image 0" descr="Miguel, guia virtual AT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171948"/>
            <a:ext cx="777240" cy="77724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673352" y="5022088"/>
            <a:ext cx="4364572" cy="1076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1"/>
                </a:solidFill>
              </a:rPr>
              <a:t>Dica do Miguel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Use os estilos em vez de aumentar a letra à mão. Assim, todos os títulos ficam iguais e o documento fica mais fácil de organizar.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56934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2"/>
                </a:solidFill>
              </a:rPr>
              <a:t>MÓDULO 1 · TEMA 6 DE 6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569349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Rever e guardar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21408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214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03120"/>
            <a:ext cx="5190579" cy="6842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Corrija o texto sublinhado a vermelho, se for um erro de escrita. Nomes próprios, como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Angbu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, podem aparecer sublinhados e estar corretos.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933700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9337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915412"/>
            <a:ext cx="5190579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Verifique se o título e as secções estão iguais entre si.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536188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5361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517900"/>
            <a:ext cx="5190579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Confirme que o documento tem um nome claro, por exemplo </a:t>
            </a:r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ATC — Exercício Word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48640" y="4138676"/>
            <a:ext cx="347472" cy="34747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1386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4120388"/>
            <a:ext cx="5190579" cy="474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Confirme que o documento ficou guardado antes de fechar.</a:t>
            </a:r>
            <a:endParaRPr lang="en-US" sz="1400" dirty="0"/>
          </a:p>
        </p:txBody>
      </p:sp>
      <p:sp>
        <p:nvSpPr>
          <p:cNvPr id="16" name="Cartão de dica"/>
          <p:cNvSpPr/>
          <p:nvPr/>
        </p:nvSpPr>
        <p:spPr>
          <a:xfrm>
            <a:off x="548640" y="4948936"/>
            <a:ext cx="5693499" cy="1223264"/>
          </a:xfrm>
          <a:prstGeom prst="roundRect">
            <a:avLst>
              <a:gd name="adj" fmla="val 8970"/>
            </a:avLst>
          </a:prstGeom>
          <a:solidFill>
            <a:srgbClr val="FBEDE6"/>
          </a:solidFill>
          <a:ln w="9525">
            <a:solidFill>
              <a:srgbClr val="F0C7B4"/>
            </a:solidFill>
            <a:prstDash val="solid"/>
          </a:ln>
        </p:spPr>
      </p:sp>
      <p:pic>
        <p:nvPicPr>
          <p:cNvPr id="17" name="Image 0" descr="Helena, guia virtual ATC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5171948"/>
            <a:ext cx="777240" cy="77724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673352" y="5022088"/>
            <a:ext cx="4413339" cy="1076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chemeClr val="accent6"/>
                </a:solidFill>
              </a:rPr>
              <a:t>Atenção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Na versão para a Web, o ficheiro é guardado na conta Microsoft. Confirme sempre o estado do guardado antes de fechar o separador do navegador.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56447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MÓDULO 1 · SÍNTESE PEDAGÓGICA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43000"/>
            <a:ext cx="56447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Ideias-chave a reter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548640" y="2194560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194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148840"/>
            <a:ext cx="5141812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 Word serve para criar e editar documentos de texto.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948432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9484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51560" y="2902712"/>
            <a:ext cx="5141812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 friso organiza os comandos em separadores, como Base e Inserir.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3702304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702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51560" y="3656584"/>
            <a:ext cx="5141812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Os estilos mantêm os títulos e os parágrafos consistentes.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4456176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4561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51560" y="4410456"/>
            <a:ext cx="5141812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Uma lista com marcas apresenta itens curtos.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548640" y="5210048"/>
            <a:ext cx="329184" cy="329184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10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5164328"/>
            <a:ext cx="5141812" cy="589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Reveja sempre o documento antes de o fechar ou partilhar.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PRÁTICA GUIADA EM LABORATÓRIO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Exercício prático: Relatório de formação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108960" cy="4754880"/>
          </a:xfrm>
          <a:prstGeom prst="roundRect">
            <a:avLst>
              <a:gd name="adj" fmla="val 4412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554480"/>
            <a:ext cx="31089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5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minutos de prática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01752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Crie um documento novo no Microsoft Word</a:t>
            </a:r>
            <a:endParaRPr lang="en-US" sz="1350" dirty="0"/>
          </a:p>
        </p:txBody>
      </p:sp>
      <p:pic>
        <p:nvPicPr>
          <p:cNvPr id="8" name="Image 0" descr="Helena, guia virtual AT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17320" y="4160520"/>
            <a:ext cx="1371600" cy="137160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548640" y="5650992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Apoio da Helena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069080" y="1435608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069080" y="14356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4572000" y="1417320"/>
            <a:ext cx="7086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Crie um documento em branco e dê-lhe o nome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Relatorio_ATC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4069080" y="1947672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069080" y="19476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0" y="1929384"/>
            <a:ext cx="7086600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Escreva o título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Relatório de Formação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e as quatro linhas de identificação, com dados fictícios.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4069080" y="2580132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4069080" y="25801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0" y="2561844"/>
            <a:ext cx="7086600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Acrescente as secções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Objetivo da sessão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 e </a:t>
            </a:r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Atividades realizadas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069080" y="3212592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069080" y="32125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0" y="3194304"/>
            <a:ext cx="7086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Aplique um estilo de título a cada secção.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4069080" y="3724656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4069080" y="37246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4572000" y="3706368"/>
            <a:ext cx="7086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Crie uma lista com três atividades realizadas.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4069080" y="4236720"/>
            <a:ext cx="347472" cy="347472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069080" y="42367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7" name="Text 24"/>
          <p:cNvSpPr txBox="1"/>
          <p:nvPr/>
        </p:nvSpPr>
        <p:spPr>
          <a:xfrm>
            <a:off x="4572000" y="4218432"/>
            <a:ext cx="7086600" cy="5044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Reveja o texto em português de Portugal e confirme que o documento ficou guardado.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4069080" y="5532120"/>
            <a:ext cx="7589520" cy="594360"/>
          </a:xfrm>
          <a:prstGeom prst="roundRect">
            <a:avLst>
              <a:gd name="adj" fmla="val 12308"/>
            </a:avLst>
          </a:prstGeom>
          <a:solidFill>
            <a:srgbClr val="EDF7F1"/>
          </a:solidFill>
          <a:ln w="9525">
            <a:solidFill>
              <a:srgbClr val="B8DEC6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251960" y="5577840"/>
            <a:ext cx="7223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5"/>
                </a:solidFill>
              </a:rPr>
              <a:t>Critério de sucesso: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concluir todos os passos com autonomia e validar o resultado com o formador.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AVALIAÇÃO FORMATIVA EM SALA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 os seus conhecimentos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453896"/>
            <a:ext cx="1143000" cy="256032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453896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QUESTÃO 1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74650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Em que separador do friso se encontram os comandos para mudar o tipo de letra, aplicar listas e escolher estilos?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331720"/>
            <a:ext cx="5029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A) Inserir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B) Base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C) Rever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D) Esquema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17920" y="1325880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0" y="1453896"/>
            <a:ext cx="1143000" cy="256032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00800" y="1453896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QUESTÃO 2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1746504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Qual é a vantagem de usar o grupo Estilos nos títulos em vez de aumentar o tamanho da letra manualmente?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2331720"/>
            <a:ext cx="5029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A) O ficheiro ocupa menos espaço no computador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B) Todos os títulos ficam consistentes e o documento fica mais fácil de estruturar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C) O texto passa a ser corrigido automaticamente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D) Impede que outras pessoas editem o documento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584448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712464"/>
            <a:ext cx="1143000" cy="256032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" y="371246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QUESTÃO 3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005072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Que separador deve abrir para adicionar uma tabela, uma imagem ou números de página?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731520" y="4590288"/>
            <a:ext cx="5029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A) Base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B) Ver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C) Inserir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D) Ficheiro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17920" y="3584448"/>
            <a:ext cx="5394960" cy="2057400"/>
          </a:xfrm>
          <a:prstGeom prst="roundRect">
            <a:avLst>
              <a:gd name="adj" fmla="val 4444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0800" y="3712464"/>
            <a:ext cx="1143000" cy="256032"/>
          </a:xfrm>
          <a:prstGeom prst="roundRect">
            <a:avLst>
              <a:gd name="adj" fmla="val 1785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00800" y="3712464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QUESTÃO 4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4005072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</a:rPr>
              <a:t>O que indica um sublinhado ondulado vermelho debaixo de uma palavra no Word?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4590288"/>
            <a:ext cx="50292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A) Que a palavra está formatada com um estilo de título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B) Um possível erro ortográfico ou uma palavra não reconhecida pelo dicionário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C) Que o documento ainda não foi guardado</a:t>
            </a:r>
            <a:endParaRPr lang="en-US" sz="1250" dirty="0"/>
          </a:p>
          <a:p>
            <a:pPr indent="0" marL="0">
              <a:spcAft>
                <a:spcPts val="150"/>
              </a:spcAft>
              <a:buNone/>
            </a:pPr>
            <a:r>
              <a:rPr lang="en-US" sz="1250" dirty="0">
                <a:solidFill>
                  <a:schemeClr val="tx1"/>
                </a:solidFill>
              </a:rPr>
              <a:t>D) Que o texto tem uma hiperligação ativa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687568"/>
            <a:ext cx="11064240" cy="475488"/>
          </a:xfrm>
          <a:prstGeom prst="roundRect">
            <a:avLst>
              <a:gd name="adj" fmla="val 15385"/>
            </a:avLst>
          </a:prstGeom>
          <a:solidFill>
            <a:srgbClr val="FFF7F0"/>
          </a:solidFill>
          <a:ln w="9525">
            <a:solidFill>
              <a:srgbClr val="F2B48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31520" y="5715000"/>
            <a:ext cx="10698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Dinâmica pedagógica: </a:t>
            </a:r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discuta cada questão em turma antes de confirmar a resposta certa (chave disponível nas notas do formador).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"/>
            <a:ext cx="9601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chemeClr val="accent2"/>
                </a:solidFill>
              </a:rPr>
              <a:t>MÓDULO 1 · TERMINOLOGIA TÉCNICA EM PORTUGUÊS EUROPEU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84048"/>
            <a:ext cx="10241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Glossário essencial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554480"/>
            <a:ext cx="502920" cy="457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64208"/>
            <a:ext cx="304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Documento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48840"/>
            <a:ext cx="304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Ficheiro de texto criado no Word.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28160" y="13716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56760" y="1554480"/>
            <a:ext cx="502920" cy="457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56760" y="1664208"/>
            <a:ext cx="304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Estilo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4556760" y="2148840"/>
            <a:ext cx="304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Conjunto de formatação aplicado a um título ou parágrafo.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107680" y="13716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36280" y="1554480"/>
            <a:ext cx="502920" cy="457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36280" y="1664208"/>
            <a:ext cx="304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Friso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8336280" y="2148840"/>
            <a:ext cx="304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Faixa de comandos organizada em separadores.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548640" y="38862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4069080"/>
            <a:ext cx="502920" cy="457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77240" y="4178808"/>
            <a:ext cx="304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Lista com marcas</a:t>
            </a:r>
            <a:endParaRPr lang="en-US" sz="19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4663440"/>
            <a:ext cx="304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Lista de itens curtos precedidos de um símbolo.</a:t>
            </a:r>
            <a:endParaRPr lang="en-US" sz="1450" dirty="0"/>
          </a:p>
        </p:txBody>
      </p:sp>
      <p:sp>
        <p:nvSpPr>
          <p:cNvPr id="20" name="Shape 18"/>
          <p:cNvSpPr/>
          <p:nvPr/>
        </p:nvSpPr>
        <p:spPr>
          <a:xfrm>
            <a:off x="4328160" y="38862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56760" y="4069080"/>
            <a:ext cx="502920" cy="457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56760" y="4178808"/>
            <a:ext cx="304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Parágrafo</a:t>
            </a:r>
            <a:endParaRPr lang="en-US" sz="1900" dirty="0"/>
          </a:p>
        </p:txBody>
      </p:sp>
      <p:sp>
        <p:nvSpPr>
          <p:cNvPr id="23" name="Text 21"/>
          <p:cNvSpPr txBox="1"/>
          <p:nvPr/>
        </p:nvSpPr>
        <p:spPr>
          <a:xfrm>
            <a:off x="4556760" y="4663440"/>
            <a:ext cx="304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Bloco de texto terminado com Enter.</a:t>
            </a:r>
            <a:endParaRPr lang="en-US" sz="1450" dirty="0"/>
          </a:p>
        </p:txBody>
      </p:sp>
      <p:sp>
        <p:nvSpPr>
          <p:cNvPr id="24" name="Shape 22"/>
          <p:cNvSpPr/>
          <p:nvPr/>
        </p:nvSpPr>
        <p:spPr>
          <a:xfrm>
            <a:off x="8107680" y="3886200"/>
            <a:ext cx="3505200" cy="2240280"/>
          </a:xfrm>
          <a:prstGeom prst="roundRect">
            <a:avLst>
              <a:gd name="adj" fmla="val 4082"/>
            </a:avLst>
          </a:prstGeom>
          <a:solidFill>
            <a:srgbClr val="F2F4F7"/>
          </a:solidFill>
          <a:ln w="9525">
            <a:solidFill>
              <a:srgbClr val="DCE3E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336280" y="4069080"/>
            <a:ext cx="502920" cy="457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36280" y="4178808"/>
            <a:ext cx="304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Separador</a:t>
            </a:r>
            <a:endParaRPr lang="en-US" sz="1900" dirty="0"/>
          </a:p>
        </p:txBody>
      </p:sp>
      <p:sp>
        <p:nvSpPr>
          <p:cNvPr id="27" name="Text 25"/>
          <p:cNvSpPr txBox="1"/>
          <p:nvPr/>
        </p:nvSpPr>
        <p:spPr>
          <a:xfrm>
            <a:off x="8336280" y="4663440"/>
            <a:ext cx="30480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</a:rPr>
              <a:t>Grupo de comandos do friso, como Base ou Inserir.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ótipo ATC – Angbu Training Cent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1027" y="640080"/>
            <a:ext cx="960120" cy="9601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361027" y="2011680"/>
            <a:ext cx="528202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Aprender hoje.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 mais longe amanhã.</a:t>
            </a:r>
            <a:endParaRPr lang="en-US" sz="3800" dirty="0"/>
          </a:p>
        </p:txBody>
      </p:sp>
      <p:sp>
        <p:nvSpPr>
          <p:cNvPr id="4" name="Text 1"/>
          <p:cNvSpPr txBox="1"/>
          <p:nvPr/>
        </p:nvSpPr>
        <p:spPr>
          <a:xfrm>
            <a:off x="6361027" y="3840480"/>
            <a:ext cx="52820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5DEE6"/>
                </a:solidFill>
              </a:rPr>
              <a:t>Continue o módulo 1 na plataforma ATC: vídeo-aulas, manual completo, exercícios e o seu guia virtual por voz.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6361027" y="5760720"/>
            <a:ext cx="52820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5DEE6"/>
                </a:solidFill>
              </a:rPr>
              <a:t>ATC – Angbu Training Centre · Cabinda, Angola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ATC Formação">
  <a:themeElements>
    <a:clrScheme name="ATC Formação">
      <a:dk1>
        <a:srgbClr val="1D2733"/>
      </a:dk1>
      <a:lt1>
        <a:srgbClr val="FFFFFF"/>
      </a:lt1>
      <a:dk2>
        <a:srgbClr val="0B2137"/>
      </a:dk2>
      <a:lt2>
        <a:srgbClr val="F2F4F7"/>
      </a:lt2>
      <a:accent1>
        <a:srgbClr val="DA6D24"/>
      </a:accent1>
      <a:accent2>
        <a:srgbClr val="2B579A"/>
      </a:accent2>
      <a:accent3>
        <a:srgbClr val="F08A3E"/>
      </a:accent3>
      <a:accent4>
        <a:srgbClr val="5F6B78"/>
      </a:accent4>
      <a:accent5>
        <a:srgbClr val="2E7D4F"/>
      </a:accent5>
      <a:accent6>
        <a:srgbClr val="B3361F"/>
      </a:accent6>
      <a:hlink>
        <a:srgbClr val="DA6D24"/>
      </a:hlink>
      <a:folHlink>
        <a:srgbClr val="8A5A3C"/>
      </a:folHlink>
    </a:clrScheme>
    <a:fontScheme name="ATC Formaçã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ATC – Angbu Training Centre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Microsoft Word · Módulo 1 · Primeiros passos no Word</dc:title>
  <dc:subject>Apresentação do manual do formando</dc:subject>
  <dc:creator>ATC – Angbu Training Centre</dc:creator>
  <cp:lastModifiedBy>ATC – Angbu Training Centre</cp:lastModifiedBy>
  <cp:revision>1</cp:revision>
  <dcterms:created xsi:type="dcterms:W3CDTF">2026-10-17T07:59:55Z</dcterms:created>
  <dcterms:modified xsi:type="dcterms:W3CDTF">2026-10-17T07:59:55Z</dcterms:modified>
</cp:coreProperties>
</file>