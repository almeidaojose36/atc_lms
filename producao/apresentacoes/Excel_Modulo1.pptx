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3d145fae-f438-2370-7414-ef0bdba44659}">
          <p14:sldIdLst>
            <p14:sldId id="256"/>
            <p14:sldId id="257"/>
            <p14:sldId id="258"/>
            <p14:sldId id="259"/>
          </p14:sldIdLst>
        </p14:section>
        <p14:section name="Conteúdos" id="{5a7d3788-3d22-227d-7346-28532af091aa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Consolidação" id="{1eef107a-d9f4-e19f-e9a5-52fa003cde7f}">
          <p14:sldIdLst>
            <p14:sldId id="269"/>
            <p14:sldId id="270"/>
            <p14:sldId id="271"/>
            <p14:sldId id="272"/>
          </p14:sldIdLst>
        </p14:section>
        <p14:section name="Encerramento" id="{d9f9e1cf-5410-2751-2785-04622f655e03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ATC]
Apresentação do Módulo 1 do curso Microsoft Excel.
Miguel é o guia virtual que acompanha os formandos nos vídeos e no manual na plataforma ATC.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Enquadramento]
O Microsoft Excel é uma aplicação de folhas de cálculo. Permite organizar informação em linhas e colunas, efetuar cálculos e apresentar dados em gráficos. Neste módulo, vai praticar com um pequeno registo de despesas de formação em kwanzas.
Sugestão pedagógica: pergunte aos formandos que experiência prévia já têm com este tema antes de avançar para os objetivos.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Objetivos]
1. Explicar para que serve uma folha de cálculo e distinguir livro, folha e célula.
2. Criar um livro em branco e identificar uma célula pelo endereço.
3. Introduzir texto e números e avançar entre células com Enter ou Tab.
4. Usar o preenchimento automático para prolongar uma série simples.
5. Reconhecer que gráficos e formatação condicional ajudam a interpretar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Percurso]
Temas do módulo:
1.1 O que é o Excel?
1.2 Criar um livro e selecionar uma célula
1.3 Introduzir texto e números
1.4 Preencher uma série automaticamente
1.5 Transformar dados em informação
Exemplo ATC · Ler uma tabela de materiais
Exemplo ATC · Localizar a Soma Automática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1.1 O que é o Excel?]
Tempo sugerido: 8–10 min
[Figura] Ícone de identificação do Microsoft Excel, réplica visual fornecida para este curso.
O Microsoft Excel é uma aplicação de folhas de cálculo. Uma folha está organizada em colunas (identificadas por letras) e linhas (identificadas por números). O cruzamento de uma coluna com uma linha forma uma célula.
Termo | Significado | Exemplo
Livro | Ficheiro de trabalho do Excel; pode conter várias folhas. | Registo de despesas.xlsx
Folha | Uma página de células dentro do livro. | Janeiro
Célula | Espaço onde se introduz um valor ou uma fórmula. | B4 é a coluna B, linha 4
Intervalo | Conjunto de uma ou mais células. | B2:B8
O Excel ajuda a efetuar cálculos, pode sugerir gráficos adequados aos dados e permite realçar tendências com barras de dados, escalas de cores e conjuntos de ícones. Os resultados dependem dos dados e das fórmulas introduzidas; confirme sempre se fazem sentido.
[Figura] Esquema animado ATC: um livro contém folhas; cada folha organiza células em linhas e colunas.
Dica: Os nomes dos separadores, botões e funções podem variar ligeiramente conforme a versão do Microsoft Excel e o idioma instalado. Neste manual usamos os termos da interface em português europeu.
Verificação em sala: peça a um formando que demonstre ou explique o passo principal antes de avançar.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Quadro de referência]
1.1 O que é o Excel?
Explore os exemplos da tabela com a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1.2 Criar um livro e selecionar uma célula]
Tempo sugerido: 8–10 min
Abra o Microsoft Excel e escolha Livro em branco. Também pode criar um livro com Ctrl+N. A grelha que aparece é uma folha de cálculo pronta a receber dados.
1. Abra o Microsoft Excel.
2. Escolha Livro em branco.
3. Clique numa célula, por exemplo A1. A referência da célula combina a letra da coluna com o número da linha.
4. Introduza um título, como Despesas de formação ATC, e prima Enter.
5. Guarde o ficheiro com um nome claro, por exemplo Registo de despesas.xlsx.
[Figura] Esquema animado ATC: criar um livro e começar na célula A1.
Verificação em sala: peça a um formando que demonstre ou explique o passo principal antes de avançar.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1.3 Introduzir texto e números]
Tempo sugerido: 8–10 min
Selecione uma célula vazia, escreva o conteúdo e prima Enter ou Tab. Enter confirma a entrada e normalmente avança para a célula seguinte na coluna; Tab confirma e avança para a célula à direita. Pode escrever palavras, datas ou números.
[Figura] Esquema animado ATC: preencher uma tabela simples de despesas em kwanzas.
1. Na célula A1, escreva Despesa; na B1, escreva Valor (Kz).
2. Na célula A2, escreva Caderno; em B2, escreva 2500.
3. Na linha seguinte, registe Transporte e 6000.
4. Na terceira linha, registe Dados móveis e 3500.
5. Confirme os valores e guarde o livro.
Atenção: Não introduza dados pessoais ou financeiros reais em ficheiros de demonstração. Use apenas valores de exemplo durante a prática.
Verificação em sala: peça a um formando que demonstre ou explique o passo principal antes de avançar.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1.4 Preencher uma série automaticamente]
Tempo sugerido: 8–10 min
Quando reconhece um padrão, o Excel pode continuar uma série. Para criar uma sequência mensal, escreva Jan e Fev em duas células adjacentes, selecione ambas e arraste a alça de preenchimento — o pequeno quadrado no canto inferior direito da seleção — na direção pretendida.
[Figura] Esquema animado ATC: selecionar os dois primeiros meses e arrastar a alça para continuar a série.
1. Escreva Jan numa célula e Fev na célula imediatamente à direita.
2. Selecione as duas células.
3. Aponte para a alça de preenchimento até o ponteiro mudar.
4. Arraste para a direita até ao mês pretendido.
5. Verifique se o padrão continuou corretamente.
Dica: Com apenas um valor selecionado, o Excel pode copiar esse valor em vez de continuar uma série. Para indicar o padrão, selecione os dois primeiros valores antes de arrastar.
Verificação em sala: peça a um formando que demonstre ou explique o passo principal antes de avançar.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1.5 Transformar dados em informação]
Tempo sugerido: 8–10 min
Depois de organizar os dados, pode aplicar fórmulas para calcular totais, criar um gráfico para comparar categorias ou usar formatação condicional para destacar valores. O Excel também pode apresentar recomendações de gráficos com base nos dados selecionados.
Necessidade | Recurso do Excel | Exemplo de utilização
Calcular | Fórmula ou função | Somar as despesas registadas
Comparar categorias | Gráfico | Ver qual despesa tem o maior valor
Encontrar valores fora do padrão | Formatação condicional | Realçar despesas acima de um limite
Este módulo limita-se à introdução de dados. Nos módulos seguintes, o curso irá desenvolver fórmulas, funções, gráficos e apresentação de resultados.
[Figura] Captura própria ATC no Microsoft Excel para a Web, em português de Portugal: introduzir =SOMA(D2:D4) com materiais fictícios de formação.
[Figura] Captura própria ATC: resultado da soma, 41 000 Kz. Demonstração das próximas competências; exercício introdutório mantém-se sem fórmulas.
Verificação em sala: peça a um formando que demonstre ou explique o passo principal antes de avançar.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Quadro de referência]
1.5 Transformar dados em informação
Explore os exemplos da tabela com a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Exemplo ATC · Ler uma tabela de materiais]
Tempo sugerido: 8–10 min
A folha ATC regista quantidades, preços e totais em kwanzas.
[Figura] Captura própria ATC · Microsoft Excel para a Web · Português (Portugal).
1. Identifique os cabeçalhos Material, Quantidade, Preço (Kz) e Total (Kz).
2. Selecione D5, a célula do total.
3. Compare o valor 41 000 com a fórmula apresentada na barra de fórmulas.
Dica: A célula D5 contém =SOMA(D2:D4) e apresenta 41 000.
Verificação em sala: peça a um formando que demonstre ou explique o passo principal antes de avançar.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Exemplo ATC · Localizar a Soma Automática]
Tempo sugerido: 8–10 min
O separador Fórmulas reúne funções para calcular resultados.
[Figura] Captura própria ATC · Microsoft Excel para a Web · Português (Portugal).
1. Abra o separador Fórmulas.
2. Localize Soma Automática, identificada pelo símbolo Σ.
3. Ao praticar numa célula vazia, confirme sempre o intervalo proposto antes de premir Enter.
Dica: Nesta captura, o cálculo já está concluído; o separador mostra onde encontrar a função.
Verificação em sala: peça a um formando que demonstre ou explique o passo principal antes de avançar.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Síntese]
Resumo do módulo:
Um livro do Excel pode conter várias folhas.
As células são identificadas pela coluna e pela linha, como A1 ou C5.
Enter ou Tab confirma uma entrada e move a seleção.
Selecionar dois valores permite ao preenchimento automático continuar uma série.
Fórmulas, gráficos e formatação condicional ajudam a analisar e comunicar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Exercício Prático]
Exercício prático · Registo de despesas de formação (15 min)
Recurso: Crie um livro novo no Microsoft Excel
Tarefas:
1. Crie um livro em branco e guarde-o como Despesas_ATC.xlsx.
2. Introduza os cabeçalhos Despesa e Valor (Kz).
3. Registe três despesas fictícias: Caderno (2500), Transporte (6000) e Dados móveis (3500).
4. Crie uma segunda folha e preencha os meses de Jan a Jun usando o preenchimento automático.
5. Guarde o ficheiro e confirme que as duas folhas aparecem no livro.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Chave de Respostas]
1. Como se chama o espaço onde se cruzam a coluna B e a linha 4 numa folha de cálculo?
   ✓ Resposta certa: B) Célula B4
2. Que tecla confirma o valor introduzido numa célula e avança para a célula imediatamente à direita?
   ✓ Resposta certa: A) Tab
3. Para prolongar a sequência «Jan, Fev» até junho com a alça de preenchimento, o que deve fazer primeiro?
   ✓ Resposta certa: B) Selecionar as duas células (Jan e Fev) para indicar o padrão ao Excel
4. Qual das seguintes expressões representa uma fórmula que soma os valores do intervalo de D2 até D4?
   ✓ Resposta certa: B) =SOMA(D2:D4)
5. Que recurso do Excel permite realçar automaticamente com cores as despesas que ultrapassam um limite?
   ✓ Resposta certa: B) Formatação condicional
6. Qual é a diferença entre um livro e uma folha no Microsoft Excel?
   ✓ Resposta certa: B) O livro é o ficheiro (.xlsx) e pode conter várias folhas de cálculo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Glossário]
• Alça de preenchimento: Pequeno quadrado no canto inferior direito da seleção, usado para copiar valores ou continuar séries.
• Célula: Unidade individual da grelha, identificada pela coluna e linha.
• Folha de cálculo: Grelha de linhas e colunas onde se organizam os dados.
• Formatação condicional: Regras visuais que realçam células consoante os seus valores.
• Intervalo: Conjunto de células contíguas, identificado pelos cantos (por exemplo, B2:B8).
• Livro: Ficheiro do Excel (.xlsx) que pode conter uma ou mais folhas de cálculo.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Encerramento]
Lembre os formandos de que o manual ilustrado, as vídeo-aulas e o guia por voz estão disponíveis na plataforma ATC (lms.grupoangbu.com).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17346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0241280" cy="7498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2900" dirty="0"/>
          </a:p>
        </p:txBody>
      </p:sp>
      <p:pic>
        <p:nvPicPr>
          <p:cNvPr id="4" name="Image 0" descr="/Users/almeidajose/Documents/A/App/ATC 2/atc_lms/static/logo-60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566928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6327648"/>
            <a:ext cx="11091672" cy="13716"/>
          </a:xfrm>
          <a:prstGeom prst="rect">
            <a:avLst/>
          </a:prstGeom>
          <a:solidFill>
            <a:srgbClr val="E3E8EE"/>
          </a:solidFill>
          <a:ln/>
        </p:spPr>
      </p:sp>
      <p:sp>
        <p:nvSpPr>
          <p:cNvPr id="6" name="Text 2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ATC · Angbu Training Centre   |   Microsoft Excel · Módulo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a">
    <p:bg>
      <p:bgPr>
        <a:solidFill>
          <a:srgbClr val="E8EA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ATC · Angbu Training Centre   |   Microsoft Excel · Módulo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B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ótipo ATC – Angbu Training Cent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960120" cy="9601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965960"/>
            <a:ext cx="49498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MANUAL DO FORMANDO · MÓDULO 1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286000"/>
            <a:ext cx="494980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Microsoft Excel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657600"/>
            <a:ext cx="494980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3"/>
                </a:solidFill>
              </a:rPr>
              <a:t>Primeiros passos no Excel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06240"/>
            <a:ext cx="49498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5DEE6"/>
                </a:solidFill>
              </a:rPr>
              <a:t>Folhas de cálculo para organizar e compreender dados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715000"/>
            <a:ext cx="49498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5DEE6"/>
                </a:solidFill>
              </a:rPr>
              <a:t>ATC – Angbu Training Centre · Cabinda, Angola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5DEE6"/>
                </a:solidFill>
              </a:rPr>
              <a:t>Versão 1.0 — módulo introdutório ATC · outubro de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19519" y="822960"/>
            <a:ext cx="5123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OLÁ, SOU A HELENA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519519" y="1143000"/>
            <a:ext cx="51235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Bem-vindo ao módulo 1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519519" y="2103120"/>
            <a:ext cx="5123536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 Microsoft Excel é uma aplicação de folhas de cálculo. Permite organizar informação em linhas e colunas, efetuar cálculos e apresentar dados em gráficos. Neste módulo, vai praticar com um pequeno registo de despesas de formação em kwanzas.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19519" y="4709160"/>
            <a:ext cx="1524965" cy="1325880"/>
          </a:xfrm>
          <a:prstGeom prst="roundRect">
            <a:avLst>
              <a:gd name="adj" fmla="val 6897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519519" y="4800600"/>
            <a:ext cx="152496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h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6610959" y="5468112"/>
            <a:ext cx="13420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em sala e laboratório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318805" y="4709160"/>
            <a:ext cx="1524965" cy="1325880"/>
          </a:xfrm>
          <a:prstGeom prst="roundRect">
            <a:avLst>
              <a:gd name="adj" fmla="val 6897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318805" y="4800600"/>
            <a:ext cx="152496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min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8410245" y="5468112"/>
            <a:ext cx="13420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 vídeo-aulas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118090" y="4709160"/>
            <a:ext cx="1524965" cy="1325880"/>
          </a:xfrm>
          <a:prstGeom prst="roundRect">
            <a:avLst>
              <a:gd name="adj" fmla="val 6897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10118090" y="4800600"/>
            <a:ext cx="152496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10209530" y="5468112"/>
            <a:ext cx="13420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temas estruturados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chemeClr val="accent2"/>
                </a:solidFill>
              </a:rPr>
              <a:t>MÓDULO 1 · COMPETÊNCIAS E RESULTADOS DE APRENDIZAGEM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0241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 de aprendizagem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291840" cy="4709160"/>
          </a:xfrm>
          <a:prstGeom prst="roundRect">
            <a:avLst>
              <a:gd name="adj" fmla="val 4167"/>
            </a:avLst>
          </a:prstGeom>
          <a:solidFill>
            <a:schemeClr val="tx2"/>
          </a:solidFill>
          <a:ln w="12700">
            <a:solidFill>
              <a:srgbClr val="0B2137"/>
            </a:solidFill>
            <a:prstDash val="solid"/>
          </a:ln>
        </p:spPr>
      </p:sp>
      <p:pic>
        <p:nvPicPr>
          <p:cNvPr id="5" name="Image 0" descr="Miguel, guia virtual AT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737360"/>
            <a:ext cx="1920240" cy="1920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393192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final deste módulo,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será capaz de: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5120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Miguel · guia virtual ATC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206240" y="1426464"/>
            <a:ext cx="7406640" cy="786384"/>
          </a:xfrm>
          <a:prstGeom prst="roundRect">
            <a:avLst>
              <a:gd name="adj" fmla="val 9302"/>
            </a:avLst>
          </a:prstGeom>
          <a:solidFill>
            <a:srgbClr val="F2F4F7"/>
          </a:solidFill>
          <a:ln w="6350">
            <a:solidFill>
              <a:srgbClr val="DCE3E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407408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407408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5074920" y="1426464"/>
            <a:ext cx="6355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Explicar para que serve uma folha de cálculo e distinguir livro, folha e célula.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206240" y="2340864"/>
            <a:ext cx="7406640" cy="786384"/>
          </a:xfrm>
          <a:prstGeom prst="roundRect">
            <a:avLst>
              <a:gd name="adj" fmla="val 9302"/>
            </a:avLst>
          </a:prstGeom>
          <a:solidFill>
            <a:srgbClr val="F2F4F7"/>
          </a:solidFill>
          <a:ln w="6350">
            <a:solidFill>
              <a:srgbClr val="DCE3E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07408" y="25146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07408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5074920" y="2340864"/>
            <a:ext cx="6355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Criar um livro em branco e identificar uma célula pelo endereço.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4206240" y="3255264"/>
            <a:ext cx="7406640" cy="786384"/>
          </a:xfrm>
          <a:prstGeom prst="roundRect">
            <a:avLst>
              <a:gd name="adj" fmla="val 9302"/>
            </a:avLst>
          </a:prstGeom>
          <a:solidFill>
            <a:srgbClr val="F2F4F7"/>
          </a:solidFill>
          <a:ln w="6350">
            <a:solidFill>
              <a:srgbClr val="DCE3E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407408" y="3429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407408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074920" y="3255264"/>
            <a:ext cx="6355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Introduzir texto e números e avançar entre células com Enter ou Tab.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4206240" y="4169664"/>
            <a:ext cx="7406640" cy="786384"/>
          </a:xfrm>
          <a:prstGeom prst="roundRect">
            <a:avLst>
              <a:gd name="adj" fmla="val 9302"/>
            </a:avLst>
          </a:prstGeom>
          <a:solidFill>
            <a:srgbClr val="F2F4F7"/>
          </a:solidFill>
          <a:ln w="6350">
            <a:solidFill>
              <a:srgbClr val="DCE3E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407408" y="4343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07408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074920" y="4169664"/>
            <a:ext cx="6355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Usar o preenchimento automático para prolongar uma série simples.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4206240" y="5084064"/>
            <a:ext cx="7406640" cy="786384"/>
          </a:xfrm>
          <a:prstGeom prst="roundRect">
            <a:avLst>
              <a:gd name="adj" fmla="val 9302"/>
            </a:avLst>
          </a:prstGeom>
          <a:solidFill>
            <a:srgbClr val="F2F4F7"/>
          </a:solidFill>
          <a:ln w="6350">
            <a:solidFill>
              <a:srgbClr val="DCE3E9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407408" y="52578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407408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5074920" y="5084064"/>
            <a:ext cx="6355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Reconhecer que gráficos e formatação condicional ajudam a interpretar dados.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49498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MÓDULO 1 · PRIMEIROS PASSOS NO EXCEL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49498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Percurso do módulo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203704"/>
            <a:ext cx="493776" cy="4572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203704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148840"/>
            <a:ext cx="429143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 que é o Excel?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770632"/>
            <a:ext cx="493776" cy="4572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70632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715768"/>
            <a:ext cx="429143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Criar um livro e selecionar uma célula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337560"/>
            <a:ext cx="493776" cy="4572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33756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3282696"/>
            <a:ext cx="429143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Introduzir texto e números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3904488"/>
            <a:ext cx="493776" cy="4572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904488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3849624"/>
            <a:ext cx="429143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Preencher uma série automaticamente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4471416"/>
            <a:ext cx="493776" cy="4572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471416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07008" y="4416552"/>
            <a:ext cx="429143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Transformar dados em informação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5038344"/>
            <a:ext cx="493776" cy="4572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038344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4983480"/>
            <a:ext cx="429143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Exemplo ATC · Ler uma tabela de materiais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548640" y="5605272"/>
            <a:ext cx="493776" cy="4572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5605272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207008" y="5550408"/>
            <a:ext cx="429143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Exemplo ATC · Localizar a Soma Automática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chemeClr val="accent2"/>
                </a:solidFill>
              </a:rPr>
              <a:t>MÓDULO 1 · TEMA 1 DE 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0241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 O que é o Excel?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84632" y="1579982"/>
            <a:ext cx="6803136" cy="3880917"/>
          </a:xfrm>
          <a:prstGeom prst="roundRect">
            <a:avLst>
              <a:gd name="adj" fmla="val 1414"/>
            </a:avLst>
          </a:prstGeom>
          <a:solidFill>
            <a:srgbClr val="FFFFFF"/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pic>
        <p:nvPicPr>
          <p:cNvPr id="5" name="Image 0" descr="Esquema animado ATC: um livro contém folhas; cada folha organiza células em linhas e coluna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3990"/>
            <a:ext cx="6675120" cy="375290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806440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Esquema animado ATC: um livro contém folhas; cada folha organiza células em linhas e colunas.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589520" y="1325880"/>
            <a:ext cx="4069080" cy="1368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Microsoft Excel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é uma aplicação de folhas de cálculo. Uma folha está organizada em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colunas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(identificadas por letras) e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linhas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(identificadas por números). O cruzamento de uma coluna com uma linha forma uma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célula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8" name="Cartão de dica"/>
          <p:cNvSpPr/>
          <p:nvPr/>
        </p:nvSpPr>
        <p:spPr>
          <a:xfrm>
            <a:off x="7589520" y="4378706"/>
            <a:ext cx="4069080" cy="1793494"/>
          </a:xfrm>
          <a:prstGeom prst="roundRect">
            <a:avLst>
              <a:gd name="adj" fmla="val 6118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pic>
        <p:nvPicPr>
          <p:cNvPr id="9" name="Image 1" descr="Helena, guia virtual AT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4886833"/>
            <a:ext cx="777240" cy="7772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714232" y="4451858"/>
            <a:ext cx="2788920" cy="164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Dica da Helena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Os nomes dos separadores, botões e funções podem variar ligeiramente conforme a versão do Microsoft Excel e o idioma instalado. Neste manual usamos os termos da interface em português europeu.</a:t>
            </a:r>
            <a:endParaRPr lang="en-US" sz="1300" dirty="0"/>
          </a:p>
        </p:txBody>
      </p:sp>
      <p:pic>
        <p:nvPicPr>
          <p:cNvPr id="11" name="Image 2" descr="Ícone de identificação do Microsoft Excel, réplica visual fornecida para este curso.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457200"/>
            <a:ext cx="502920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chemeClr val="accent2"/>
                </a:solidFill>
              </a:rPr>
              <a:t>MÓDULO 1 · TEMA 1 DE 7 · QUADRO-RESUMO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0241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 O que é o Excel? — Quadro de referência</a:t>
            </a:r>
            <a:endParaRPr lang="en-US" sz="2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434133"/>
                <a:gridCol w="5089550"/>
                <a:gridCol w="35405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Ficheiro de trabalho do Excel; pode conter várias folhas.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Registo de despesas.xlsx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Folha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Uma página de células dentro do livro.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Janeiro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Célula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Espaço onde se introduz um valor ou uma fórmula.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B4 é a coluna B, linha 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Intervalo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Conjunto de uma ou mais células.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B2:B8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chemeClr val="accent2"/>
                </a:solidFill>
              </a:rPr>
              <a:t>MÓDULO 1 · TEMA 2 DE 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0241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 Criar um livro e selecionar uma célula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84632" y="1579982"/>
            <a:ext cx="6803136" cy="3880917"/>
          </a:xfrm>
          <a:prstGeom prst="roundRect">
            <a:avLst>
              <a:gd name="adj" fmla="val 1414"/>
            </a:avLst>
          </a:prstGeom>
          <a:solidFill>
            <a:srgbClr val="FFFFFF"/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pic>
        <p:nvPicPr>
          <p:cNvPr id="5" name="Image 0" descr="Esquema animado ATC: criar um livro e começar na célula A1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3990"/>
            <a:ext cx="6675120" cy="375290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806440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Esquema animado ATC: criar um livro e começar na célula A1.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589520" y="1325880"/>
            <a:ext cx="4069080" cy="130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Abra o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Microsoft Excel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e escolha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Livro em branco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. Também pode criar um livro com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Ctrl+N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. A grelha que aparece é uma folha de cálculo pronta a receber dados.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chemeClr val="accent2"/>
                </a:solidFill>
              </a:rPr>
              <a:t>MÓDULO 1 · TEMA 3 DE 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0241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 Introduzir texto e números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84632" y="1579982"/>
            <a:ext cx="6803136" cy="3880917"/>
          </a:xfrm>
          <a:prstGeom prst="roundRect">
            <a:avLst>
              <a:gd name="adj" fmla="val 1414"/>
            </a:avLst>
          </a:prstGeom>
          <a:solidFill>
            <a:srgbClr val="FFFFFF"/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pic>
        <p:nvPicPr>
          <p:cNvPr id="5" name="Image 0" descr="Esquema animado ATC: preencher uma tabela simples de despesas em kwanza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3990"/>
            <a:ext cx="6675120" cy="375290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806440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Esquema animado ATC: preencher uma tabela simples de despesas em kwanzas.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589520" y="1325880"/>
            <a:ext cx="4069080" cy="1578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Selecione uma célula vazia, escreva o conteúdo e prima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Enter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ou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Tab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. Enter confirma a entrada e normalmente avança para a célula seguinte na coluna; Tab confirma e avança para a célula à direita. Pode escrever palavras, datas ou números.</a:t>
            </a:r>
            <a:endParaRPr lang="en-US" sz="1400" dirty="0"/>
          </a:p>
        </p:txBody>
      </p:sp>
      <p:sp>
        <p:nvSpPr>
          <p:cNvPr id="8" name="Cartão de dica"/>
          <p:cNvSpPr/>
          <p:nvPr/>
        </p:nvSpPr>
        <p:spPr>
          <a:xfrm>
            <a:off x="7589520" y="4768342"/>
            <a:ext cx="4069080" cy="1403858"/>
          </a:xfrm>
          <a:prstGeom prst="roundRect">
            <a:avLst>
              <a:gd name="adj" fmla="val 7816"/>
            </a:avLst>
          </a:prstGeom>
          <a:solidFill>
            <a:srgbClr val="FBEDE6"/>
          </a:solidFill>
          <a:ln w="9525">
            <a:solidFill>
              <a:srgbClr val="F0C7B4"/>
            </a:solidFill>
            <a:prstDash val="solid"/>
          </a:ln>
        </p:spPr>
      </p:sp>
      <p:pic>
        <p:nvPicPr>
          <p:cNvPr id="9" name="Image 1" descr="Helena, guia virtual AT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5081651"/>
            <a:ext cx="777240" cy="7772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714232" y="4841494"/>
            <a:ext cx="2788920" cy="1257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6"/>
                </a:solidFill>
              </a:rPr>
              <a:t>Atenção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Não introduza dados pessoais ou financeiros reais em ficheiros de demonstração. Use apenas valores de exemplo durante a prática.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chemeClr val="accent2"/>
                </a:solidFill>
              </a:rPr>
              <a:t>MÓDULO 1 · TEMA 4 DE 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0241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 Preencher uma série automaticamente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84632" y="1579982"/>
            <a:ext cx="6803136" cy="3880917"/>
          </a:xfrm>
          <a:prstGeom prst="roundRect">
            <a:avLst>
              <a:gd name="adj" fmla="val 1414"/>
            </a:avLst>
          </a:prstGeom>
          <a:solidFill>
            <a:srgbClr val="FFFFFF"/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pic>
        <p:nvPicPr>
          <p:cNvPr id="5" name="Image 0" descr="Esquema animado ATC: selecionar os dois primeiros meses e arrastar a alça para continuar a séri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3990"/>
            <a:ext cx="6675120" cy="375290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806440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Esquema animado ATC: selecionar os dois primeiros meses e arrastar a alça para continuar a série.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589520" y="1325880"/>
            <a:ext cx="4069080" cy="1578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Quando reconhece um padrão, o Excel pode continuar uma série. Para criar uma sequência mensal, escreva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Jan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e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Fev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em duas células adjacentes, selecione ambas e arraste a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alça de preenchimento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— o pequeno quadrado no canto inferior direito da seleção — na direção pretendida.</a:t>
            </a:r>
            <a:endParaRPr lang="en-US" sz="1400" dirty="0"/>
          </a:p>
        </p:txBody>
      </p:sp>
      <p:sp>
        <p:nvSpPr>
          <p:cNvPr id="8" name="Cartão de dica"/>
          <p:cNvSpPr/>
          <p:nvPr/>
        </p:nvSpPr>
        <p:spPr>
          <a:xfrm>
            <a:off x="7589520" y="4378706"/>
            <a:ext cx="4069080" cy="1793494"/>
          </a:xfrm>
          <a:prstGeom prst="roundRect">
            <a:avLst>
              <a:gd name="adj" fmla="val 6118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pic>
        <p:nvPicPr>
          <p:cNvPr id="9" name="Image 1" descr="Miguel, guia virtual AT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4886833"/>
            <a:ext cx="777240" cy="7772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714232" y="4451858"/>
            <a:ext cx="2788920" cy="164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Dica do Miguel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Com apenas um valor selecionado, o Excel pode copiar esse valor em vez de continuar uma série. Para indicar o padrão, selecione os dois primeiros valores antes de arrastar.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chemeClr val="accent2"/>
                </a:solidFill>
              </a:rPr>
              <a:t>MÓDULO 1 · TEMA 5 DE 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0241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 Transformar dados em informação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84632" y="2227116"/>
            <a:ext cx="3351276" cy="2586647"/>
          </a:xfrm>
          <a:prstGeom prst="roundRect">
            <a:avLst>
              <a:gd name="adj" fmla="val 2121"/>
            </a:avLst>
          </a:prstGeom>
          <a:solidFill>
            <a:srgbClr val="FFFFFF"/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pic>
        <p:nvPicPr>
          <p:cNvPr id="5" name="Image 0" descr="Captura própria ATC no Microsoft Excel para a Web, em português de Portugal: introduzir =SOMA(D2:D4) com materiais fictícios de formaçã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91124"/>
            <a:ext cx="3223260" cy="2458631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936492" y="2227116"/>
            <a:ext cx="3351276" cy="2586647"/>
          </a:xfrm>
          <a:prstGeom prst="roundRect">
            <a:avLst>
              <a:gd name="adj" fmla="val 2121"/>
            </a:avLst>
          </a:prstGeom>
          <a:solidFill>
            <a:srgbClr val="FFFFFF"/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pic>
        <p:nvPicPr>
          <p:cNvPr id="7" name="Image 1" descr="Captura própria ATC: resultado da soma, 41 000 Kz. Demonstração das próximas competências; exercício introdutório mantém-se sem fórmulas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500" y="2291124"/>
            <a:ext cx="3223260" cy="245863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5806440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Captura própria ATC no Microsoft Excel para a Web, em português de Portugal: introduzir =SOMA(D2:D4) com materiais fictícios de formação.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7589520" y="1325880"/>
            <a:ext cx="4069080" cy="1578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Depois de organizar os dados, pode aplicar fórmulas para calcular totais, criar um gráfico para comparar categorias ou usar formatação condicional para destacar valores. O Excel também pode apresentar recomendações de gráficos com base nos dados selecionados.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589520" y="3087116"/>
            <a:ext cx="4069080" cy="3085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Calcular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: Fórmula ou função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Comparar categorias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: Gráfico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Encontrar valores fora do padrão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: Formatação condicional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chemeClr val="accent2"/>
                </a:solidFill>
              </a:rPr>
              <a:t>MÓDULO 1 · TEMA 5 DE 7 · QUADRO-RESUMO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0241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 Transformar dados em informação — Quadro de referência</a:t>
            </a:r>
            <a:endParaRPr lang="en-US" sz="2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434133"/>
                <a:gridCol w="5089550"/>
                <a:gridCol w="35405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Necessidade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Recurso do Excel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 de utilização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Fórmula ou função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Somar as despesas registadas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Comparar categorias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Gráfico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qual despesa tem o maior valor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Encontrar valores fora do padrão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Formatação condicional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Realçar despesas acima de um limite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chemeClr val="accent2"/>
                </a:solidFill>
              </a:rPr>
              <a:t>MÓDULO 1 · TEMA 6 DE 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0241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 ATC: Ler uma tabela de materiais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945129" y="1261872"/>
            <a:ext cx="5882143" cy="4517136"/>
          </a:xfrm>
          <a:prstGeom prst="roundRect">
            <a:avLst>
              <a:gd name="adj" fmla="val 1215"/>
            </a:avLst>
          </a:prstGeom>
          <a:solidFill>
            <a:srgbClr val="FFFFFF"/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pic>
        <p:nvPicPr>
          <p:cNvPr id="5" name="Image 0" descr="Captura própria ATC · Microsoft Excel para a Web · Português (Portugal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137" y="1325880"/>
            <a:ext cx="5754127" cy="43891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806440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Captura própria ATC · Microsoft Excel para a Web · Português (Portugal).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589520" y="1325880"/>
            <a:ext cx="4069080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folha ATC regista quantidades, preços e totais em kwanzas.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589520" y="2116328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589520" y="2116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092440" y="2098040"/>
            <a:ext cx="3566160" cy="684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Identifique os cabeçalhos Material, Quantidade, Preço (Kz) e Total (Kz).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589520" y="292862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589520" y="29286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2910332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Selecione D5, a célula do total.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589520" y="3440684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589520" y="34406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92440" y="3422396"/>
            <a:ext cx="3566160" cy="684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Compare o valor 41 000 com a fórmula apresentada na barra de fórmulas.</a:t>
            </a:r>
            <a:endParaRPr lang="en-US" sz="1400" dirty="0"/>
          </a:p>
        </p:txBody>
      </p:sp>
      <p:sp>
        <p:nvSpPr>
          <p:cNvPr id="17" name="Cartão de dica"/>
          <p:cNvSpPr/>
          <p:nvPr/>
        </p:nvSpPr>
        <p:spPr>
          <a:xfrm>
            <a:off x="7589520" y="5120640"/>
            <a:ext cx="4069080" cy="1051560"/>
          </a:xfrm>
          <a:prstGeom prst="roundRect">
            <a:avLst>
              <a:gd name="adj" fmla="val 10435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pic>
        <p:nvPicPr>
          <p:cNvPr id="18" name="Image 1" descr="Miguel, guia virtual AT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5257800"/>
            <a:ext cx="777240" cy="77724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8714232" y="5193792"/>
            <a:ext cx="278892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Dica do Miguel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A célula D5 contém =SOMA(D2:D4) e apresenta 41 000.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chemeClr val="accent2"/>
                </a:solidFill>
              </a:rPr>
              <a:t>MÓDULO 1 · TEMA 7 DE 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0241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 ATC: Localizar a Soma Automática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945129" y="1261872"/>
            <a:ext cx="5882143" cy="4517136"/>
          </a:xfrm>
          <a:prstGeom prst="roundRect">
            <a:avLst>
              <a:gd name="adj" fmla="val 1215"/>
            </a:avLst>
          </a:prstGeom>
          <a:solidFill>
            <a:srgbClr val="FFFFFF"/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pic>
        <p:nvPicPr>
          <p:cNvPr id="5" name="Image 0" descr="Captura própria ATC · Microsoft Excel para a Web · Português (Portugal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137" y="1325880"/>
            <a:ext cx="5754127" cy="43891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806440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Captura própria ATC · Microsoft Excel para a Web · Português (Portugal).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589520" y="1325880"/>
            <a:ext cx="4069080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 separador Fórmulas reúne funções para calcular resultados.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589520" y="2116328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589520" y="2116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092440" y="20980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Abra o separador Fórmulas.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589520" y="2628392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589520" y="26283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2610104"/>
            <a:ext cx="3566160" cy="474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Localize Soma Automática, identificada pelo símbolo Σ.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589520" y="323088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589520" y="32308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92440" y="3212592"/>
            <a:ext cx="3566160" cy="684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Ao praticar numa célula vazia, confirme sempre o intervalo proposto antes de premir Enter.</a:t>
            </a:r>
            <a:endParaRPr lang="en-US" sz="1400" dirty="0"/>
          </a:p>
        </p:txBody>
      </p:sp>
      <p:sp>
        <p:nvSpPr>
          <p:cNvPr id="17" name="Cartão de dica"/>
          <p:cNvSpPr/>
          <p:nvPr/>
        </p:nvSpPr>
        <p:spPr>
          <a:xfrm>
            <a:off x="7589520" y="4963160"/>
            <a:ext cx="4069080" cy="1209040"/>
          </a:xfrm>
          <a:prstGeom prst="roundRect">
            <a:avLst>
              <a:gd name="adj" fmla="val 9076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pic>
        <p:nvPicPr>
          <p:cNvPr id="18" name="Image 1" descr="Helena, guia virtual AT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5179060"/>
            <a:ext cx="777240" cy="77724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8714232" y="5036312"/>
            <a:ext cx="2788920" cy="1062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Dica da Helena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Nesta captura, o cálculo já está concluído; o separador mostra onde encontrar a função.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120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MÓDULO 1 · SÍNTESE PEDAGÓGICA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6120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Ideias-chave a reter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94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48840"/>
            <a:ext cx="5617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Um livro do Excel pode conter várias folhas.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816352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8163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770632"/>
            <a:ext cx="5617288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As células são identificadas pela coluna e pela linha, como A1 ou C5.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570224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702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524504"/>
            <a:ext cx="5617288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Enter ou Tab confirma uma entrada e move a seleção.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324096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240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4278376"/>
            <a:ext cx="5617288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Selecionar dois valores permite ao preenchimento automático continuar uma série.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5077968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077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5032248"/>
            <a:ext cx="5617288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Fórmulas, gráficos e formatação condicional ajudam a analisar e comunicar dados.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chemeClr val="accent2"/>
                </a:solidFill>
              </a:rPr>
              <a:t>MÓDULO 1 · PRÁTICA GUIADA EM LABORATÓRIO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0241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Exercício prático: Registo de despesas de formação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108960" cy="4754880"/>
          </a:xfrm>
          <a:prstGeom prst="roundRect">
            <a:avLst>
              <a:gd name="adj" fmla="val 4412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minutos de prática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0175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Crie um livro novo no Microsoft Excel</a:t>
            </a:r>
            <a:endParaRPr lang="en-US" sz="1350" dirty="0"/>
          </a:p>
        </p:txBody>
      </p:sp>
      <p:pic>
        <p:nvPicPr>
          <p:cNvPr id="8" name="Image 0" descr="Miguel, guia virtual AT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4160520"/>
            <a:ext cx="1371600" cy="1371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56509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Apoio do Miguel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069080" y="1435608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069080" y="14356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1417320"/>
            <a:ext cx="7086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Crie um livro em branco e guarde-o como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Despesas_ATC.xlsx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4069080" y="1947672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069080" y="1947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0" y="1929384"/>
            <a:ext cx="7086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Introduza os cabeçalhos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Despesa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e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Valor (Kz)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069080" y="2459736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069080" y="2459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0" y="2441448"/>
            <a:ext cx="7086600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Registe três despesas fictícias: Caderno (2500), Transporte (6000) e Dados móveis (3500).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4069080" y="3092196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69080" y="30921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0" y="3073908"/>
            <a:ext cx="7086600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Crie uma segunda folha e preencha os meses de Jan a Jun usando o preenchimento automático.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4069080" y="3724656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069080" y="37246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4572000" y="3706368"/>
            <a:ext cx="7086600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Guarde o ficheiro e confirme que as duas folhas aparecem no livro.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4069080" y="5532120"/>
            <a:ext cx="7589520" cy="594360"/>
          </a:xfrm>
          <a:prstGeom prst="roundRect">
            <a:avLst>
              <a:gd name="adj" fmla="val 12308"/>
            </a:avLst>
          </a:prstGeom>
          <a:solidFill>
            <a:srgbClr val="EDF7F1"/>
          </a:solidFill>
          <a:ln w="9525">
            <a:solidFill>
              <a:srgbClr val="B8DEC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251960" y="557784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Critério de sucesso: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concluir todos os passos com autonomia e validar o resultado com o formador.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chemeClr val="accent2"/>
                </a:solidFill>
              </a:rPr>
              <a:t>MÓDULO 1 · AVALIAÇÃO FORMATIVA EM SALA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0241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 os seus conhecimentos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53896"/>
            <a:ext cx="1143000" cy="256032"/>
          </a:xfrm>
          <a:prstGeom prst="roundRect">
            <a:avLst>
              <a:gd name="adj" fmla="val 178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453896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QUESTÃO 1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746504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Como se chama o espaço onde se cruzam a coluna B e a linha 4 numa folha de cálculo?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331720"/>
            <a:ext cx="50292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A) Folha B4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B) Célula B4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C) Livro 4B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D) Separador B4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32588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453896"/>
            <a:ext cx="1143000" cy="256032"/>
          </a:xfrm>
          <a:prstGeom prst="roundRect">
            <a:avLst>
              <a:gd name="adj" fmla="val 178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0" y="1453896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QUESTÃO 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1746504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Que tecla confirma o valor introduzido numa célula e avança para a célula imediatamente à direita?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2331720"/>
            <a:ext cx="50292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A) Tab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B) Esc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C) Espaço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D) BackSpace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584448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712464"/>
            <a:ext cx="1143000" cy="256032"/>
          </a:xfrm>
          <a:prstGeom prst="roundRect">
            <a:avLst>
              <a:gd name="adj" fmla="val 178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71246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QUESTÃO 3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005072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Para prolongar a sequência «Jan, Fev» até junho com a alça de preenchimento, o que deve fazer primeiro?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590288"/>
            <a:ext cx="50292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A) Selecionar apenas a célula onde escreveu Jan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B) Selecionar as duas células (Jan e Fev) para indicar o padrão ao Excel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C) Apagar Fev e escrever Jun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D) Clicar no botão Soma Automática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17920" y="3584448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3712464"/>
            <a:ext cx="1143000" cy="256032"/>
          </a:xfrm>
          <a:prstGeom prst="roundRect">
            <a:avLst>
              <a:gd name="adj" fmla="val 178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0" y="371246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QUESTÃO 4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4005072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Qual das seguintes expressões representa uma fórmula que soma os valores do intervalo de D2 até D4?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4590288"/>
            <a:ext cx="50292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A) SOMA(D2-D4)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B) =SOMA(D2:D4)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C) =TOTAL(D2;D4)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D) +D2:D4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5687568"/>
            <a:ext cx="11064240" cy="475488"/>
          </a:xfrm>
          <a:prstGeom prst="roundRect">
            <a:avLst>
              <a:gd name="adj" fmla="val 15385"/>
            </a:avLst>
          </a:prstGeom>
          <a:solidFill>
            <a:srgbClr val="FFF7F0"/>
          </a:solidFill>
          <a:ln w="9525">
            <a:solidFill>
              <a:srgbClr val="F2B48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5715000"/>
            <a:ext cx="10698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Dinâmica pedagógica: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discuta cada questão em turma antes de confirmar a resposta certa (chave disponível nas notas do formador).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chemeClr val="accent2"/>
                </a:solidFill>
              </a:rPr>
              <a:t>MÓDULO 1 · TERMINOLOGIA TÉCNICA EM PORTUGUÊS EUROPEU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0241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Glossário essencial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554480"/>
            <a:ext cx="502920" cy="457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64208"/>
            <a:ext cx="304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Alça de preenchimento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48840"/>
            <a:ext cx="3048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Pequeno quadrado no canto inferior direito da seleção, usado para copiar valores ou continuar séries.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328160" y="13716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1554480"/>
            <a:ext cx="502920" cy="457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56760" y="1664208"/>
            <a:ext cx="304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Célula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556760" y="2148840"/>
            <a:ext cx="3048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Unidade individual da grelha, identificada pela coluna e linha.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107680" y="13716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36280" y="1554480"/>
            <a:ext cx="502920" cy="457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36280" y="1664208"/>
            <a:ext cx="304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Folha de cálculo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8336280" y="2148840"/>
            <a:ext cx="3048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Grelha de linhas e colunas onde se organizam os dados.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48640" y="38862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4069080"/>
            <a:ext cx="502920" cy="457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4178808"/>
            <a:ext cx="304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Formatação condicional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663440"/>
            <a:ext cx="3048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Regras visuais que realçam células consoante os seus valores.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4328160" y="38862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56760" y="4069080"/>
            <a:ext cx="502920" cy="457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56760" y="4178808"/>
            <a:ext cx="304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Intervalo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4556760" y="4663440"/>
            <a:ext cx="3048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Conjunto de células contíguas, identificado pelos cantos (por exemplo, B2:B8).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8107680" y="38862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336280" y="4069080"/>
            <a:ext cx="502920" cy="457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36280" y="4178808"/>
            <a:ext cx="304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Livro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8336280" y="4663440"/>
            <a:ext cx="3048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Ficheiro do Excel (.xlsx) que pode conter uma ou mais folhas de cálculo.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ótipo ATC – Angbu Training Cent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9519" y="640080"/>
            <a:ext cx="960120" cy="9601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519519" y="2011680"/>
            <a:ext cx="512353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Aprender hoje.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 mais longe amanhã.</a:t>
            </a:r>
            <a:endParaRPr lang="en-US" sz="3800" dirty="0"/>
          </a:p>
        </p:txBody>
      </p:sp>
      <p:sp>
        <p:nvSpPr>
          <p:cNvPr id="4" name="Text 1"/>
          <p:cNvSpPr txBox="1"/>
          <p:nvPr/>
        </p:nvSpPr>
        <p:spPr>
          <a:xfrm>
            <a:off x="6519519" y="3840480"/>
            <a:ext cx="5123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5DEE6"/>
                </a:solidFill>
              </a:rPr>
              <a:t>Continue o módulo 1 na plataforma ATC: vídeo-aulas, manual completo, exercícios e o seu guia virtual por voz.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6519519" y="5760720"/>
            <a:ext cx="5123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5DEE6"/>
                </a:solidFill>
              </a:rPr>
              <a:t>ATC – Angbu Training Centre · Cabinda, Angola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TC Formação">
  <a:themeElements>
    <a:clrScheme name="ATC Formação">
      <a:dk1>
        <a:srgbClr val="1D2733"/>
      </a:dk1>
      <a:lt1>
        <a:srgbClr val="FFFFFF"/>
      </a:lt1>
      <a:dk2>
        <a:srgbClr val="0B2137"/>
      </a:dk2>
      <a:lt2>
        <a:srgbClr val="F2F4F7"/>
      </a:lt2>
      <a:accent1>
        <a:srgbClr val="DA6D24"/>
      </a:accent1>
      <a:accent2>
        <a:srgbClr val="217346"/>
      </a:accent2>
      <a:accent3>
        <a:srgbClr val="F08A3E"/>
      </a:accent3>
      <a:accent4>
        <a:srgbClr val="5F6B78"/>
      </a:accent4>
      <a:accent5>
        <a:srgbClr val="2E7D4F"/>
      </a:accent5>
      <a:accent6>
        <a:srgbClr val="B3361F"/>
      </a:accent6>
      <a:hlink>
        <a:srgbClr val="DA6D24"/>
      </a:hlink>
      <a:folHlink>
        <a:srgbClr val="8A5A3C"/>
      </a:folHlink>
    </a:clrScheme>
    <a:fontScheme name="ATC Form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ATC – Angbu Training Centre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Excel · Módulo 1 · Primeiros passos no Excel</dc:title>
  <dc:subject>Apresentação do manual do formando</dc:subject>
  <dc:creator>ATC – Angbu Training Centre</dc:creator>
  <cp:lastModifiedBy>ATC – Angbu Training Centre</cp:lastModifiedBy>
  <cp:revision>1</cp:revision>
  <dcterms:created xsi:type="dcterms:W3CDTF">2026-10-17T07:59:57Z</dcterms:created>
  <dcterms:modified xsi:type="dcterms:W3CDTF">2026-10-17T07:59:57Z</dcterms:modified>
</cp:coreProperties>
</file>