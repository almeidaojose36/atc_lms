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bertura" id="{07cde294-7b6a-3310-1729-0da26f17d100}">
          <p14:sldIdLst>
            <p14:sldId id="256"/>
            <p14:sldId id="257"/>
            <p14:sldId id="258"/>
            <p14:sldId id="259"/>
          </p14:sldIdLst>
        </p14:section>
        <p14:section name="Conteúdos" id="{31e1fb52-baa9-f1b4-ab96-fb72aaf746ff}">
          <p14:sldIdLst>
            <p14:sldId id="260"/>
            <p14:sldId id="261"/>
            <p14:sldId id="262"/>
            <p14:sldId id="263"/>
            <p14:sldId id="264"/>
            <p14:sldId id="265"/>
            <p14:sldId id="266"/>
            <p14:sldId id="267"/>
            <p14:sldId id="268"/>
            <p14:sldId id="269"/>
          </p14:sldIdLst>
        </p14:section>
        <p14:section name="Consolidação" id="{867e68ad-1d31-1230-71d3-fff7db532556}">
          <p14:sldIdLst>
            <p14:sldId id="270"/>
            <p14:sldId id="271"/>
            <p14:sldId id="272"/>
            <p14:sldId id="273"/>
          </p14:sldIdLst>
        </p14:section>
        <p14:section name="Encerramento" id="{15cf18a7-538c-af9c-08a7-052bb5744059}">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[Guia do Formador ATC]
Apresentação do Módulo 1 do curso Informática na Ótica do Utilizador.
Helena é o guia virtual que acompanha os formandos nos vídeos e no manual na plataforma ATC.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[Guia do Formador ATC · Enquadramento]
Neste módulo vai conhecer as partes do computador e dar os primeiros passos no Windows 11. No final, será capaz de ligar o computador, orientar-se no ambiente de trabalho, trabalhar com janelas e encerrar o computador em segurança.
Sugestão pedagógica: pergunte aos formandos que experiência prévia já têm com este tema antes de avançar para os objetivos.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[Guia do Formador ATC · Objetivos]
1. Distinguir hardware de software e dar exemplos de cada um.
2. Ligar o computador e iniciar sessão no Windows 11.
3. Identificar os ícones, a barra de tarefas, o botão Iniciar e a área de notificação.
4. Abrir, minimizar, maximizar e fechar uma janela.
5. Encerrar o computador corretamente.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[Guia do Formador ATC · Percurso]
Temas do módulo:
1.1 Hardware e software
1.2 Ligar o computador e iniciar sessão
1.3 O ambiente de trabalho
1.4 O menu Iniciar
1.5 Trabalhar com janelas
1.6 Encerrar o computador
1.7 Reconhecer o Windows real
1.8 Reconhecer os programas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[Guia do Formador ATC · 1.1 Hardware e software]
Tempo sugerido: 8–10 min
Um computador tem duas partes que trabalham sempre em conjunto: o hardware e o software.
Parte | O que é | Exemplos
Hardware | A parte física do computador: tudo o que pode tocar. | Monitor, teclado, rato, unidade central, impressora
Software | Os programas que dão instruções ao hardware. | Windows 11, Word, Excel, navegador de Internet
O software mais importante é o sistema operativo. É ele que gere o hardware, os ficheiros e os outros programas. Neste curso usamos o Windows 11.
[Figura] Equipamento real: monitores, teclado e rato. Fotografia de Matheus Bertelli / Pexels. O software visível na fotografia não é o Windows utilizado nas demonstrações.
Nota: Um telemóvel também é um computador: o ecrã tátil e a bateria são hardware; o Android ou o iOS são o sistema operativo.
Verificação em sala: peça a um formando que demonstre ou explique o passo principal antes de avançar.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[Guia do Formador ATC · Quadro de referência]
1.1 Hardware e software
Explore os exemplos da tabela com a turma.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[Guia do Formador ATC · 1.2 Ligar o computador e iniciar sessão]
Tempo sugerido: 8–10 min
Quando liga o computador, o Windows mostra primeiro o ecrã de bloqueio, com a hora e a data. Para entrar, siga estes passos:
[Figura] Simulação pedagógica ATC, imagem editada por IA (não é uma captura oficial do Windows). Ecrã de início de sessão do Windows 11 com o nome do formando e a opção «Esqueci-me do meu PIN».
[Figura] Simulação pedagógica ATC, imagem editada por IA (não é uma captura oficial do Windows). Definições › Contas › Opções de início de sessão.
1. Prima o botão de ligar da unidade central (ou do portátil).
2. Aguarde até aparecer o ecrã de bloqueio.
3. Clique em qualquer ponto do ecrã ou prima uma tecla.
4. Escreva o seu PIN ou a sua palavra-passe.
5. Prima Enter.
Atenção: Nunca partilhe o seu PIN ou a sua palavra-passe. Se alguém a souber, altere-a em Definições &gt; Contas &gt; Opções de início de sessão.
Verificação em sala: peça a um formando que demonstre ou explique o passo principal antes de avançar.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[Guia do Formador ATC · 1.3 O ambiente de trabalho]
Tempo sugerido: 8–10 min
Depois de iniciar sessão, vê o ambiente de trabalho. É o ponto de partida para todo o trabalho no Windows.
[Figura] Simulação pedagógica ATC, imagem editada por IA (não é uma captura oficial do Windows). As partes da barra de tarefas, numeradas de 1 a 6.
Parte | Para que serve
Ícones | Dão acesso rápido a programas, pastas e ficheiros. Faça duplo clique para abrir.
Barra de tarefas | Mostra os programas abertos e os afixados. Fica na parte de baixo do ecrã.
Botão Iniciar | Abre o menu Iniciar. Tem o logótipo do Windows.
Área de notificação | Mostra a hora, a data, o estado da rede e o volume do som.
Dica: Para ver o ambiente de trabalho com todas as janelas abertas, prima Windows + D. Prima de novo para voltar.
Verificação em sala: peça a um formando que demonstre ou explique o passo principal antes de avançar.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[Guia do Formador ATC · 1.4 O menu Iniciar]
Tempo sugerido: 8–10 min
O menu Iniciar reúne as aplicações afixadas, os ficheiros recomendados (os que usou recentemente) e o botão de energia.
[Figura] Simulação pedagógica ATC, imagem editada por IA (não é uma captura oficial do Windows). O menu Iniciar com as suas zonas numeradas.
[Figura] Simulação pedagógica ATC, imagem editada por IA (não é uma captura oficial do Windows). Pesquisa no menu Iniciar: «Bloco de notas».
1. Clique no botão Iniciar ou prima a tecla Windows do teclado.
2. Para procurar um programa, comece a escrever o nome, por exemplo Word.
3. Clique no resultado em Melhor correspondência para o abrir.
Dica: Não precisa de clicar na caixa de pesquisa: com o menu Iniciar aberto, basta começar a escrever.
Verificação em sala: peça a um formando que demonstre ou explique o passo principal antes de avançar.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[Guia do Formador ATC · 1.5 Trabalhar com janelas]
Tempo sugerido: 8–10 min
Cada programa abre numa janela. No canto superior direito de todas as janelas há três botões:
[Figura] Simulação pedagógica ATC, imagem editada por IA (não é uma captura oficial do Windows). Bloco de notas com um documento de exemplo.
[Figura] Simulação pedagógica ATC, imagem editada por IA (não é uma captura oficial do Windows). Botões da janela e opções de organização lado a lado.
Botão | Nome | O que faz
— | Minimizar | Esconde a janela na barra de tarefas. O programa continua aberto.
☐ | Maximizar | A janela ocupa o ecrã inteiro. Clique de novo para restaurar o tamanho.
✕ | Fechar | Fecha a janela e termina o programa.
Dica: Para passar de uma janela para outra, use Alt + Tab.
Verificação em sala: peça a um formando que demonstre ou explique o passo principal antes de avançar.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[Guia do Formador ATC · Quadro de referência]
1.5 Trabalhar com janelas
Explore os exemplos da tabela com a turma.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[Guia do Formador ATC · 1.6 Encerrar o computador]
Tempo sugerido: 8–10 min
No final do trabalho, encerre sempre o computador pelo Windows. Desligar diretamente da tomada pode danificar ficheiros.
[Figura] Simulação pedagógica ATC, imagem editada por IA (não é uma captura oficial do Windows). Encerrar a partir do menu Iniciar: botão Ligar/Desligar.
[Figura] Simulação pedagógica ATC, imagem editada por IA (não é uma captura oficial do Windows). A janela «Encerrar o Windows» (Alt + F4 no ambiente de trabalho).
1. Guarde e feche os ficheiros abertos.
2. Abra o menu Iniciar.
3. Clique no botão de energia.
4. Escolha Encerrar.
Atenção: Guarde sempre os seus ficheiros antes de encerrar. O trabalho que não foi guardado perde-se.
Nota: Suspender poupa energia e permite retomar o trabalho rapidamente. Reiniciar desliga e volta a ligar, por exemplo depois de uma atualização.
Verificação em sala: peça a um formando que demonstre ou explique o passo principal antes de avançar.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[Guia do Formador ATC · 1.7 Reconhecer o Windows real]
Tempo sugerido: 8–10 min
Estas imagens provêm da documentação oficial da Microsoft. Os nomes nas capturas estão em inglês e o aspeto corresponde à versão documentada pela Microsoft; o seu Windows 11 pode apresentar diferenças. As imagens foram mantidas integrais.
[Figura] Captura real do Explorador de Ficheiros do Microsoft Windows 11. Used with permission from Microsoft.
No painel esquerdo, identifique as pastas Ambiente de Trabalho (Desktop), Transferências (Downloads), Documentos (Documents), Imagens (Pictures), Música (Music) e Vídeos (Videos). Experimente localizar estas pastas no seu computador.
[Figura] Captura oficial: menu de contexto e opção de afixar no Acesso rápido. Used with permission from Microsoft.
Para abrir o Explorador de Ficheiros, use Windows + E. O ícone seguinte identifica o Explorador na barra de tarefas.
[Figura] Ícone do Explorador de Ficheiros — identifica a aplicação para gerir ficheiros e pastas. Used with permission from Microsoft.
[Figura] Símbolo da tecla Windows, usada no atalho Windows + E.
Verificação em sala: peça a um formando que demonstre ou explique o passo principal antes de avançar.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[Guia do Formador ATC · 1.8 Reconhecer os programas]
Tempo sugerido: 8–10 min
Os ícones seguintes são réplicas visuais fornecidas para este curso e ajudam a reconhecer os programas. A aparência pode variar conforme a versão instalada; confirme sempre o nome da aplicação.
[Figura] Microsoft Word — criar e editar documentos de texto.
[Figura] Microsoft Excel — organizar dados, calcular e criar gráficos.
[Figura] Microsoft PowerPoint — preparar apresentações com diapositivos.
[Figura] Microsoft Outlook — gerir correio eletrónico, contactos e calendário.
Verificação em sala: peça a um formando que demonstre ou explique o passo principal antes de avançar.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[Guia do Formador ATC · Síntese]
Resumo do módulo:
O hardware é a parte física do computador; o software são os programas.
O Windows 11 é o sistema operativo: gere o computador e os outros programas.
O ambiente de trabalho tem ícones, barra de tarefas, botão Iniciar e área de notificação.
Os botões de uma janela permitem minimizar, maximizar e fechar.
Encerre sempre o computador pelo menu Iniciar, depois de guardar o trabalho.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[Guia do Formador ATC · Exercício Prático]
Exercício 1.1 – Primeiros passos no Windows 11 (15 min)
Recurso: Nenhum (usa apenas o Windows)
Tarefas:
1. Ligue o computador e inicie sessão com o seu PIN ou palavra-passe.
2. Identifique no ambiente de trabalho: um ícone, a barra de tarefas, o botão Iniciar e a área de notificação.
3. Abra o menu Iniciar, escreva Bloco de Notas e abra a aplicação.
4. Escreva o seu nome na janela do Bloco de Notas.
5. Maximize a janela, depois restaure-a e minimize-a. Volte a abri-la a partir da barra de tarefas.
6. Feche o Bloco de Notas sem guardar (clique em Não guardar).
7. Encerre o computador a partir do menu Iniciar.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[Guia do Formador ATC · Chave de Respostas]
1. Qual dos seguintes é um exemplo de hardware?
   ✓ Resposta certa: A) O teclado
2. O que é o sistema operativo?
   ✓ Resposta certa: B) O programa que gere o computador e os outros programas
3. Onde fica a barra de tarefas no Windows 11?
   ✓ Resposta certa: C) Na parte de baixo do ecrã
4. Que tecla abre o menu Iniciar?
   ✓ Resposta certa: B) Tecla Windows
5. O que acontece quando clica em Minimizar?
   ✓ Resposta certa: C) A janela fica escondida na barra de tarefas e o programa continua aberto
6. Qual é a forma correta de desligar o computador?
   ✓ Resposta certa: B) Iniciar &gt; botão de energia &gt; Encerrar
7. A área de notificação mostra:
   ✓ Resposta certa: A) A hora, a rede e o som
8. Antes de encerrar o computador, deve:
   ✓ Resposta certa: B) Guardar os ficheiros abertos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[Guia do Formador ATC · Glossário]
• Ambiente de trabalho: Ecrã principal do Windows, com os ícones e a barra de tarefas.
• Hardware: Componentes físicos do computador.
• Janela: Área retangular onde cada programa é apresentado.
• PIN: Código numérico pessoal para iniciar sessão.
• Sistema operativo: Software que gere o computador; por exemplo, o Windows 11.
• Software: Programas e aplicações do computador.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[Guia do Formador ATC · Encerramento]
Lembre os formandos de que o manual ilustrado, as vídeo-aulas e o guia por voz estão disponíveis na plataforma ATC (lms.grupoangbu.com).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údo">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E6F8A"/>
          </a:solidFill>
          <a:ln/>
        </p:spPr>
      </p:sp>
      <p:sp>
        <p:nvSpPr>
          <p:cNvPr id="3" name="Text 1"/>
          <p:cNvSpPr/>
          <p:nvPr>
            <p:ph idx="101" type="title" hasCustomPrompt="1"/>
          </p:nvPr>
        </p:nvSpPr>
        <p:spPr>
          <a:xfrm>
            <a:off x="548640" y="384048"/>
            <a:ext cx="10241280" cy="749808"/>
          </a:xfrm>
          <a:prstGeom prst="rect">
            <a:avLst/>
          </a:prstGeom>
          <a:noFill/>
          <a:ln/>
        </p:spPr>
        <p:txBody>
          <a:bodyPr wrap="square" rtlCol="0"/>
          <a:lstStyle>
            <a:lvl1pPr algn="l" indent="0" marL="0">
              <a:buNone/>
              <a:defRPr lang="en-US" sz="2900" b="1" dirty="0">
                <a:solidFill>
                  <a:schemeClr val="tx2"/>
                </a:solidFill>
                <a:latin typeface="Cambria" pitchFamily="34" charset="0"/>
                <a:ea typeface="Cambria" pitchFamily="34" charset="-122"/>
                <a:cs typeface="Cambria" pitchFamily="34" charset="-120"/>
              </a:defRPr>
            </a:lvl1pPr>
          </a:lstStyle>
          <a:p>
            <a:pPr algn="l" indent="0" marL="0">
              <a:buNone/>
            </a:pPr>
            <a:r>
              <a:rPr lang="en-US" sz="2900" b="1" dirty="0">
                <a:solidFill>
                  <a:schemeClr val="tx2"/>
                </a:solidFill>
                <a:latin typeface="Cambria" pitchFamily="34" charset="0"/>
                <a:ea typeface="Cambria" pitchFamily="34" charset="-122"/>
                <a:cs typeface="Cambria" pitchFamily="34" charset="-120"/>
              </a:rPr>
              <a:t>Título</a:t>
            </a:r>
            <a:endParaRPr lang="en-US" sz="2900" dirty="0"/>
          </a:p>
        </p:txBody>
      </p:sp>
      <p:pic>
        <p:nvPicPr>
          <p:cNvPr id="4" name="Image 0" descr="/Users/almeidajose/Documents/A/App/ATC 2/atc_lms/static/logo-600.png">    </p:cNvPr>
          <p:cNvPicPr>
            <a:picLocks noChangeAspect="1"/>
          </p:cNvPicPr>
          <p:nvPr/>
        </p:nvPicPr>
        <p:blipFill>
          <a:blip r:embed="rId1"/>
          <a:stretch>
            <a:fillRect/>
          </a:stretch>
        </p:blipFill>
        <p:spPr>
          <a:xfrm>
            <a:off x="11109960" y="384048"/>
            <a:ext cx="566928" cy="566928"/>
          </a:xfrm>
          <a:prstGeom prst="rect">
            <a:avLst/>
          </a:prstGeom>
        </p:spPr>
      </p:pic>
      <p:sp>
        <p:nvSpPr>
          <p:cNvPr id="5" name="Shape 1"/>
          <p:cNvSpPr/>
          <p:nvPr/>
        </p:nvSpPr>
        <p:spPr>
          <a:xfrm>
            <a:off x="548640" y="6327648"/>
            <a:ext cx="11091672" cy="13716"/>
          </a:xfrm>
          <a:prstGeom prst="rect">
            <a:avLst/>
          </a:prstGeom>
          <a:solidFill>
            <a:srgbClr val="E3E8EE"/>
          </a:solidFill>
          <a:ln/>
        </p:spPr>
      </p:sp>
      <p:sp>
        <p:nvSpPr>
          <p:cNvPr id="6" name="Text 2"/>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4"/>
                </a:solidFill>
              </a:rPr>
              <a:t>ATC · Angbu Training Centre   |   Informática na Ótica do Utilizador · Módulo 1</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ena">
    <p:bg>
      <p:bgPr>
        <a:solidFill>
          <a:srgbClr val="E8EAED"/>
        </a:solidFill>
      </p:bgPr>
    </p:bg>
    <p:spTree>
      <p:nvGrpSpPr>
        <p:cNvPr id="1" name=""/>
        <p:cNvGrpSpPr/>
        <p:nvPr/>
      </p:nvGrpSpPr>
      <p:grpSpPr>
        <a:xfrm>
          <a:off x="0" y="0"/>
          <a:ext cx="0" cy="0"/>
          <a:chOff x="0" y="0"/>
          <a:chExt cx="0" cy="0"/>
        </a:xfrm>
      </p:grpSpPr>
      <p:sp>
        <p:nvSpPr>
          <p:cNvPr id="2"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4"/>
                </a:solidFill>
              </a:rPr>
              <a:t>ATC · Angbu Training Centre   |   Informática na Ótica do Utilizador · Módulo 1</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apa">
    <p:bg>
      <p:bgPr>
        <a:solidFill>
          <a:srgbClr val="0B2137"/>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image" Target="../media/image-19-2.png"/><Relationship Id="rId3" Type="http://schemas.openxmlformats.org/officeDocument/2006/relationships/slideLayout" Target="../slideLayouts/slideLayout4.xml"/><Relationship Id="rId4"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Logótipo ATC – Angbu Training Centre">    </p:cNvPr>
          <p:cNvPicPr>
            <a:picLocks noChangeAspect="1"/>
          </p:cNvPicPr>
          <p:nvPr/>
        </p:nvPicPr>
        <p:blipFill>
          <a:blip r:embed="rId2"/>
          <a:stretch>
            <a:fillRect/>
          </a:stretch>
        </p:blipFill>
        <p:spPr>
          <a:xfrm>
            <a:off x="548640" y="502920"/>
            <a:ext cx="960120" cy="960120"/>
          </a:xfrm>
          <a:prstGeom prst="rect">
            <a:avLst/>
          </a:prstGeom>
        </p:spPr>
      </p:pic>
      <p:sp>
        <p:nvSpPr>
          <p:cNvPr id="3" name="Text 0"/>
          <p:cNvSpPr txBox="1"/>
          <p:nvPr/>
        </p:nvSpPr>
        <p:spPr>
          <a:xfrm>
            <a:off x="548640" y="1965960"/>
            <a:ext cx="6083633"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MANUAL DO FORMANDO · MÓDULO 1</a:t>
            </a:r>
            <a:endParaRPr lang="en-US" sz="1200" dirty="0"/>
          </a:p>
        </p:txBody>
      </p:sp>
      <p:sp>
        <p:nvSpPr>
          <p:cNvPr id="4" name="Text 1"/>
          <p:cNvSpPr txBox="1"/>
          <p:nvPr/>
        </p:nvSpPr>
        <p:spPr>
          <a:xfrm>
            <a:off x="548640" y="2286000"/>
            <a:ext cx="6083633" cy="1371600"/>
          </a:xfrm>
          <a:prstGeom prst="rect">
            <a:avLst/>
          </a:prstGeom>
          <a:noFill/>
          <a:ln/>
        </p:spPr>
        <p:txBody>
          <a:bodyPr wrap="square" lIns="0" tIns="0" rIns="0" bIns="0" rtlCol="0" anchor="t">
            <a:normAutofit/>
          </a:bodyPr>
          <a:lstStyle/>
          <a:p>
            <a:pPr indent="0" marL="0">
              <a:buNone/>
            </a:pPr>
            <a:r>
              <a:rPr lang="en-US" sz="4400" b="1" dirty="0">
                <a:solidFill>
                  <a:schemeClr val="bg1"/>
                </a:solidFill>
                <a:latin typeface="Cambria" pitchFamily="34" charset="0"/>
                <a:ea typeface="Cambria" pitchFamily="34" charset="-122"/>
                <a:cs typeface="Cambria" pitchFamily="34" charset="-120"/>
              </a:rPr>
              <a:t>Informática na Ótica do Utilizador</a:t>
            </a:r>
            <a:endParaRPr lang="en-US" sz="4400" dirty="0"/>
          </a:p>
        </p:txBody>
      </p:sp>
      <p:sp>
        <p:nvSpPr>
          <p:cNvPr id="5" name="Text 2"/>
          <p:cNvSpPr txBox="1"/>
          <p:nvPr/>
        </p:nvSpPr>
        <p:spPr>
          <a:xfrm>
            <a:off x="548640" y="3657600"/>
            <a:ext cx="6083633" cy="548640"/>
          </a:xfrm>
          <a:prstGeom prst="rect">
            <a:avLst/>
          </a:prstGeom>
          <a:noFill/>
          <a:ln/>
        </p:spPr>
        <p:txBody>
          <a:bodyPr wrap="square" lIns="0" tIns="0" rIns="0" bIns="0" rtlCol="0" anchor="ctr"/>
          <a:lstStyle/>
          <a:p>
            <a:pPr indent="0" marL="0">
              <a:buNone/>
            </a:pPr>
            <a:r>
              <a:rPr lang="en-US" sz="2400" dirty="0">
                <a:solidFill>
                  <a:schemeClr val="accent3"/>
                </a:solidFill>
              </a:rPr>
              <a:t>O computador e o Windows 11</a:t>
            </a:r>
            <a:endParaRPr lang="en-US" sz="2400" dirty="0"/>
          </a:p>
        </p:txBody>
      </p:sp>
      <p:sp>
        <p:nvSpPr>
          <p:cNvPr id="6" name="Text 3"/>
          <p:cNvSpPr txBox="1"/>
          <p:nvPr/>
        </p:nvSpPr>
        <p:spPr>
          <a:xfrm>
            <a:off x="548640" y="4206240"/>
            <a:ext cx="6083633" cy="731520"/>
          </a:xfrm>
          <a:prstGeom prst="rect">
            <a:avLst/>
          </a:prstGeom>
          <a:noFill/>
          <a:ln/>
        </p:spPr>
        <p:txBody>
          <a:bodyPr wrap="square" lIns="0" tIns="0" rIns="0" bIns="0" rtlCol="0" anchor="t"/>
          <a:lstStyle/>
          <a:p>
            <a:pPr indent="0" marL="0">
              <a:buNone/>
            </a:pPr>
            <a:r>
              <a:rPr lang="en-US" sz="1600" dirty="0">
                <a:solidFill>
                  <a:srgbClr val="D5DEE6"/>
                </a:solidFill>
              </a:rPr>
              <a:t>Utilização do computador, Windows 11, Internet e segurança básica</a:t>
            </a:r>
            <a:endParaRPr lang="en-US" sz="1600" dirty="0"/>
          </a:p>
        </p:txBody>
      </p:sp>
      <p:sp>
        <p:nvSpPr>
          <p:cNvPr id="7" name="Text 4"/>
          <p:cNvSpPr txBox="1"/>
          <p:nvPr/>
        </p:nvSpPr>
        <p:spPr>
          <a:xfrm>
            <a:off x="548640" y="5715000"/>
            <a:ext cx="6083633" cy="640080"/>
          </a:xfrm>
          <a:prstGeom prst="rect">
            <a:avLst/>
          </a:prstGeom>
          <a:noFill/>
          <a:ln/>
        </p:spPr>
        <p:txBody>
          <a:bodyPr wrap="square" lIns="0" tIns="0" rIns="0" bIns="0" rtlCol="0" anchor="ctr"/>
          <a:lstStyle/>
          <a:p>
            <a:pPr indent="0" marL="0">
              <a:buNone/>
            </a:pPr>
            <a:r>
              <a:rPr lang="en-US" sz="1200" b="1" dirty="0">
                <a:solidFill>
                  <a:srgbClr val="D5DEE6"/>
                </a:solidFill>
              </a:rPr>
              <a:t>ATC – Angbu Training Centre · Cabinda, Angola</a:t>
            </a:r>
            <a:endParaRPr lang="en-US" sz="1200" dirty="0"/>
          </a:p>
          <a:p>
            <a:pPr indent="0" marL="0">
              <a:buNone/>
            </a:pPr>
            <a:r>
              <a:rPr lang="en-US" sz="1200" dirty="0">
                <a:solidFill>
                  <a:srgbClr val="D5DEE6"/>
                </a:solidFill>
              </a:rPr>
              <a:t>Versão 1.1 — referências visuais reais · outubro de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153768" y="822960"/>
            <a:ext cx="5489287"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OLÁ, SOU O MIGUEL</a:t>
            </a:r>
            <a:endParaRPr lang="en-US" sz="1200" dirty="0"/>
          </a:p>
        </p:txBody>
      </p:sp>
      <p:sp>
        <p:nvSpPr>
          <p:cNvPr id="3" name="Text 1"/>
          <p:cNvSpPr txBox="1"/>
          <p:nvPr/>
        </p:nvSpPr>
        <p:spPr>
          <a:xfrm>
            <a:off x="6153768" y="1143000"/>
            <a:ext cx="5489287" cy="82296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Bem-vindo ao módulo 1</a:t>
            </a:r>
            <a:endParaRPr lang="en-US" sz="3400" dirty="0"/>
          </a:p>
        </p:txBody>
      </p:sp>
      <p:sp>
        <p:nvSpPr>
          <p:cNvPr id="4" name="Text 2"/>
          <p:cNvSpPr txBox="1"/>
          <p:nvPr/>
        </p:nvSpPr>
        <p:spPr>
          <a:xfrm>
            <a:off x="6153768" y="2103120"/>
            <a:ext cx="5489287" cy="2377440"/>
          </a:xfrm>
          <a:prstGeom prst="rect">
            <a:avLst/>
          </a:prstGeom>
          <a:noFill/>
          <a:ln/>
        </p:spPr>
        <p:txBody>
          <a:bodyPr wrap="square" lIns="0" tIns="0" rIns="0" bIns="0" rtlCol="0" anchor="t"/>
          <a:lstStyle/>
          <a:p>
            <a:pPr indent="0" marL="0">
              <a:buNone/>
            </a:pPr>
            <a:r>
              <a:rPr lang="en-US" sz="1800" dirty="0">
                <a:solidFill>
                  <a:schemeClr val="tx1"/>
                </a:solidFill>
              </a:rPr>
              <a:t>Neste módulo vai conhecer as partes do computador e dar os primeiros passos no Windows 11. No final, será capaz de ligar o computador, orientar-se no ambiente de trabalho, trabalhar com janelas e encerrar o computador em segurança.</a:t>
            </a:r>
            <a:endParaRPr lang="en-US" sz="1800" dirty="0"/>
          </a:p>
        </p:txBody>
      </p:sp>
      <p:sp>
        <p:nvSpPr>
          <p:cNvPr id="5" name="Shape 3"/>
          <p:cNvSpPr/>
          <p:nvPr/>
        </p:nvSpPr>
        <p:spPr>
          <a:xfrm>
            <a:off x="6153768" y="4709160"/>
            <a:ext cx="1646882" cy="1325880"/>
          </a:xfrm>
          <a:prstGeom prst="roundRect">
            <a:avLst>
              <a:gd name="adj" fmla="val 6897"/>
            </a:avLst>
          </a:prstGeom>
          <a:solidFill>
            <a:srgbClr val="FFFFFF">
              <a:alpha val="92000"/>
            </a:srgbClr>
          </a:solidFill>
          <a:ln w="9525">
            <a:solidFill>
              <a:srgbClr val="DCE3E9"/>
            </a:solidFill>
            <a:prstDash val="solid"/>
          </a:ln>
          <a:effectLst>
            <a:outerShdw sx="100000" sy="100000" kx="0" ky="0" algn="bl" rotWithShape="0" blurRad="127000" dist="38100" dir="5400000">
              <a:srgbClr val="0B2137">
                <a:alpha val="18000"/>
              </a:srgbClr>
            </a:outerShdw>
          </a:effectLst>
        </p:spPr>
      </p:sp>
      <p:sp>
        <p:nvSpPr>
          <p:cNvPr id="6" name="Text 4"/>
          <p:cNvSpPr txBox="1"/>
          <p:nvPr/>
        </p:nvSpPr>
        <p:spPr>
          <a:xfrm>
            <a:off x="6153768" y="4800600"/>
            <a:ext cx="1646882" cy="685800"/>
          </a:xfrm>
          <a:prstGeom prst="rect">
            <a:avLst/>
          </a:prstGeom>
          <a:noFill/>
          <a:ln/>
        </p:spPr>
        <p:txBody>
          <a:bodyPr wrap="square" lIns="0" tIns="0" rIns="0" bIns="0" rtlCol="0" anchor="ctr"/>
          <a:lstStyle/>
          <a:p>
            <a:pPr algn="ctr" indent="0" marL="0">
              <a:buNone/>
            </a:pPr>
            <a:r>
              <a:rPr lang="en-US" sz="3200" b="1" dirty="0">
                <a:solidFill>
                  <a:schemeClr val="accent1"/>
                </a:solidFill>
                <a:latin typeface="Cambria" pitchFamily="34" charset="0"/>
                <a:ea typeface="Cambria" pitchFamily="34" charset="-122"/>
                <a:cs typeface="Cambria" pitchFamily="34" charset="-120"/>
              </a:rPr>
              <a:t>2 h</a:t>
            </a:r>
            <a:endParaRPr lang="en-US" sz="3200" dirty="0"/>
          </a:p>
        </p:txBody>
      </p:sp>
      <p:sp>
        <p:nvSpPr>
          <p:cNvPr id="7" name="Text 5"/>
          <p:cNvSpPr txBox="1"/>
          <p:nvPr/>
        </p:nvSpPr>
        <p:spPr>
          <a:xfrm>
            <a:off x="6245208" y="5468112"/>
            <a:ext cx="1464002" cy="457200"/>
          </a:xfrm>
          <a:prstGeom prst="rect">
            <a:avLst/>
          </a:prstGeom>
          <a:noFill/>
          <a:ln/>
        </p:spPr>
        <p:txBody>
          <a:bodyPr wrap="square" lIns="0" tIns="0" rIns="0" bIns="0" rtlCol="0" anchor="ctr"/>
          <a:lstStyle/>
          <a:p>
            <a:pPr algn="ctr" indent="0" marL="0">
              <a:buNone/>
            </a:pPr>
            <a:r>
              <a:rPr lang="en-US" sz="1300" dirty="0">
                <a:solidFill>
                  <a:schemeClr val="tx1"/>
                </a:solidFill>
              </a:rPr>
              <a:t>em sala e laboratório</a:t>
            </a:r>
            <a:endParaRPr lang="en-US" sz="1300" dirty="0"/>
          </a:p>
        </p:txBody>
      </p:sp>
      <p:sp>
        <p:nvSpPr>
          <p:cNvPr id="8" name="Shape 6"/>
          <p:cNvSpPr/>
          <p:nvPr/>
        </p:nvSpPr>
        <p:spPr>
          <a:xfrm>
            <a:off x="8074971" y="4709160"/>
            <a:ext cx="1646882" cy="1325880"/>
          </a:xfrm>
          <a:prstGeom prst="roundRect">
            <a:avLst>
              <a:gd name="adj" fmla="val 6897"/>
            </a:avLst>
          </a:prstGeom>
          <a:solidFill>
            <a:srgbClr val="FFFFFF">
              <a:alpha val="92000"/>
            </a:srgbClr>
          </a:solidFill>
          <a:ln w="9525">
            <a:solidFill>
              <a:srgbClr val="DCE3E9"/>
            </a:solidFill>
            <a:prstDash val="solid"/>
          </a:ln>
          <a:effectLst>
            <a:outerShdw sx="100000" sy="100000" kx="0" ky="0" algn="bl" rotWithShape="0" blurRad="127000" dist="38100" dir="5400000">
              <a:srgbClr val="0B2137">
                <a:alpha val="18000"/>
              </a:srgbClr>
            </a:outerShdw>
          </a:effectLst>
        </p:spPr>
      </p:sp>
      <p:sp>
        <p:nvSpPr>
          <p:cNvPr id="9" name="Text 7"/>
          <p:cNvSpPr txBox="1"/>
          <p:nvPr/>
        </p:nvSpPr>
        <p:spPr>
          <a:xfrm>
            <a:off x="8074971" y="4800600"/>
            <a:ext cx="1646882" cy="685800"/>
          </a:xfrm>
          <a:prstGeom prst="rect">
            <a:avLst/>
          </a:prstGeom>
          <a:noFill/>
          <a:ln/>
        </p:spPr>
        <p:txBody>
          <a:bodyPr wrap="square" lIns="0" tIns="0" rIns="0" bIns="0" rtlCol="0" anchor="ctr"/>
          <a:lstStyle/>
          <a:p>
            <a:pPr algn="ctr" indent="0" marL="0">
              <a:buNone/>
            </a:pPr>
            <a:r>
              <a:rPr lang="en-US" sz="3200" b="1" dirty="0">
                <a:solidFill>
                  <a:schemeClr val="accent1"/>
                </a:solidFill>
                <a:latin typeface="Cambria" pitchFamily="34" charset="0"/>
                <a:ea typeface="Cambria" pitchFamily="34" charset="-122"/>
                <a:cs typeface="Cambria" pitchFamily="34" charset="-120"/>
              </a:rPr>
              <a:t>40 min</a:t>
            </a:r>
            <a:endParaRPr lang="en-US" sz="3200" dirty="0"/>
          </a:p>
        </p:txBody>
      </p:sp>
      <p:sp>
        <p:nvSpPr>
          <p:cNvPr id="10" name="Text 8"/>
          <p:cNvSpPr txBox="1"/>
          <p:nvPr/>
        </p:nvSpPr>
        <p:spPr>
          <a:xfrm>
            <a:off x="8166411" y="5468112"/>
            <a:ext cx="1464002" cy="457200"/>
          </a:xfrm>
          <a:prstGeom prst="rect">
            <a:avLst/>
          </a:prstGeom>
          <a:noFill/>
          <a:ln/>
        </p:spPr>
        <p:txBody>
          <a:bodyPr wrap="square" lIns="0" tIns="0" rIns="0" bIns="0" rtlCol="0" anchor="ctr"/>
          <a:lstStyle/>
          <a:p>
            <a:pPr algn="ctr" indent="0" marL="0">
              <a:buNone/>
            </a:pPr>
            <a:r>
              <a:rPr lang="en-US" sz="1300" dirty="0">
                <a:solidFill>
                  <a:schemeClr val="tx1"/>
                </a:solidFill>
              </a:rPr>
              <a:t>de vídeo-aulas</a:t>
            </a:r>
            <a:endParaRPr lang="en-US" sz="1300" dirty="0"/>
          </a:p>
        </p:txBody>
      </p:sp>
      <p:sp>
        <p:nvSpPr>
          <p:cNvPr id="11" name="Shape 9"/>
          <p:cNvSpPr/>
          <p:nvPr/>
        </p:nvSpPr>
        <p:spPr>
          <a:xfrm>
            <a:off x="9996173" y="4709160"/>
            <a:ext cx="1646882" cy="1325880"/>
          </a:xfrm>
          <a:prstGeom prst="roundRect">
            <a:avLst>
              <a:gd name="adj" fmla="val 6897"/>
            </a:avLst>
          </a:prstGeom>
          <a:solidFill>
            <a:srgbClr val="FFFFFF">
              <a:alpha val="92000"/>
            </a:srgbClr>
          </a:solidFill>
          <a:ln w="9525">
            <a:solidFill>
              <a:srgbClr val="DCE3E9"/>
            </a:solidFill>
            <a:prstDash val="solid"/>
          </a:ln>
          <a:effectLst>
            <a:outerShdw sx="100000" sy="100000" kx="0" ky="0" algn="bl" rotWithShape="0" blurRad="127000" dist="38100" dir="5400000">
              <a:srgbClr val="0B2137">
                <a:alpha val="18000"/>
              </a:srgbClr>
            </a:outerShdw>
          </a:effectLst>
        </p:spPr>
      </p:sp>
      <p:sp>
        <p:nvSpPr>
          <p:cNvPr id="12" name="Text 10"/>
          <p:cNvSpPr txBox="1"/>
          <p:nvPr/>
        </p:nvSpPr>
        <p:spPr>
          <a:xfrm>
            <a:off x="9996173" y="4800600"/>
            <a:ext cx="1646882" cy="685800"/>
          </a:xfrm>
          <a:prstGeom prst="rect">
            <a:avLst/>
          </a:prstGeom>
          <a:noFill/>
          <a:ln/>
        </p:spPr>
        <p:txBody>
          <a:bodyPr wrap="square" lIns="0" tIns="0" rIns="0" bIns="0" rtlCol="0" anchor="ctr"/>
          <a:lstStyle/>
          <a:p>
            <a:pPr algn="ctr" indent="0" marL="0">
              <a:buNone/>
            </a:pPr>
            <a:r>
              <a:rPr lang="en-US" sz="3200" b="1" dirty="0">
                <a:solidFill>
                  <a:schemeClr val="accent1"/>
                </a:solidFill>
                <a:latin typeface="Cambria" pitchFamily="34" charset="0"/>
                <a:ea typeface="Cambria" pitchFamily="34" charset="-122"/>
                <a:cs typeface="Cambria" pitchFamily="34" charset="-120"/>
              </a:rPr>
              <a:t>8</a:t>
            </a:r>
            <a:endParaRPr lang="en-US" sz="3200" dirty="0"/>
          </a:p>
        </p:txBody>
      </p:sp>
      <p:sp>
        <p:nvSpPr>
          <p:cNvPr id="13" name="Text 11"/>
          <p:cNvSpPr txBox="1"/>
          <p:nvPr/>
        </p:nvSpPr>
        <p:spPr>
          <a:xfrm>
            <a:off x="10087613" y="5468112"/>
            <a:ext cx="1464002" cy="457200"/>
          </a:xfrm>
          <a:prstGeom prst="rect">
            <a:avLst/>
          </a:prstGeom>
          <a:noFill/>
          <a:ln/>
        </p:spPr>
        <p:txBody>
          <a:bodyPr wrap="square" lIns="0" tIns="0" rIns="0" bIns="0" rtlCol="0" anchor="ctr"/>
          <a:lstStyle/>
          <a:p>
            <a:pPr algn="ctr" indent="0" marL="0">
              <a:buNone/>
            </a:pPr>
            <a:r>
              <a:rPr lang="en-US" sz="1300" dirty="0">
                <a:solidFill>
                  <a:schemeClr val="tx1"/>
                </a:solidFill>
              </a:rPr>
              <a:t>temas estruturados</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146304"/>
            <a:ext cx="9601200" cy="219456"/>
          </a:xfrm>
          <a:prstGeom prst="rect">
            <a:avLst/>
          </a:prstGeom>
          <a:noFill/>
          <a:ln/>
        </p:spPr>
        <p:txBody>
          <a:bodyPr wrap="square" lIns="0" tIns="0" rIns="0" bIns="0" rtlCol="0" anchor="ctr"/>
          <a:lstStyle/>
          <a:p>
            <a:pPr indent="0" marL="0">
              <a:buNone/>
            </a:pPr>
            <a:r>
              <a:rPr lang="en-US" sz="1000" b="1" spc="250" kern="0" dirty="0">
                <a:solidFill>
                  <a:schemeClr val="accent2"/>
                </a:solidFill>
              </a:rPr>
              <a:t>MÓDULO 1 · COMPETÊNCIAS E RESULTADOS DE APRENDIZAGEM</a:t>
            </a:r>
            <a:endParaRPr lang="en-US" sz="1000" dirty="0"/>
          </a:p>
        </p:txBody>
      </p:sp>
      <p:sp>
        <p:nvSpPr>
          <p:cNvPr id="3" name="Text 1"/>
          <p:cNvSpPr/>
          <p:nvPr>
            <p:ph idx="101" type="title" hasCustomPrompt="1"/>
          </p:nvPr>
        </p:nvSpPr>
        <p:spPr>
          <a:xfrm>
            <a:off x="548640" y="384048"/>
            <a:ext cx="10241280" cy="749808"/>
          </a:xfrm>
          <a:prstGeom prst="rect">
            <a:avLst/>
          </a:prstGeom>
          <a:noFill/>
          <a:ln/>
        </p:spPr>
        <p:txBody>
          <a:bodyPr wrap="square" lIns="0" tIns="0" rIns="0" bIns="0" rtlCol="0" anchor="ctr"/>
          <a:lstStyle/>
          <a:p>
            <a:pPr algn="l" indent="0" marL="0">
              <a:buNone/>
            </a:pPr>
            <a:r>
              <a:rPr lang="en-US" sz="2900" b="1" dirty="0">
                <a:solidFill>
                  <a:schemeClr val="tx2"/>
                </a:solidFill>
                <a:latin typeface="Cambria" pitchFamily="34" charset="0"/>
                <a:ea typeface="Cambria" pitchFamily="34" charset="-122"/>
                <a:cs typeface="Cambria" pitchFamily="34" charset="-120"/>
              </a:rPr>
              <a:t>Objetivos de aprendizagem</a:t>
            </a:r>
            <a:endParaRPr lang="en-US" sz="2900" dirty="0"/>
          </a:p>
        </p:txBody>
      </p:sp>
      <p:sp>
        <p:nvSpPr>
          <p:cNvPr id="4" name="Shape 2"/>
          <p:cNvSpPr/>
          <p:nvPr/>
        </p:nvSpPr>
        <p:spPr>
          <a:xfrm>
            <a:off x="548640" y="1371600"/>
            <a:ext cx="3291840" cy="4709160"/>
          </a:xfrm>
          <a:prstGeom prst="roundRect">
            <a:avLst>
              <a:gd name="adj" fmla="val 4167"/>
            </a:avLst>
          </a:prstGeom>
          <a:solidFill>
            <a:schemeClr val="tx2"/>
          </a:solidFill>
          <a:ln w="12700">
            <a:solidFill>
              <a:srgbClr val="0B2137"/>
            </a:solidFill>
            <a:prstDash val="solid"/>
          </a:ln>
        </p:spPr>
      </p:sp>
      <p:pic>
        <p:nvPicPr>
          <p:cNvPr id="5" name="Image 0" descr="Helena, guia virtual ATC">    </p:cNvPr>
          <p:cNvPicPr>
            <a:picLocks noChangeAspect="1"/>
          </p:cNvPicPr>
          <p:nvPr/>
        </p:nvPicPr>
        <p:blipFill>
          <a:blip r:embed="rId1"/>
          <a:stretch>
            <a:fillRect/>
          </a:stretch>
        </p:blipFill>
        <p:spPr>
          <a:xfrm>
            <a:off x="1234440" y="1737360"/>
            <a:ext cx="1920240" cy="1920240"/>
          </a:xfrm>
          <a:prstGeom prst="rect">
            <a:avLst/>
          </a:prstGeom>
        </p:spPr>
      </p:pic>
      <p:sp>
        <p:nvSpPr>
          <p:cNvPr id="6" name="Text 3"/>
          <p:cNvSpPr txBox="1"/>
          <p:nvPr/>
        </p:nvSpPr>
        <p:spPr>
          <a:xfrm>
            <a:off x="777240" y="3931920"/>
            <a:ext cx="2834640" cy="91440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No final deste módulo,</a:t>
            </a:r>
            <a:endParaRPr lang="en-US" sz="2000" dirty="0"/>
          </a:p>
          <a:p>
            <a:pPr algn="ctr" indent="0" marL="0">
              <a:buNone/>
            </a:pPr>
            <a:r>
              <a:rPr lang="en-US" sz="2000" b="1" dirty="0">
                <a:solidFill>
                  <a:schemeClr val="bg1"/>
                </a:solidFill>
                <a:latin typeface="Cambria" pitchFamily="34" charset="0"/>
                <a:ea typeface="Cambria" pitchFamily="34" charset="-122"/>
                <a:cs typeface="Cambria" pitchFamily="34" charset="-120"/>
              </a:rPr>
              <a:t>será capaz de:</a:t>
            </a:r>
            <a:endParaRPr lang="en-US" sz="2000" dirty="0"/>
          </a:p>
        </p:txBody>
      </p:sp>
      <p:sp>
        <p:nvSpPr>
          <p:cNvPr id="7" name="Text 4"/>
          <p:cNvSpPr txBox="1"/>
          <p:nvPr/>
        </p:nvSpPr>
        <p:spPr>
          <a:xfrm>
            <a:off x="777240" y="5120640"/>
            <a:ext cx="2834640" cy="365760"/>
          </a:xfrm>
          <a:prstGeom prst="rect">
            <a:avLst/>
          </a:prstGeom>
          <a:noFill/>
          <a:ln/>
        </p:spPr>
        <p:txBody>
          <a:bodyPr wrap="square" lIns="0" tIns="0" rIns="0" bIns="0" rtlCol="0" anchor="ctr"/>
          <a:lstStyle/>
          <a:p>
            <a:pPr algn="ctr" indent="0" marL="0">
              <a:buNone/>
            </a:pPr>
            <a:r>
              <a:rPr lang="en-US" sz="1200" dirty="0">
                <a:solidFill>
                  <a:schemeClr val="accent3"/>
                </a:solidFill>
              </a:rPr>
              <a:t>Helena · guia virtual ATC</a:t>
            </a:r>
            <a:endParaRPr lang="en-US" sz="1200" dirty="0"/>
          </a:p>
        </p:txBody>
      </p:sp>
      <p:sp>
        <p:nvSpPr>
          <p:cNvPr id="8" name="Shape 5"/>
          <p:cNvSpPr/>
          <p:nvPr/>
        </p:nvSpPr>
        <p:spPr>
          <a:xfrm>
            <a:off x="4206240" y="1426464"/>
            <a:ext cx="7406640" cy="786384"/>
          </a:xfrm>
          <a:prstGeom prst="roundRect">
            <a:avLst>
              <a:gd name="adj" fmla="val 9302"/>
            </a:avLst>
          </a:prstGeom>
          <a:solidFill>
            <a:srgbClr val="F2F4F7"/>
          </a:solidFill>
          <a:ln w="6350">
            <a:solidFill>
              <a:srgbClr val="DCE3E9"/>
            </a:solidFill>
            <a:prstDash val="solid"/>
          </a:ln>
        </p:spPr>
      </p:sp>
      <p:sp>
        <p:nvSpPr>
          <p:cNvPr id="9" name="Shape 6"/>
          <p:cNvSpPr/>
          <p:nvPr/>
        </p:nvSpPr>
        <p:spPr>
          <a:xfrm>
            <a:off x="4407408" y="1600200"/>
            <a:ext cx="457200" cy="457200"/>
          </a:xfrm>
          <a:prstGeom prst="ellipse">
            <a:avLst/>
          </a:prstGeom>
          <a:solidFill>
            <a:schemeClr val="accent1"/>
          </a:solidFill>
          <a:ln w="12700">
            <a:solidFill>
              <a:srgbClr val="DA6D24"/>
            </a:solidFill>
            <a:prstDash val="solid"/>
          </a:ln>
        </p:spPr>
      </p:sp>
      <p:sp>
        <p:nvSpPr>
          <p:cNvPr id="10" name="Text 7"/>
          <p:cNvSpPr txBox="1"/>
          <p:nvPr/>
        </p:nvSpPr>
        <p:spPr>
          <a:xfrm>
            <a:off x="4407408"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1" name="Text 8"/>
          <p:cNvSpPr txBox="1"/>
          <p:nvPr/>
        </p:nvSpPr>
        <p:spPr>
          <a:xfrm>
            <a:off x="5074920" y="1426464"/>
            <a:ext cx="6355080" cy="786384"/>
          </a:xfrm>
          <a:prstGeom prst="rect">
            <a:avLst/>
          </a:prstGeom>
          <a:noFill/>
          <a:ln/>
        </p:spPr>
        <p:txBody>
          <a:bodyPr wrap="square" lIns="0" tIns="0" rIns="0" bIns="0" rtlCol="0" anchor="ctr"/>
          <a:lstStyle/>
          <a:p>
            <a:pPr indent="0" marL="0">
              <a:buNone/>
            </a:pPr>
            <a:r>
              <a:rPr lang="en-US" sz="1600" dirty="0">
                <a:solidFill>
                  <a:schemeClr val="tx1"/>
                </a:solidFill>
              </a:rPr>
              <a:t>Distinguir hardware de software e dar exemplos de cada um.</a:t>
            </a:r>
            <a:endParaRPr lang="en-US" sz="1600" dirty="0"/>
          </a:p>
        </p:txBody>
      </p:sp>
      <p:sp>
        <p:nvSpPr>
          <p:cNvPr id="12" name="Shape 9"/>
          <p:cNvSpPr/>
          <p:nvPr/>
        </p:nvSpPr>
        <p:spPr>
          <a:xfrm>
            <a:off x="4206240" y="2340864"/>
            <a:ext cx="7406640" cy="786384"/>
          </a:xfrm>
          <a:prstGeom prst="roundRect">
            <a:avLst>
              <a:gd name="adj" fmla="val 9302"/>
            </a:avLst>
          </a:prstGeom>
          <a:solidFill>
            <a:srgbClr val="F2F4F7"/>
          </a:solidFill>
          <a:ln w="6350">
            <a:solidFill>
              <a:srgbClr val="DCE3E9"/>
            </a:solidFill>
            <a:prstDash val="solid"/>
          </a:ln>
        </p:spPr>
      </p:sp>
      <p:sp>
        <p:nvSpPr>
          <p:cNvPr id="13" name="Shape 10"/>
          <p:cNvSpPr/>
          <p:nvPr/>
        </p:nvSpPr>
        <p:spPr>
          <a:xfrm>
            <a:off x="4407408" y="2514600"/>
            <a:ext cx="457200" cy="457200"/>
          </a:xfrm>
          <a:prstGeom prst="ellipse">
            <a:avLst/>
          </a:prstGeom>
          <a:solidFill>
            <a:schemeClr val="accent1"/>
          </a:solidFill>
          <a:ln w="12700">
            <a:solidFill>
              <a:srgbClr val="DA6D24"/>
            </a:solidFill>
            <a:prstDash val="solid"/>
          </a:ln>
        </p:spPr>
      </p:sp>
      <p:sp>
        <p:nvSpPr>
          <p:cNvPr id="14" name="Text 11"/>
          <p:cNvSpPr txBox="1"/>
          <p:nvPr/>
        </p:nvSpPr>
        <p:spPr>
          <a:xfrm>
            <a:off x="4407408" y="25146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5" name="Text 12"/>
          <p:cNvSpPr txBox="1"/>
          <p:nvPr/>
        </p:nvSpPr>
        <p:spPr>
          <a:xfrm>
            <a:off x="5074920" y="2340864"/>
            <a:ext cx="6355080" cy="786384"/>
          </a:xfrm>
          <a:prstGeom prst="rect">
            <a:avLst/>
          </a:prstGeom>
          <a:noFill/>
          <a:ln/>
        </p:spPr>
        <p:txBody>
          <a:bodyPr wrap="square" lIns="0" tIns="0" rIns="0" bIns="0" rtlCol="0" anchor="ctr"/>
          <a:lstStyle/>
          <a:p>
            <a:pPr indent="0" marL="0">
              <a:buNone/>
            </a:pPr>
            <a:r>
              <a:rPr lang="en-US" sz="1600" dirty="0">
                <a:solidFill>
                  <a:schemeClr val="tx1"/>
                </a:solidFill>
              </a:rPr>
              <a:t>Ligar o computador e iniciar sessão no Windows 11.</a:t>
            </a:r>
            <a:endParaRPr lang="en-US" sz="1600" dirty="0"/>
          </a:p>
        </p:txBody>
      </p:sp>
      <p:sp>
        <p:nvSpPr>
          <p:cNvPr id="16" name="Shape 13"/>
          <p:cNvSpPr/>
          <p:nvPr/>
        </p:nvSpPr>
        <p:spPr>
          <a:xfrm>
            <a:off x="4206240" y="3255264"/>
            <a:ext cx="7406640" cy="786384"/>
          </a:xfrm>
          <a:prstGeom prst="roundRect">
            <a:avLst>
              <a:gd name="adj" fmla="val 9302"/>
            </a:avLst>
          </a:prstGeom>
          <a:solidFill>
            <a:srgbClr val="F2F4F7"/>
          </a:solidFill>
          <a:ln w="6350">
            <a:solidFill>
              <a:srgbClr val="DCE3E9"/>
            </a:solidFill>
            <a:prstDash val="solid"/>
          </a:ln>
        </p:spPr>
      </p:sp>
      <p:sp>
        <p:nvSpPr>
          <p:cNvPr id="17" name="Shape 14"/>
          <p:cNvSpPr/>
          <p:nvPr/>
        </p:nvSpPr>
        <p:spPr>
          <a:xfrm>
            <a:off x="4407408" y="3429000"/>
            <a:ext cx="457200" cy="457200"/>
          </a:xfrm>
          <a:prstGeom prst="ellipse">
            <a:avLst/>
          </a:prstGeom>
          <a:solidFill>
            <a:schemeClr val="accent1"/>
          </a:solidFill>
          <a:ln w="12700">
            <a:solidFill>
              <a:srgbClr val="DA6D24"/>
            </a:solidFill>
            <a:prstDash val="solid"/>
          </a:ln>
        </p:spPr>
      </p:sp>
      <p:sp>
        <p:nvSpPr>
          <p:cNvPr id="18" name="Text 15"/>
          <p:cNvSpPr txBox="1"/>
          <p:nvPr/>
        </p:nvSpPr>
        <p:spPr>
          <a:xfrm>
            <a:off x="4407408" y="34290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9" name="Text 16"/>
          <p:cNvSpPr txBox="1"/>
          <p:nvPr/>
        </p:nvSpPr>
        <p:spPr>
          <a:xfrm>
            <a:off x="5074920" y="3255264"/>
            <a:ext cx="6355080" cy="786384"/>
          </a:xfrm>
          <a:prstGeom prst="rect">
            <a:avLst/>
          </a:prstGeom>
          <a:noFill/>
          <a:ln/>
        </p:spPr>
        <p:txBody>
          <a:bodyPr wrap="square" lIns="0" tIns="0" rIns="0" bIns="0" rtlCol="0" anchor="ctr"/>
          <a:lstStyle/>
          <a:p>
            <a:pPr indent="0" marL="0">
              <a:buNone/>
            </a:pPr>
            <a:r>
              <a:rPr lang="en-US" sz="1600" dirty="0">
                <a:solidFill>
                  <a:schemeClr val="tx1"/>
                </a:solidFill>
              </a:rPr>
              <a:t>Identificar os ícones, a barra de tarefas, o botão Iniciar e a área de notificação.</a:t>
            </a:r>
            <a:endParaRPr lang="en-US" sz="1600" dirty="0"/>
          </a:p>
        </p:txBody>
      </p:sp>
      <p:sp>
        <p:nvSpPr>
          <p:cNvPr id="20" name="Shape 17"/>
          <p:cNvSpPr/>
          <p:nvPr/>
        </p:nvSpPr>
        <p:spPr>
          <a:xfrm>
            <a:off x="4206240" y="4169664"/>
            <a:ext cx="7406640" cy="786384"/>
          </a:xfrm>
          <a:prstGeom prst="roundRect">
            <a:avLst>
              <a:gd name="adj" fmla="val 9302"/>
            </a:avLst>
          </a:prstGeom>
          <a:solidFill>
            <a:srgbClr val="F2F4F7"/>
          </a:solidFill>
          <a:ln w="6350">
            <a:solidFill>
              <a:srgbClr val="DCE3E9"/>
            </a:solidFill>
            <a:prstDash val="solid"/>
          </a:ln>
        </p:spPr>
      </p:sp>
      <p:sp>
        <p:nvSpPr>
          <p:cNvPr id="21" name="Shape 18"/>
          <p:cNvSpPr/>
          <p:nvPr/>
        </p:nvSpPr>
        <p:spPr>
          <a:xfrm>
            <a:off x="4407408" y="4343400"/>
            <a:ext cx="457200" cy="457200"/>
          </a:xfrm>
          <a:prstGeom prst="ellipse">
            <a:avLst/>
          </a:prstGeom>
          <a:solidFill>
            <a:schemeClr val="accent1"/>
          </a:solidFill>
          <a:ln w="12700">
            <a:solidFill>
              <a:srgbClr val="DA6D24"/>
            </a:solidFill>
            <a:prstDash val="solid"/>
          </a:ln>
        </p:spPr>
      </p:sp>
      <p:sp>
        <p:nvSpPr>
          <p:cNvPr id="22" name="Text 19"/>
          <p:cNvSpPr txBox="1"/>
          <p:nvPr/>
        </p:nvSpPr>
        <p:spPr>
          <a:xfrm>
            <a:off x="4407408" y="43434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3" name="Text 20"/>
          <p:cNvSpPr txBox="1"/>
          <p:nvPr/>
        </p:nvSpPr>
        <p:spPr>
          <a:xfrm>
            <a:off x="5074920" y="4169664"/>
            <a:ext cx="6355080" cy="786384"/>
          </a:xfrm>
          <a:prstGeom prst="rect">
            <a:avLst/>
          </a:prstGeom>
          <a:noFill/>
          <a:ln/>
        </p:spPr>
        <p:txBody>
          <a:bodyPr wrap="square" lIns="0" tIns="0" rIns="0" bIns="0" rtlCol="0" anchor="ctr"/>
          <a:lstStyle/>
          <a:p>
            <a:pPr indent="0" marL="0">
              <a:buNone/>
            </a:pPr>
            <a:r>
              <a:rPr lang="en-US" sz="1600" dirty="0">
                <a:solidFill>
                  <a:schemeClr val="tx1"/>
                </a:solidFill>
              </a:rPr>
              <a:t>Abrir, minimizar, maximizar e fechar uma janela.</a:t>
            </a:r>
            <a:endParaRPr lang="en-US" sz="1600" dirty="0"/>
          </a:p>
        </p:txBody>
      </p:sp>
      <p:sp>
        <p:nvSpPr>
          <p:cNvPr id="24" name="Shape 21"/>
          <p:cNvSpPr/>
          <p:nvPr/>
        </p:nvSpPr>
        <p:spPr>
          <a:xfrm>
            <a:off x="4206240" y="5084064"/>
            <a:ext cx="7406640" cy="786384"/>
          </a:xfrm>
          <a:prstGeom prst="roundRect">
            <a:avLst>
              <a:gd name="adj" fmla="val 9302"/>
            </a:avLst>
          </a:prstGeom>
          <a:solidFill>
            <a:srgbClr val="F2F4F7"/>
          </a:solidFill>
          <a:ln w="6350">
            <a:solidFill>
              <a:srgbClr val="DCE3E9"/>
            </a:solidFill>
            <a:prstDash val="solid"/>
          </a:ln>
        </p:spPr>
      </p:sp>
      <p:sp>
        <p:nvSpPr>
          <p:cNvPr id="25" name="Shape 22"/>
          <p:cNvSpPr/>
          <p:nvPr/>
        </p:nvSpPr>
        <p:spPr>
          <a:xfrm>
            <a:off x="4407408" y="5257800"/>
            <a:ext cx="457200" cy="457200"/>
          </a:xfrm>
          <a:prstGeom prst="ellipse">
            <a:avLst/>
          </a:prstGeom>
          <a:solidFill>
            <a:schemeClr val="accent1"/>
          </a:solidFill>
          <a:ln w="12700">
            <a:solidFill>
              <a:srgbClr val="DA6D24"/>
            </a:solidFill>
            <a:prstDash val="solid"/>
          </a:ln>
        </p:spPr>
      </p:sp>
      <p:sp>
        <p:nvSpPr>
          <p:cNvPr id="26" name="Text 23"/>
          <p:cNvSpPr txBox="1"/>
          <p:nvPr/>
        </p:nvSpPr>
        <p:spPr>
          <a:xfrm>
            <a:off x="4407408" y="5257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7" name="Text 24"/>
          <p:cNvSpPr txBox="1"/>
          <p:nvPr/>
        </p:nvSpPr>
        <p:spPr>
          <a:xfrm>
            <a:off x="5074920" y="5084064"/>
            <a:ext cx="6355080" cy="786384"/>
          </a:xfrm>
          <a:prstGeom prst="rect">
            <a:avLst/>
          </a:prstGeom>
          <a:noFill/>
          <a:ln/>
        </p:spPr>
        <p:txBody>
          <a:bodyPr wrap="square" lIns="0" tIns="0" rIns="0" bIns="0" rtlCol="0" anchor="ctr"/>
          <a:lstStyle/>
          <a:p>
            <a:pPr indent="0" marL="0">
              <a:buNone/>
            </a:pPr>
            <a:r>
              <a:rPr lang="en-US" sz="1600" dirty="0">
                <a:solidFill>
                  <a:schemeClr val="tx1"/>
                </a:solidFill>
              </a:rPr>
              <a:t>Encerrar o computador corretamente.</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822960"/>
            <a:ext cx="6083633" cy="274320"/>
          </a:xfrm>
          <a:prstGeom prst="rect">
            <a:avLst/>
          </a:prstGeom>
          <a:noFill/>
          <a:ln/>
        </p:spPr>
        <p:txBody>
          <a:bodyPr wrap="square" lIns="0" tIns="0" rIns="0" bIns="0" rtlCol="0" anchor="ctr"/>
          <a:lstStyle/>
          <a:p>
            <a:pPr indent="0" marL="0">
              <a:buNone/>
            </a:pPr>
            <a:r>
              <a:rPr lang="en-US" sz="1200" b="1" spc="300" kern="0" dirty="0">
                <a:solidFill>
                  <a:schemeClr val="accent2"/>
                </a:solidFill>
              </a:rPr>
              <a:t>MÓDULO 1 · O COMPUTADOR E O WINDOWS 11</a:t>
            </a:r>
            <a:endParaRPr lang="en-US" sz="1200" dirty="0"/>
          </a:p>
        </p:txBody>
      </p:sp>
      <p:sp>
        <p:nvSpPr>
          <p:cNvPr id="3" name="Text 1"/>
          <p:cNvSpPr txBox="1"/>
          <p:nvPr/>
        </p:nvSpPr>
        <p:spPr>
          <a:xfrm>
            <a:off x="548640" y="1143000"/>
            <a:ext cx="6083633" cy="82296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Percurso do módulo</a:t>
            </a:r>
            <a:endParaRPr lang="en-US" sz="3400" dirty="0"/>
          </a:p>
        </p:txBody>
      </p:sp>
      <p:sp>
        <p:nvSpPr>
          <p:cNvPr id="4" name="Shape 2"/>
          <p:cNvSpPr/>
          <p:nvPr/>
        </p:nvSpPr>
        <p:spPr>
          <a:xfrm>
            <a:off x="548640" y="2203704"/>
            <a:ext cx="493776" cy="404622"/>
          </a:xfrm>
          <a:prstGeom prst="roundRect">
            <a:avLst>
              <a:gd name="adj" fmla="val 13559"/>
            </a:avLst>
          </a:prstGeom>
          <a:solidFill>
            <a:schemeClr val="accent2"/>
          </a:solidFill>
          <a:ln w="12700">
            <a:solidFill>
              <a:schemeClr val="accent2"/>
            </a:solidFill>
            <a:prstDash val="solid"/>
          </a:ln>
        </p:spPr>
      </p:sp>
      <p:sp>
        <p:nvSpPr>
          <p:cNvPr id="5" name="Text 3"/>
          <p:cNvSpPr txBox="1"/>
          <p:nvPr/>
        </p:nvSpPr>
        <p:spPr>
          <a:xfrm>
            <a:off x="548640" y="2203704"/>
            <a:ext cx="493776" cy="40462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01</a:t>
            </a:r>
            <a:endParaRPr lang="en-US" sz="1500" dirty="0"/>
          </a:p>
        </p:txBody>
      </p:sp>
      <p:sp>
        <p:nvSpPr>
          <p:cNvPr id="6" name="Text 4"/>
          <p:cNvSpPr txBox="1"/>
          <p:nvPr/>
        </p:nvSpPr>
        <p:spPr>
          <a:xfrm>
            <a:off x="1207008" y="2148840"/>
            <a:ext cx="5425265" cy="514350"/>
          </a:xfrm>
          <a:prstGeom prst="rect">
            <a:avLst/>
          </a:prstGeom>
          <a:noFill/>
          <a:ln/>
        </p:spPr>
        <p:txBody>
          <a:bodyPr wrap="square" lIns="0" tIns="0" rIns="0" bIns="0" rtlCol="0" anchor="ctr"/>
          <a:lstStyle/>
          <a:p>
            <a:pPr indent="0" marL="0">
              <a:buNone/>
            </a:pPr>
            <a:r>
              <a:rPr lang="en-US" sz="1600" b="1" dirty="0">
                <a:solidFill>
                  <a:schemeClr val="tx1"/>
                </a:solidFill>
              </a:rPr>
              <a:t>Hardware e software</a:t>
            </a:r>
            <a:endParaRPr lang="en-US" sz="1600" dirty="0"/>
          </a:p>
        </p:txBody>
      </p:sp>
      <p:sp>
        <p:nvSpPr>
          <p:cNvPr id="7" name="Shape 5"/>
          <p:cNvSpPr/>
          <p:nvPr/>
        </p:nvSpPr>
        <p:spPr>
          <a:xfrm>
            <a:off x="548640" y="2718054"/>
            <a:ext cx="493776" cy="404622"/>
          </a:xfrm>
          <a:prstGeom prst="roundRect">
            <a:avLst>
              <a:gd name="adj" fmla="val 13559"/>
            </a:avLst>
          </a:prstGeom>
          <a:solidFill>
            <a:schemeClr val="accent2"/>
          </a:solidFill>
          <a:ln w="12700">
            <a:solidFill>
              <a:schemeClr val="accent2"/>
            </a:solidFill>
            <a:prstDash val="solid"/>
          </a:ln>
        </p:spPr>
      </p:sp>
      <p:sp>
        <p:nvSpPr>
          <p:cNvPr id="8" name="Text 6"/>
          <p:cNvSpPr txBox="1"/>
          <p:nvPr/>
        </p:nvSpPr>
        <p:spPr>
          <a:xfrm>
            <a:off x="548640" y="2718054"/>
            <a:ext cx="493776" cy="40462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02</a:t>
            </a:r>
            <a:endParaRPr lang="en-US" sz="1500" dirty="0"/>
          </a:p>
        </p:txBody>
      </p:sp>
      <p:sp>
        <p:nvSpPr>
          <p:cNvPr id="9" name="Text 7"/>
          <p:cNvSpPr txBox="1"/>
          <p:nvPr/>
        </p:nvSpPr>
        <p:spPr>
          <a:xfrm>
            <a:off x="1207008" y="2663190"/>
            <a:ext cx="5425265" cy="514350"/>
          </a:xfrm>
          <a:prstGeom prst="rect">
            <a:avLst/>
          </a:prstGeom>
          <a:noFill/>
          <a:ln/>
        </p:spPr>
        <p:txBody>
          <a:bodyPr wrap="square" lIns="0" tIns="0" rIns="0" bIns="0" rtlCol="0" anchor="ctr"/>
          <a:lstStyle/>
          <a:p>
            <a:pPr indent="0" marL="0">
              <a:buNone/>
            </a:pPr>
            <a:r>
              <a:rPr lang="en-US" sz="1600" b="1" dirty="0">
                <a:solidFill>
                  <a:schemeClr val="tx1"/>
                </a:solidFill>
              </a:rPr>
              <a:t>Ligar o computador e iniciar sessão</a:t>
            </a:r>
            <a:endParaRPr lang="en-US" sz="1600" dirty="0"/>
          </a:p>
        </p:txBody>
      </p:sp>
      <p:sp>
        <p:nvSpPr>
          <p:cNvPr id="10" name="Shape 8"/>
          <p:cNvSpPr/>
          <p:nvPr/>
        </p:nvSpPr>
        <p:spPr>
          <a:xfrm>
            <a:off x="548640" y="3232404"/>
            <a:ext cx="493776" cy="404622"/>
          </a:xfrm>
          <a:prstGeom prst="roundRect">
            <a:avLst>
              <a:gd name="adj" fmla="val 13559"/>
            </a:avLst>
          </a:prstGeom>
          <a:solidFill>
            <a:schemeClr val="accent2"/>
          </a:solidFill>
          <a:ln w="12700">
            <a:solidFill>
              <a:schemeClr val="accent2"/>
            </a:solidFill>
            <a:prstDash val="solid"/>
          </a:ln>
        </p:spPr>
      </p:sp>
      <p:sp>
        <p:nvSpPr>
          <p:cNvPr id="11" name="Text 9"/>
          <p:cNvSpPr txBox="1"/>
          <p:nvPr/>
        </p:nvSpPr>
        <p:spPr>
          <a:xfrm>
            <a:off x="548640" y="3232404"/>
            <a:ext cx="493776" cy="40462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03</a:t>
            </a:r>
            <a:endParaRPr lang="en-US" sz="1500" dirty="0"/>
          </a:p>
        </p:txBody>
      </p:sp>
      <p:sp>
        <p:nvSpPr>
          <p:cNvPr id="12" name="Text 10"/>
          <p:cNvSpPr txBox="1"/>
          <p:nvPr/>
        </p:nvSpPr>
        <p:spPr>
          <a:xfrm>
            <a:off x="1207008" y="3177540"/>
            <a:ext cx="5425265" cy="514350"/>
          </a:xfrm>
          <a:prstGeom prst="rect">
            <a:avLst/>
          </a:prstGeom>
          <a:noFill/>
          <a:ln/>
        </p:spPr>
        <p:txBody>
          <a:bodyPr wrap="square" lIns="0" tIns="0" rIns="0" bIns="0" rtlCol="0" anchor="ctr"/>
          <a:lstStyle/>
          <a:p>
            <a:pPr indent="0" marL="0">
              <a:buNone/>
            </a:pPr>
            <a:r>
              <a:rPr lang="en-US" sz="1600" b="1" dirty="0">
                <a:solidFill>
                  <a:schemeClr val="tx1"/>
                </a:solidFill>
              </a:rPr>
              <a:t>O ambiente de trabalho</a:t>
            </a:r>
            <a:endParaRPr lang="en-US" sz="1600" dirty="0"/>
          </a:p>
        </p:txBody>
      </p:sp>
      <p:sp>
        <p:nvSpPr>
          <p:cNvPr id="13" name="Shape 11"/>
          <p:cNvSpPr/>
          <p:nvPr/>
        </p:nvSpPr>
        <p:spPr>
          <a:xfrm>
            <a:off x="548640" y="3746754"/>
            <a:ext cx="493776" cy="404622"/>
          </a:xfrm>
          <a:prstGeom prst="roundRect">
            <a:avLst>
              <a:gd name="adj" fmla="val 13559"/>
            </a:avLst>
          </a:prstGeom>
          <a:solidFill>
            <a:schemeClr val="accent2"/>
          </a:solidFill>
          <a:ln w="12700">
            <a:solidFill>
              <a:schemeClr val="accent2"/>
            </a:solidFill>
            <a:prstDash val="solid"/>
          </a:ln>
        </p:spPr>
      </p:sp>
      <p:sp>
        <p:nvSpPr>
          <p:cNvPr id="14" name="Text 12"/>
          <p:cNvSpPr txBox="1"/>
          <p:nvPr/>
        </p:nvSpPr>
        <p:spPr>
          <a:xfrm>
            <a:off x="548640" y="3746754"/>
            <a:ext cx="493776" cy="40462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04</a:t>
            </a:r>
            <a:endParaRPr lang="en-US" sz="1500" dirty="0"/>
          </a:p>
        </p:txBody>
      </p:sp>
      <p:sp>
        <p:nvSpPr>
          <p:cNvPr id="15" name="Text 13"/>
          <p:cNvSpPr txBox="1"/>
          <p:nvPr/>
        </p:nvSpPr>
        <p:spPr>
          <a:xfrm>
            <a:off x="1207008" y="3691890"/>
            <a:ext cx="5425265" cy="514350"/>
          </a:xfrm>
          <a:prstGeom prst="rect">
            <a:avLst/>
          </a:prstGeom>
          <a:noFill/>
          <a:ln/>
        </p:spPr>
        <p:txBody>
          <a:bodyPr wrap="square" lIns="0" tIns="0" rIns="0" bIns="0" rtlCol="0" anchor="ctr"/>
          <a:lstStyle/>
          <a:p>
            <a:pPr indent="0" marL="0">
              <a:buNone/>
            </a:pPr>
            <a:r>
              <a:rPr lang="en-US" sz="1600" b="1" dirty="0">
                <a:solidFill>
                  <a:schemeClr val="tx1"/>
                </a:solidFill>
              </a:rPr>
              <a:t>O menu Iniciar</a:t>
            </a:r>
            <a:endParaRPr lang="en-US" sz="1600" dirty="0"/>
          </a:p>
        </p:txBody>
      </p:sp>
      <p:sp>
        <p:nvSpPr>
          <p:cNvPr id="16" name="Shape 14"/>
          <p:cNvSpPr/>
          <p:nvPr/>
        </p:nvSpPr>
        <p:spPr>
          <a:xfrm>
            <a:off x="548640" y="4261104"/>
            <a:ext cx="493776" cy="404622"/>
          </a:xfrm>
          <a:prstGeom prst="roundRect">
            <a:avLst>
              <a:gd name="adj" fmla="val 13559"/>
            </a:avLst>
          </a:prstGeom>
          <a:solidFill>
            <a:schemeClr val="accent2"/>
          </a:solidFill>
          <a:ln w="12700">
            <a:solidFill>
              <a:schemeClr val="accent2"/>
            </a:solidFill>
            <a:prstDash val="solid"/>
          </a:ln>
        </p:spPr>
      </p:sp>
      <p:sp>
        <p:nvSpPr>
          <p:cNvPr id="17" name="Text 15"/>
          <p:cNvSpPr txBox="1"/>
          <p:nvPr/>
        </p:nvSpPr>
        <p:spPr>
          <a:xfrm>
            <a:off x="548640" y="4261104"/>
            <a:ext cx="493776" cy="40462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05</a:t>
            </a:r>
            <a:endParaRPr lang="en-US" sz="1500" dirty="0"/>
          </a:p>
        </p:txBody>
      </p:sp>
      <p:sp>
        <p:nvSpPr>
          <p:cNvPr id="18" name="Text 16"/>
          <p:cNvSpPr txBox="1"/>
          <p:nvPr/>
        </p:nvSpPr>
        <p:spPr>
          <a:xfrm>
            <a:off x="1207008" y="4206240"/>
            <a:ext cx="5425265" cy="514350"/>
          </a:xfrm>
          <a:prstGeom prst="rect">
            <a:avLst/>
          </a:prstGeom>
          <a:noFill/>
          <a:ln/>
        </p:spPr>
        <p:txBody>
          <a:bodyPr wrap="square" lIns="0" tIns="0" rIns="0" bIns="0" rtlCol="0" anchor="ctr"/>
          <a:lstStyle/>
          <a:p>
            <a:pPr indent="0" marL="0">
              <a:buNone/>
            </a:pPr>
            <a:r>
              <a:rPr lang="en-US" sz="1600" b="1" dirty="0">
                <a:solidFill>
                  <a:schemeClr val="tx1"/>
                </a:solidFill>
              </a:rPr>
              <a:t>Trabalhar com janelas</a:t>
            </a:r>
            <a:endParaRPr lang="en-US" sz="1600" dirty="0"/>
          </a:p>
        </p:txBody>
      </p:sp>
      <p:sp>
        <p:nvSpPr>
          <p:cNvPr id="19" name="Shape 17"/>
          <p:cNvSpPr/>
          <p:nvPr/>
        </p:nvSpPr>
        <p:spPr>
          <a:xfrm>
            <a:off x="548640" y="4775454"/>
            <a:ext cx="493776" cy="404622"/>
          </a:xfrm>
          <a:prstGeom prst="roundRect">
            <a:avLst>
              <a:gd name="adj" fmla="val 13559"/>
            </a:avLst>
          </a:prstGeom>
          <a:solidFill>
            <a:schemeClr val="accent2"/>
          </a:solidFill>
          <a:ln w="12700">
            <a:solidFill>
              <a:schemeClr val="accent2"/>
            </a:solidFill>
            <a:prstDash val="solid"/>
          </a:ln>
        </p:spPr>
      </p:sp>
      <p:sp>
        <p:nvSpPr>
          <p:cNvPr id="20" name="Text 18"/>
          <p:cNvSpPr txBox="1"/>
          <p:nvPr/>
        </p:nvSpPr>
        <p:spPr>
          <a:xfrm>
            <a:off x="548640" y="4775454"/>
            <a:ext cx="493776" cy="40462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06</a:t>
            </a:r>
            <a:endParaRPr lang="en-US" sz="1500" dirty="0"/>
          </a:p>
        </p:txBody>
      </p:sp>
      <p:sp>
        <p:nvSpPr>
          <p:cNvPr id="21" name="Text 19"/>
          <p:cNvSpPr txBox="1"/>
          <p:nvPr/>
        </p:nvSpPr>
        <p:spPr>
          <a:xfrm>
            <a:off x="1207008" y="4720590"/>
            <a:ext cx="5425265" cy="514350"/>
          </a:xfrm>
          <a:prstGeom prst="rect">
            <a:avLst/>
          </a:prstGeom>
          <a:noFill/>
          <a:ln/>
        </p:spPr>
        <p:txBody>
          <a:bodyPr wrap="square" lIns="0" tIns="0" rIns="0" bIns="0" rtlCol="0" anchor="ctr"/>
          <a:lstStyle/>
          <a:p>
            <a:pPr indent="0" marL="0">
              <a:buNone/>
            </a:pPr>
            <a:r>
              <a:rPr lang="en-US" sz="1600" b="1" dirty="0">
                <a:solidFill>
                  <a:schemeClr val="tx1"/>
                </a:solidFill>
              </a:rPr>
              <a:t>Encerrar o computador</a:t>
            </a:r>
            <a:endParaRPr lang="en-US" sz="1600" dirty="0"/>
          </a:p>
        </p:txBody>
      </p:sp>
      <p:sp>
        <p:nvSpPr>
          <p:cNvPr id="22" name="Shape 20"/>
          <p:cNvSpPr/>
          <p:nvPr/>
        </p:nvSpPr>
        <p:spPr>
          <a:xfrm>
            <a:off x="548640" y="5289804"/>
            <a:ext cx="493776" cy="404622"/>
          </a:xfrm>
          <a:prstGeom prst="roundRect">
            <a:avLst>
              <a:gd name="adj" fmla="val 13559"/>
            </a:avLst>
          </a:prstGeom>
          <a:solidFill>
            <a:schemeClr val="accent2"/>
          </a:solidFill>
          <a:ln w="12700">
            <a:solidFill>
              <a:schemeClr val="accent2"/>
            </a:solidFill>
            <a:prstDash val="solid"/>
          </a:ln>
        </p:spPr>
      </p:sp>
      <p:sp>
        <p:nvSpPr>
          <p:cNvPr id="23" name="Text 21"/>
          <p:cNvSpPr txBox="1"/>
          <p:nvPr/>
        </p:nvSpPr>
        <p:spPr>
          <a:xfrm>
            <a:off x="548640" y="5289804"/>
            <a:ext cx="493776" cy="40462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07</a:t>
            </a:r>
            <a:endParaRPr lang="en-US" sz="1500" dirty="0"/>
          </a:p>
        </p:txBody>
      </p:sp>
      <p:sp>
        <p:nvSpPr>
          <p:cNvPr id="24" name="Text 22"/>
          <p:cNvSpPr txBox="1"/>
          <p:nvPr/>
        </p:nvSpPr>
        <p:spPr>
          <a:xfrm>
            <a:off x="1207008" y="5234940"/>
            <a:ext cx="5425265" cy="514350"/>
          </a:xfrm>
          <a:prstGeom prst="rect">
            <a:avLst/>
          </a:prstGeom>
          <a:noFill/>
          <a:ln/>
        </p:spPr>
        <p:txBody>
          <a:bodyPr wrap="square" lIns="0" tIns="0" rIns="0" bIns="0" rtlCol="0" anchor="ctr"/>
          <a:lstStyle/>
          <a:p>
            <a:pPr indent="0" marL="0">
              <a:buNone/>
            </a:pPr>
            <a:r>
              <a:rPr lang="en-US" sz="1600" b="1" dirty="0">
                <a:solidFill>
                  <a:schemeClr val="tx1"/>
                </a:solidFill>
              </a:rPr>
              <a:t>Reconhecer o Windows real</a:t>
            </a:r>
            <a:endParaRPr lang="en-US" sz="1600" dirty="0"/>
          </a:p>
        </p:txBody>
      </p:sp>
      <p:sp>
        <p:nvSpPr>
          <p:cNvPr id="25" name="Shape 23"/>
          <p:cNvSpPr/>
          <p:nvPr/>
        </p:nvSpPr>
        <p:spPr>
          <a:xfrm>
            <a:off x="548640" y="5804154"/>
            <a:ext cx="493776" cy="404622"/>
          </a:xfrm>
          <a:prstGeom prst="roundRect">
            <a:avLst>
              <a:gd name="adj" fmla="val 13559"/>
            </a:avLst>
          </a:prstGeom>
          <a:solidFill>
            <a:schemeClr val="accent2"/>
          </a:solidFill>
          <a:ln w="12700">
            <a:solidFill>
              <a:schemeClr val="accent2"/>
            </a:solidFill>
            <a:prstDash val="solid"/>
          </a:ln>
        </p:spPr>
      </p:sp>
      <p:sp>
        <p:nvSpPr>
          <p:cNvPr id="26" name="Text 24"/>
          <p:cNvSpPr txBox="1"/>
          <p:nvPr/>
        </p:nvSpPr>
        <p:spPr>
          <a:xfrm>
            <a:off x="548640" y="5804154"/>
            <a:ext cx="493776" cy="40462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08</a:t>
            </a:r>
            <a:endParaRPr lang="en-US" sz="1500" dirty="0"/>
          </a:p>
        </p:txBody>
      </p:sp>
      <p:sp>
        <p:nvSpPr>
          <p:cNvPr id="27" name="Text 25"/>
          <p:cNvSpPr txBox="1"/>
          <p:nvPr/>
        </p:nvSpPr>
        <p:spPr>
          <a:xfrm>
            <a:off x="1207008" y="5749290"/>
            <a:ext cx="5425265" cy="514350"/>
          </a:xfrm>
          <a:prstGeom prst="rect">
            <a:avLst/>
          </a:prstGeom>
          <a:noFill/>
          <a:ln/>
        </p:spPr>
        <p:txBody>
          <a:bodyPr wrap="square" lIns="0" tIns="0" rIns="0" bIns="0" rtlCol="0" anchor="ctr"/>
          <a:lstStyle/>
          <a:p>
            <a:pPr indent="0" marL="0">
              <a:buNone/>
            </a:pPr>
            <a:r>
              <a:rPr lang="en-US" sz="1600" b="1" dirty="0">
                <a:solidFill>
                  <a:schemeClr val="tx1"/>
                </a:solidFill>
              </a:rPr>
              <a:t>Reconhecer os programas</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146304"/>
            <a:ext cx="9601200" cy="219456"/>
          </a:xfrm>
          <a:prstGeom prst="rect">
            <a:avLst/>
          </a:prstGeom>
          <a:noFill/>
          <a:ln/>
        </p:spPr>
        <p:txBody>
          <a:bodyPr wrap="square" lIns="0" tIns="0" rIns="0" bIns="0" rtlCol="0" anchor="ctr"/>
          <a:lstStyle/>
          <a:p>
            <a:pPr indent="0" marL="0">
              <a:buNone/>
            </a:pPr>
            <a:r>
              <a:rPr lang="en-US" sz="1000" b="1" spc="250" kern="0" dirty="0">
                <a:solidFill>
                  <a:schemeClr val="accent2"/>
                </a:solidFill>
              </a:rPr>
              <a:t>MÓDULO 1 · TEMA 1 DE 8</a:t>
            </a:r>
            <a:endParaRPr lang="en-US" sz="1000" dirty="0"/>
          </a:p>
        </p:txBody>
      </p:sp>
      <p:sp>
        <p:nvSpPr>
          <p:cNvPr id="3" name="Text 1"/>
          <p:cNvSpPr/>
          <p:nvPr>
            <p:ph idx="101" type="title" hasCustomPrompt="1"/>
          </p:nvPr>
        </p:nvSpPr>
        <p:spPr>
          <a:xfrm>
            <a:off x="548640" y="384048"/>
            <a:ext cx="10241280" cy="749808"/>
          </a:xfrm>
          <a:prstGeom prst="rect">
            <a:avLst/>
          </a:prstGeom>
          <a:noFill/>
          <a:ln/>
        </p:spPr>
        <p:txBody>
          <a:bodyPr wrap="square" lIns="0" tIns="0" rIns="0" bIns="0" rtlCol="0" anchor="ctr"/>
          <a:lstStyle/>
          <a:p>
            <a:pPr algn="l" indent="0" marL="0">
              <a:buNone/>
            </a:pPr>
            <a:r>
              <a:rPr lang="en-US" sz="2900" b="1" dirty="0">
                <a:solidFill>
                  <a:schemeClr val="tx2"/>
                </a:solidFill>
                <a:latin typeface="Cambria" pitchFamily="34" charset="0"/>
                <a:ea typeface="Cambria" pitchFamily="34" charset="-122"/>
                <a:cs typeface="Cambria" pitchFamily="34" charset="-120"/>
              </a:rPr>
              <a:t>1.1 Hardware e software</a:t>
            </a:r>
            <a:endParaRPr lang="en-US" sz="2900" dirty="0"/>
          </a:p>
        </p:txBody>
      </p:sp>
      <p:sp>
        <p:nvSpPr>
          <p:cNvPr id="4" name="Shape 2"/>
          <p:cNvSpPr/>
          <p:nvPr/>
        </p:nvSpPr>
        <p:spPr>
          <a:xfrm>
            <a:off x="2066544" y="1261872"/>
            <a:ext cx="3639312" cy="4517136"/>
          </a:xfrm>
          <a:prstGeom prst="roundRect">
            <a:avLst>
              <a:gd name="adj" fmla="val 1508"/>
            </a:avLst>
          </a:prstGeom>
          <a:solidFill>
            <a:srgbClr val="FFFFFF"/>
          </a:solidFill>
          <a:ln w="9525">
            <a:solidFill>
              <a:srgbClr val="DCE3E9"/>
            </a:solidFill>
            <a:prstDash val="solid"/>
          </a:ln>
          <a:effectLst>
            <a:outerShdw sx="100000" sy="100000" kx="0" ky="0" algn="bl" rotWithShape="0" blurRad="127000" dist="38100" dir="5400000">
              <a:srgbClr val="0B2137">
                <a:alpha val="18000"/>
              </a:srgbClr>
            </a:outerShdw>
          </a:effectLst>
        </p:spPr>
      </p:sp>
      <p:pic>
        <p:nvPicPr>
          <p:cNvPr id="5" name="Image 0" descr="Equipamento real: monitores, teclado e rato. Fotografia de Matheus Bertelli / Pexels. O software visível na fotografia não é o Windows utilizado nas demonstrações.">    </p:cNvPr>
          <p:cNvPicPr>
            <a:picLocks noChangeAspect="1"/>
          </p:cNvPicPr>
          <p:nvPr/>
        </p:nvPicPr>
        <p:blipFill>
          <a:blip r:embed="rId1"/>
          <a:stretch>
            <a:fillRect/>
          </a:stretch>
        </p:blipFill>
        <p:spPr>
          <a:xfrm>
            <a:off x="2130552" y="1325880"/>
            <a:ext cx="3511296" cy="4389120"/>
          </a:xfrm>
          <a:prstGeom prst="rect">
            <a:avLst/>
          </a:prstGeom>
        </p:spPr>
      </p:pic>
      <p:sp>
        <p:nvSpPr>
          <p:cNvPr id="6" name="Text 3"/>
          <p:cNvSpPr txBox="1"/>
          <p:nvPr/>
        </p:nvSpPr>
        <p:spPr>
          <a:xfrm>
            <a:off x="548640" y="5806440"/>
            <a:ext cx="6675120" cy="384048"/>
          </a:xfrm>
          <a:prstGeom prst="rect">
            <a:avLst/>
          </a:prstGeom>
          <a:noFill/>
          <a:ln/>
        </p:spPr>
        <p:txBody>
          <a:bodyPr wrap="square" lIns="0" tIns="0" rIns="0" bIns="0" rtlCol="0" anchor="t"/>
          <a:lstStyle/>
          <a:p>
            <a:pPr indent="0" marL="0">
              <a:buNone/>
            </a:pPr>
            <a:r>
              <a:rPr lang="en-US" sz="1000" i="1" dirty="0">
                <a:solidFill>
                  <a:schemeClr val="accent4"/>
                </a:solidFill>
              </a:rPr>
              <a:t>Equipamento real: monitores, teclado e rato. Fotografia de Matheus Bertelli / Pexels. O software visível na fotografia não é o Windows utilizado…</a:t>
            </a:r>
            <a:endParaRPr lang="en-US" sz="1000" dirty="0"/>
          </a:p>
        </p:txBody>
      </p:sp>
      <p:sp>
        <p:nvSpPr>
          <p:cNvPr id="7" name="Text 4"/>
          <p:cNvSpPr txBox="1"/>
          <p:nvPr/>
        </p:nvSpPr>
        <p:spPr>
          <a:xfrm>
            <a:off x="7589520" y="1325880"/>
            <a:ext cx="4069080" cy="829056"/>
          </a:xfrm>
          <a:prstGeom prst="rect">
            <a:avLst/>
          </a:prstGeom>
          <a:noFill/>
          <a:ln/>
        </p:spPr>
        <p:txBody>
          <a:bodyPr wrap="square" lIns="0" tIns="0" rIns="0" bIns="0" rtlCol="0" anchor="t"/>
          <a:lstStyle/>
          <a:p>
            <a:pPr indent="0" marL="0">
              <a:buNone/>
            </a:pPr>
            <a:r>
              <a:rPr lang="en-US" sz="1600" dirty="0">
                <a:solidFill>
                  <a:schemeClr val="tx1"/>
                </a:solidFill>
              </a:rPr>
              <a:t>Um computador tem duas partes que trabalham sempre em conjunto: o hardware e o software.</a:t>
            </a:r>
            <a:endParaRPr lang="en-US" sz="1600" dirty="0"/>
          </a:p>
        </p:txBody>
      </p:sp>
      <p:sp>
        <p:nvSpPr>
          <p:cNvPr id="8" name="Text 5"/>
          <p:cNvSpPr txBox="1"/>
          <p:nvPr/>
        </p:nvSpPr>
        <p:spPr>
          <a:xfrm>
            <a:off x="7589520" y="2337816"/>
            <a:ext cx="4069080" cy="2247646"/>
          </a:xfrm>
          <a:prstGeom prst="rect">
            <a:avLst/>
          </a:prstGeom>
          <a:noFill/>
          <a:ln/>
        </p:spPr>
        <p:txBody>
          <a:bodyPr wrap="square" lIns="0" tIns="0" rIns="0" bIns="0" rtlCol="0" anchor="t"/>
          <a:lstStyle/>
          <a:p>
            <a:pPr marL="342900" indent="-342900">
              <a:spcAft>
                <a:spcPts val="600"/>
              </a:spcAft>
              <a:buSzPct val="100000"/>
              <a:buChar char="•"/>
            </a:pPr>
            <a:r>
              <a:rPr lang="en-US" sz="1300" b="1" dirty="0">
                <a:solidFill>
                  <a:schemeClr val="tx1"/>
                </a:solidFill>
              </a:rPr>
              <a:t>Hardware</a:t>
            </a:r>
            <a:pPr indent="0" marL="0">
              <a:spcAft>
                <a:spcPts val="600"/>
              </a:spcAft>
              <a:buNone/>
            </a:pPr>
            <a:r>
              <a:rPr lang="en-US" sz="1300" dirty="0">
                <a:solidFill>
                  <a:schemeClr val="tx1"/>
                </a:solidFill>
              </a:rPr>
              <a:t>: A parte física do computador: tudo o que pode tocar.</a:t>
            </a:r>
            <a:endParaRPr lang="en-US" sz="1300" dirty="0"/>
          </a:p>
          <a:p>
            <a:pPr marL="342900" indent="-342900">
              <a:spcAft>
                <a:spcPts val="600"/>
              </a:spcAft>
              <a:buSzPct val="100000"/>
              <a:buChar char="•"/>
            </a:pPr>
            <a:r>
              <a:rPr lang="en-US" sz="1300" b="1" dirty="0">
                <a:solidFill>
                  <a:schemeClr val="tx1"/>
                </a:solidFill>
              </a:rPr>
              <a:t>Software</a:t>
            </a:r>
            <a:pPr indent="0" marL="0">
              <a:spcAft>
                <a:spcPts val="600"/>
              </a:spcAft>
              <a:buNone/>
            </a:pPr>
            <a:r>
              <a:rPr lang="en-US" sz="1300" dirty="0">
                <a:solidFill>
                  <a:schemeClr val="tx1"/>
                </a:solidFill>
              </a:rPr>
              <a:t>: Os programas que dão instruções ao hardware.</a:t>
            </a:r>
            <a:endParaRPr lang="en-US" sz="1300" dirty="0"/>
          </a:p>
        </p:txBody>
      </p:sp>
      <p:sp>
        <p:nvSpPr>
          <p:cNvPr id="9" name="Cartão de dica"/>
          <p:cNvSpPr/>
          <p:nvPr/>
        </p:nvSpPr>
        <p:spPr>
          <a:xfrm>
            <a:off x="7589520" y="4768342"/>
            <a:ext cx="4069080" cy="1403858"/>
          </a:xfrm>
          <a:prstGeom prst="roundRect">
            <a:avLst>
              <a:gd name="adj" fmla="val 7816"/>
            </a:avLst>
          </a:prstGeom>
          <a:solidFill>
            <a:srgbClr val="F2F4F7"/>
          </a:solidFill>
          <a:ln w="9525">
            <a:solidFill>
              <a:srgbClr val="DCE3E9"/>
            </a:solidFill>
            <a:prstDash val="solid"/>
          </a:ln>
        </p:spPr>
      </p:sp>
      <p:pic>
        <p:nvPicPr>
          <p:cNvPr id="10" name="Image 1" descr="Miguel, guia virtual ATC">    </p:cNvPr>
          <p:cNvPicPr>
            <a:picLocks noChangeAspect="1"/>
          </p:cNvPicPr>
          <p:nvPr/>
        </p:nvPicPr>
        <p:blipFill>
          <a:blip r:embed="rId2"/>
          <a:stretch>
            <a:fillRect/>
          </a:stretch>
        </p:blipFill>
        <p:spPr>
          <a:xfrm>
            <a:off x="7772400" y="5081651"/>
            <a:ext cx="777240" cy="777240"/>
          </a:xfrm>
          <a:prstGeom prst="rect">
            <a:avLst/>
          </a:prstGeom>
        </p:spPr>
      </p:pic>
      <p:sp>
        <p:nvSpPr>
          <p:cNvPr id="11" name="Text 7"/>
          <p:cNvSpPr txBox="1"/>
          <p:nvPr/>
        </p:nvSpPr>
        <p:spPr>
          <a:xfrm>
            <a:off x="8714232" y="4841494"/>
            <a:ext cx="2788920" cy="1257554"/>
          </a:xfrm>
          <a:prstGeom prst="rect">
            <a:avLst/>
          </a:prstGeom>
          <a:noFill/>
          <a:ln/>
        </p:spPr>
        <p:txBody>
          <a:bodyPr wrap="square" lIns="0" tIns="0" rIns="0" bIns="0" rtlCol="0" anchor="ctr"/>
          <a:lstStyle/>
          <a:p>
            <a:pPr indent="0" marL="0">
              <a:spcAft>
                <a:spcPts val="200"/>
              </a:spcAft>
              <a:buNone/>
            </a:pPr>
            <a:r>
              <a:rPr lang="en-US" sz="1300" b="1" dirty="0">
                <a:solidFill>
                  <a:schemeClr val="accent1"/>
                </a:solidFill>
              </a:rPr>
              <a:t>Nota pedagógica</a:t>
            </a:r>
            <a:endParaRPr lang="en-US" sz="1300" dirty="0"/>
          </a:p>
          <a:p>
            <a:pPr indent="0" marL="0">
              <a:spcAft>
                <a:spcPts val="200"/>
              </a:spcAft>
              <a:buNone/>
            </a:pPr>
            <a:r>
              <a:rPr lang="en-US" sz="1300" dirty="0">
                <a:solidFill>
                  <a:schemeClr val="tx1"/>
                </a:solidFill>
              </a:rPr>
              <a:t>Um telemóvel também é um computador: o ecrã tátil e a bateria são hardware; o Android ou o iOS são o sistema operativo.</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146304"/>
            <a:ext cx="9601200" cy="219456"/>
          </a:xfrm>
          <a:prstGeom prst="rect">
            <a:avLst/>
          </a:prstGeom>
          <a:noFill/>
          <a:ln/>
        </p:spPr>
        <p:txBody>
          <a:bodyPr wrap="square" lIns="0" tIns="0" rIns="0" bIns="0" rtlCol="0" anchor="ctr"/>
          <a:lstStyle/>
          <a:p>
            <a:pPr indent="0" marL="0">
              <a:buNone/>
            </a:pPr>
            <a:r>
              <a:rPr lang="en-US" sz="1000" b="1" spc="250" kern="0" dirty="0">
                <a:solidFill>
                  <a:schemeClr val="accent2"/>
                </a:solidFill>
              </a:rPr>
              <a:t>MÓDULO 1 · TEMA 1 DE 8 · QUADRO-RESUMO</a:t>
            </a:r>
            <a:endParaRPr lang="en-US" sz="1000" dirty="0"/>
          </a:p>
        </p:txBody>
      </p:sp>
      <p:sp>
        <p:nvSpPr>
          <p:cNvPr id="3" name="Text 1"/>
          <p:cNvSpPr/>
          <p:nvPr>
            <p:ph idx="101" type="title" hasCustomPrompt="1"/>
          </p:nvPr>
        </p:nvSpPr>
        <p:spPr>
          <a:xfrm>
            <a:off x="548640" y="384048"/>
            <a:ext cx="10241280" cy="749808"/>
          </a:xfrm>
          <a:prstGeom prst="rect">
            <a:avLst/>
          </a:prstGeom>
          <a:noFill/>
          <a:ln/>
        </p:spPr>
        <p:txBody>
          <a:bodyPr wrap="square" lIns="0" tIns="0" rIns="0" bIns="0" rtlCol="0" anchor="ctr"/>
          <a:lstStyle/>
          <a:p>
            <a:pPr algn="l" indent="0" marL="0">
              <a:buNone/>
            </a:pPr>
            <a:r>
              <a:rPr lang="en-US" sz="2900" b="1" dirty="0">
                <a:solidFill>
                  <a:schemeClr val="tx2"/>
                </a:solidFill>
                <a:latin typeface="Cambria" pitchFamily="34" charset="0"/>
                <a:ea typeface="Cambria" pitchFamily="34" charset="-122"/>
                <a:cs typeface="Cambria" pitchFamily="34" charset="-120"/>
              </a:rPr>
              <a:t>1.1 Hardware e software — Quadro de referência</a:t>
            </a:r>
            <a:endParaRPr lang="en-US" sz="2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434133"/>
                <a:gridCol w="5089550"/>
                <a:gridCol w="3540557"/>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Parte</a:t>
                      </a:r>
                      <a:endParaRPr lang="en-US" sz="14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0B2137"/>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O que é</a:t>
                      </a:r>
                      <a:endParaRPr lang="en-US" sz="14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0B2137"/>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Exemplos</a:t>
                      </a:r>
                      <a:endParaRPr lang="en-US" sz="14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0B2137"/>
                    </a:solidFill>
                  </a:tcPr>
                </a:tc>
              </a:tr>
              <a:tr h="0">
                <a:tc>
                  <a:txBody>
                    <a:bodyPr/>
                    <a:lstStyle/>
                    <a:p>
                      <a:pPr indent="0" marL="0">
                        <a:buNone/>
                      </a:pPr>
                      <a:r>
                        <a:rPr lang="en-US" sz="1400" dirty="0">
                          <a:solidFill>
                            <a:srgbClr val="1D2733"/>
                          </a:solidFill>
                          <a:latin typeface="Calibri" pitchFamily="34" charset="0"/>
                          <a:ea typeface="Calibri" pitchFamily="34" charset="-122"/>
                          <a:cs typeface="Calibri" pitchFamily="34" charset="-120"/>
                        </a:rPr>
                        <a:t>Hardware</a:t>
                      </a:r>
                      <a:endParaRPr lang="en-US" sz="14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indent="0" marL="0">
                        <a:buNone/>
                      </a:pPr>
                      <a:r>
                        <a:rPr lang="en-US" sz="1400" dirty="0">
                          <a:solidFill>
                            <a:srgbClr val="1D2733"/>
                          </a:solidFill>
                          <a:latin typeface="Calibri" pitchFamily="34" charset="0"/>
                          <a:ea typeface="Calibri" pitchFamily="34" charset="-122"/>
                          <a:cs typeface="Calibri" pitchFamily="34" charset="-120"/>
                        </a:rPr>
                        <a:t>A parte física do computador: tudo o que pode tocar.</a:t>
                      </a:r>
                      <a:endParaRPr lang="en-US" sz="14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indent="0" marL="0">
                        <a:buNone/>
                      </a:pPr>
                      <a:r>
                        <a:rPr lang="en-US" sz="1400" dirty="0">
                          <a:solidFill>
                            <a:srgbClr val="1D2733"/>
                          </a:solidFill>
                          <a:latin typeface="Calibri" pitchFamily="34" charset="0"/>
                          <a:ea typeface="Calibri" pitchFamily="34" charset="-122"/>
                          <a:cs typeface="Calibri" pitchFamily="34" charset="-120"/>
                        </a:rPr>
                        <a:t>Monitor, teclado, rato, unidade central, impressora</a:t>
                      </a:r>
                      <a:endParaRPr lang="en-US" sz="14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D2733"/>
                          </a:solidFill>
                          <a:latin typeface="Calibri" pitchFamily="34" charset="0"/>
                          <a:ea typeface="Calibri" pitchFamily="34" charset="-122"/>
                          <a:cs typeface="Calibri" pitchFamily="34" charset="-120"/>
                        </a:rPr>
                        <a:t>Software</a:t>
                      </a:r>
                      <a:endParaRPr lang="en-US" sz="14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2F4F7"/>
                    </a:solidFill>
                  </a:tcPr>
                </a:tc>
                <a:tc>
                  <a:txBody>
                    <a:bodyPr/>
                    <a:lstStyle/>
                    <a:p>
                      <a:pPr indent="0" marL="0">
                        <a:buNone/>
                      </a:pPr>
                      <a:r>
                        <a:rPr lang="en-US" sz="1400" dirty="0">
                          <a:solidFill>
                            <a:srgbClr val="1D2733"/>
                          </a:solidFill>
                          <a:latin typeface="Calibri" pitchFamily="34" charset="0"/>
                          <a:ea typeface="Calibri" pitchFamily="34" charset="-122"/>
                          <a:cs typeface="Calibri" pitchFamily="34" charset="-120"/>
                        </a:rPr>
                        <a:t>Os programas que dão instruções ao hardware.</a:t>
                      </a:r>
                      <a:endParaRPr lang="en-US" sz="14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2F4F7"/>
                    </a:solidFill>
                  </a:tcPr>
                </a:tc>
                <a:tc>
                  <a:txBody>
                    <a:bodyPr/>
                    <a:lstStyle/>
                    <a:p>
                      <a:pPr indent="0" marL="0">
                        <a:buNone/>
                      </a:pPr>
                      <a:r>
                        <a:rPr lang="en-US" sz="1400" dirty="0">
                          <a:solidFill>
                            <a:srgbClr val="1D2733"/>
                          </a:solidFill>
                          <a:latin typeface="Calibri" pitchFamily="34" charset="0"/>
                          <a:ea typeface="Calibri" pitchFamily="34" charset="-122"/>
                          <a:cs typeface="Calibri" pitchFamily="34" charset="-120"/>
                        </a:rPr>
                        <a:t>Windows 11, Word, Excel, navegador de Internet</a:t>
                      </a:r>
                      <a:endParaRPr lang="en-US" sz="14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2F4F7"/>
                    </a:solidFill>
                  </a:tcPr>
                </a:tc>
              </a:tr>
            </a:tbl>
          </a:graphicData>
        </a:graphic>
      </p:graphicFrame>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146304"/>
            <a:ext cx="9601200" cy="219456"/>
          </a:xfrm>
          <a:prstGeom prst="rect">
            <a:avLst/>
          </a:prstGeom>
          <a:noFill/>
          <a:ln/>
        </p:spPr>
        <p:txBody>
          <a:bodyPr wrap="square" lIns="0" tIns="0" rIns="0" bIns="0" rtlCol="0" anchor="ctr"/>
          <a:lstStyle/>
          <a:p>
            <a:pPr indent="0" marL="0">
              <a:buNone/>
            </a:pPr>
            <a:r>
              <a:rPr lang="en-US" sz="1000" b="1" spc="250" kern="0" dirty="0">
                <a:solidFill>
                  <a:schemeClr val="accent2"/>
                </a:solidFill>
              </a:rPr>
              <a:t>MÓDULO 1 · TEMA 2 DE 8</a:t>
            </a:r>
            <a:endParaRPr lang="en-US" sz="1000" dirty="0"/>
          </a:p>
        </p:txBody>
      </p:sp>
      <p:sp>
        <p:nvSpPr>
          <p:cNvPr id="3" name="Text 1"/>
          <p:cNvSpPr/>
          <p:nvPr>
            <p:ph idx="101" type="title" hasCustomPrompt="1"/>
          </p:nvPr>
        </p:nvSpPr>
        <p:spPr>
          <a:xfrm>
            <a:off x="548640" y="384048"/>
            <a:ext cx="10241280" cy="749808"/>
          </a:xfrm>
          <a:prstGeom prst="rect">
            <a:avLst/>
          </a:prstGeom>
          <a:noFill/>
          <a:ln/>
        </p:spPr>
        <p:txBody>
          <a:bodyPr wrap="square" lIns="0" tIns="0" rIns="0" bIns="0" rtlCol="0" anchor="ctr"/>
          <a:lstStyle/>
          <a:p>
            <a:pPr algn="l" indent="0" marL="0">
              <a:buNone/>
            </a:pPr>
            <a:r>
              <a:rPr lang="en-US" sz="2900" b="1" dirty="0">
                <a:solidFill>
                  <a:schemeClr val="tx2"/>
                </a:solidFill>
                <a:latin typeface="Cambria" pitchFamily="34" charset="0"/>
                <a:ea typeface="Cambria" pitchFamily="34" charset="-122"/>
                <a:cs typeface="Cambria" pitchFamily="34" charset="-120"/>
              </a:rPr>
              <a:t>1.2 Ligar o computador e iniciar sessão</a:t>
            </a:r>
            <a:endParaRPr lang="en-US" sz="2900" dirty="0"/>
          </a:p>
        </p:txBody>
      </p:sp>
      <p:sp>
        <p:nvSpPr>
          <p:cNvPr id="4" name="Shape 2"/>
          <p:cNvSpPr/>
          <p:nvPr/>
        </p:nvSpPr>
        <p:spPr>
          <a:xfrm>
            <a:off x="484632" y="2327396"/>
            <a:ext cx="3351276" cy="2386089"/>
          </a:xfrm>
          <a:prstGeom prst="roundRect">
            <a:avLst>
              <a:gd name="adj" fmla="val 2299"/>
            </a:avLst>
          </a:prstGeom>
          <a:solidFill>
            <a:srgbClr val="FFFFFF"/>
          </a:solidFill>
          <a:ln w="9525">
            <a:solidFill>
              <a:srgbClr val="DCE3E9"/>
            </a:solidFill>
            <a:prstDash val="solid"/>
          </a:ln>
          <a:effectLst>
            <a:outerShdw sx="100000" sy="100000" kx="0" ky="0" algn="bl" rotWithShape="0" blurRad="127000" dist="38100" dir="5400000">
              <a:srgbClr val="0B2137">
                <a:alpha val="18000"/>
              </a:srgbClr>
            </a:outerShdw>
          </a:effectLst>
        </p:spPr>
      </p:sp>
      <p:pic>
        <p:nvPicPr>
          <p:cNvPr id="5" name="Image 0" descr="Simulação pedagógica ATC, imagem editada por IA (não é uma captura oficial do Windows). Ecrã de início de sessão do Windows 11 com o nome do formando e a opção «Esqueci-me do meu PIN».">    </p:cNvPr>
          <p:cNvPicPr>
            <a:picLocks noChangeAspect="1"/>
          </p:cNvPicPr>
          <p:nvPr/>
        </p:nvPicPr>
        <p:blipFill>
          <a:blip r:embed="rId1"/>
          <a:stretch>
            <a:fillRect/>
          </a:stretch>
        </p:blipFill>
        <p:spPr>
          <a:xfrm>
            <a:off x="548640" y="2391404"/>
            <a:ext cx="3223260" cy="2258073"/>
          </a:xfrm>
          <a:prstGeom prst="rect">
            <a:avLst/>
          </a:prstGeom>
        </p:spPr>
      </p:pic>
      <p:sp>
        <p:nvSpPr>
          <p:cNvPr id="6" name="Shape 3"/>
          <p:cNvSpPr/>
          <p:nvPr/>
        </p:nvSpPr>
        <p:spPr>
          <a:xfrm>
            <a:off x="3936492" y="2141163"/>
            <a:ext cx="3351276" cy="2758554"/>
          </a:xfrm>
          <a:prstGeom prst="roundRect">
            <a:avLst>
              <a:gd name="adj" fmla="val 1989"/>
            </a:avLst>
          </a:prstGeom>
          <a:solidFill>
            <a:srgbClr val="FFFFFF"/>
          </a:solidFill>
          <a:ln w="9525">
            <a:solidFill>
              <a:srgbClr val="DCE3E9"/>
            </a:solidFill>
            <a:prstDash val="solid"/>
          </a:ln>
          <a:effectLst>
            <a:outerShdw sx="100000" sy="100000" kx="0" ky="0" algn="bl" rotWithShape="0" blurRad="127000" dist="38100" dir="5400000">
              <a:srgbClr val="0B2137">
                <a:alpha val="18000"/>
              </a:srgbClr>
            </a:outerShdw>
          </a:effectLst>
        </p:spPr>
      </p:sp>
      <p:pic>
        <p:nvPicPr>
          <p:cNvPr id="7" name="Image 1" descr="Simulação pedagógica ATC, imagem editada por IA (não é uma captura oficial do Windows). Definições › Contas › Opções de início de sessão.">    </p:cNvPr>
          <p:cNvPicPr>
            <a:picLocks noChangeAspect="1"/>
          </p:cNvPicPr>
          <p:nvPr/>
        </p:nvPicPr>
        <p:blipFill>
          <a:blip r:embed="rId2"/>
          <a:stretch>
            <a:fillRect/>
          </a:stretch>
        </p:blipFill>
        <p:spPr>
          <a:xfrm>
            <a:off x="4000500" y="2205171"/>
            <a:ext cx="3223260" cy="2630538"/>
          </a:xfrm>
          <a:prstGeom prst="rect">
            <a:avLst/>
          </a:prstGeom>
        </p:spPr>
      </p:pic>
      <p:sp>
        <p:nvSpPr>
          <p:cNvPr id="8" name="Text 4"/>
          <p:cNvSpPr txBox="1"/>
          <p:nvPr/>
        </p:nvSpPr>
        <p:spPr>
          <a:xfrm>
            <a:off x="548640" y="5806440"/>
            <a:ext cx="6675120" cy="384048"/>
          </a:xfrm>
          <a:prstGeom prst="rect">
            <a:avLst/>
          </a:prstGeom>
          <a:noFill/>
          <a:ln/>
        </p:spPr>
        <p:txBody>
          <a:bodyPr wrap="square" lIns="0" tIns="0" rIns="0" bIns="0" rtlCol="0" anchor="t"/>
          <a:lstStyle/>
          <a:p>
            <a:pPr indent="0" marL="0">
              <a:buNone/>
            </a:pPr>
            <a:r>
              <a:rPr lang="en-US" sz="1000" i="1" dirty="0">
                <a:solidFill>
                  <a:schemeClr val="accent4"/>
                </a:solidFill>
              </a:rPr>
              <a:t>Simulação pedagógica ATC, imagem editada por IA (não é uma captura oficial do Windows). Ecrã de início de sessão do Windows 11 com o nome do…</a:t>
            </a:r>
            <a:endParaRPr lang="en-US" sz="1000" dirty="0"/>
          </a:p>
        </p:txBody>
      </p:sp>
      <p:sp>
        <p:nvSpPr>
          <p:cNvPr id="9" name="Text 5"/>
          <p:cNvSpPr txBox="1"/>
          <p:nvPr/>
        </p:nvSpPr>
        <p:spPr>
          <a:xfrm>
            <a:off x="7589520" y="1325880"/>
            <a:ext cx="4069080" cy="1068832"/>
          </a:xfrm>
          <a:prstGeom prst="rect">
            <a:avLst/>
          </a:prstGeom>
          <a:noFill/>
          <a:ln/>
        </p:spPr>
        <p:txBody>
          <a:bodyPr wrap="square" lIns="0" tIns="0" rIns="0" bIns="0" rtlCol="0" anchor="t"/>
          <a:lstStyle/>
          <a:p>
            <a:pPr indent="0" marL="0">
              <a:buNone/>
            </a:pPr>
            <a:r>
              <a:rPr lang="en-US" sz="1600" dirty="0">
                <a:solidFill>
                  <a:schemeClr val="tx1"/>
                </a:solidFill>
              </a:rPr>
              <a:t>Quando liga o computador, o Windows mostra primeiro o </a:t>
            </a:r>
            <a:pPr indent="0" marL="0">
              <a:buNone/>
            </a:pPr>
            <a:r>
              <a:rPr lang="en-US" sz="1600" b="1" dirty="0">
                <a:solidFill>
                  <a:schemeClr val="tx1"/>
                </a:solidFill>
              </a:rPr>
              <a:t>ecrã de bloqueio</a:t>
            </a:r>
            <a:pPr indent="0" marL="0">
              <a:buNone/>
            </a:pPr>
            <a:r>
              <a:rPr lang="en-US" sz="1600" dirty="0">
                <a:solidFill>
                  <a:schemeClr val="tx1"/>
                </a:solidFill>
              </a:rPr>
              <a:t>, com a hora e a data. Para entrar, siga estes passos:</a:t>
            </a:r>
            <a:endParaRPr lang="en-US" sz="1600" dirty="0"/>
          </a:p>
        </p:txBody>
      </p:sp>
      <p:sp>
        <p:nvSpPr>
          <p:cNvPr id="10" name="Cartão de dica"/>
          <p:cNvSpPr/>
          <p:nvPr/>
        </p:nvSpPr>
        <p:spPr>
          <a:xfrm>
            <a:off x="7589520" y="4768342"/>
            <a:ext cx="4069080" cy="1403858"/>
          </a:xfrm>
          <a:prstGeom prst="roundRect">
            <a:avLst>
              <a:gd name="adj" fmla="val 7816"/>
            </a:avLst>
          </a:prstGeom>
          <a:solidFill>
            <a:srgbClr val="FBEDE6"/>
          </a:solidFill>
          <a:ln w="9525">
            <a:solidFill>
              <a:srgbClr val="F0C7B4"/>
            </a:solidFill>
            <a:prstDash val="solid"/>
          </a:ln>
        </p:spPr>
      </p:sp>
      <p:pic>
        <p:nvPicPr>
          <p:cNvPr id="11" name="Image 2" descr="Helena, guia virtual ATC">    </p:cNvPr>
          <p:cNvPicPr>
            <a:picLocks noChangeAspect="1"/>
          </p:cNvPicPr>
          <p:nvPr/>
        </p:nvPicPr>
        <p:blipFill>
          <a:blip r:embed="rId3"/>
          <a:stretch>
            <a:fillRect/>
          </a:stretch>
        </p:blipFill>
        <p:spPr>
          <a:xfrm>
            <a:off x="7772400" y="5081651"/>
            <a:ext cx="777240" cy="777240"/>
          </a:xfrm>
          <a:prstGeom prst="rect">
            <a:avLst/>
          </a:prstGeom>
        </p:spPr>
      </p:pic>
      <p:sp>
        <p:nvSpPr>
          <p:cNvPr id="12" name="Text 7"/>
          <p:cNvSpPr txBox="1"/>
          <p:nvPr/>
        </p:nvSpPr>
        <p:spPr>
          <a:xfrm>
            <a:off x="8714232" y="4841494"/>
            <a:ext cx="2788920" cy="1257554"/>
          </a:xfrm>
          <a:prstGeom prst="rect">
            <a:avLst/>
          </a:prstGeom>
          <a:noFill/>
          <a:ln/>
        </p:spPr>
        <p:txBody>
          <a:bodyPr wrap="square" lIns="0" tIns="0" rIns="0" bIns="0" rtlCol="0" anchor="ctr"/>
          <a:lstStyle/>
          <a:p>
            <a:pPr indent="0" marL="0">
              <a:spcAft>
                <a:spcPts val="200"/>
              </a:spcAft>
              <a:buNone/>
            </a:pPr>
            <a:r>
              <a:rPr lang="en-US" sz="1300" b="1" dirty="0">
                <a:solidFill>
                  <a:schemeClr val="accent6"/>
                </a:solidFill>
              </a:rPr>
              <a:t>Atenção</a:t>
            </a:r>
            <a:endParaRPr lang="en-US" sz="1300" dirty="0"/>
          </a:p>
          <a:p>
            <a:pPr indent="0" marL="0">
              <a:spcAft>
                <a:spcPts val="200"/>
              </a:spcAft>
              <a:buNone/>
            </a:pPr>
            <a:r>
              <a:rPr lang="en-US" sz="1300" dirty="0">
                <a:solidFill>
                  <a:schemeClr val="tx1"/>
                </a:solidFill>
              </a:rPr>
              <a:t>Nunca partilhe o seu PIN ou a sua palavra-passe. Se alguém a souber, altere-a em Definições &gt; Contas &gt; Opções de início de sessão.</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146304"/>
            <a:ext cx="9601200" cy="219456"/>
          </a:xfrm>
          <a:prstGeom prst="rect">
            <a:avLst/>
          </a:prstGeom>
          <a:noFill/>
          <a:ln/>
        </p:spPr>
        <p:txBody>
          <a:bodyPr wrap="square" lIns="0" tIns="0" rIns="0" bIns="0" rtlCol="0" anchor="ctr"/>
          <a:lstStyle/>
          <a:p>
            <a:pPr indent="0" marL="0">
              <a:buNone/>
            </a:pPr>
            <a:r>
              <a:rPr lang="en-US" sz="1000" b="1" spc="250" kern="0" dirty="0">
                <a:solidFill>
                  <a:schemeClr val="accent2"/>
                </a:solidFill>
              </a:rPr>
              <a:t>MÓDULO 1 · TEMA 3 DE 8</a:t>
            </a:r>
            <a:endParaRPr lang="en-US" sz="1000" dirty="0"/>
          </a:p>
        </p:txBody>
      </p:sp>
      <p:sp>
        <p:nvSpPr>
          <p:cNvPr id="3" name="Text 1"/>
          <p:cNvSpPr/>
          <p:nvPr>
            <p:ph idx="101" type="title" hasCustomPrompt="1"/>
          </p:nvPr>
        </p:nvSpPr>
        <p:spPr>
          <a:xfrm>
            <a:off x="548640" y="384048"/>
            <a:ext cx="10241280" cy="749808"/>
          </a:xfrm>
          <a:prstGeom prst="rect">
            <a:avLst/>
          </a:prstGeom>
          <a:noFill/>
          <a:ln/>
        </p:spPr>
        <p:txBody>
          <a:bodyPr wrap="square" lIns="0" tIns="0" rIns="0" bIns="0" rtlCol="0" anchor="ctr"/>
          <a:lstStyle/>
          <a:p>
            <a:pPr algn="l" indent="0" marL="0">
              <a:buNone/>
            </a:pPr>
            <a:r>
              <a:rPr lang="en-US" sz="2900" b="1" dirty="0">
                <a:solidFill>
                  <a:schemeClr val="tx2"/>
                </a:solidFill>
                <a:latin typeface="Cambria" pitchFamily="34" charset="0"/>
                <a:ea typeface="Cambria" pitchFamily="34" charset="-122"/>
                <a:cs typeface="Cambria" pitchFamily="34" charset="-120"/>
              </a:rPr>
              <a:t>1.3 O ambiente de trabalho</a:t>
            </a:r>
            <a:endParaRPr lang="en-US" sz="2900" dirty="0"/>
          </a:p>
        </p:txBody>
      </p:sp>
      <p:sp>
        <p:nvSpPr>
          <p:cNvPr id="4" name="Shape 2"/>
          <p:cNvSpPr/>
          <p:nvPr/>
        </p:nvSpPr>
        <p:spPr>
          <a:xfrm>
            <a:off x="2867321" y="1261872"/>
            <a:ext cx="6426878" cy="2231136"/>
          </a:xfrm>
          <a:prstGeom prst="roundRect">
            <a:avLst>
              <a:gd name="adj" fmla="val 2459"/>
            </a:avLst>
          </a:prstGeom>
          <a:solidFill>
            <a:srgbClr val="FFFFFF"/>
          </a:solidFill>
          <a:ln w="9525">
            <a:solidFill>
              <a:srgbClr val="DCE3E9"/>
            </a:solidFill>
            <a:prstDash val="solid"/>
          </a:ln>
          <a:effectLst>
            <a:outerShdw sx="100000" sy="100000" kx="0" ky="0" algn="bl" rotWithShape="0" blurRad="127000" dist="38100" dir="5400000">
              <a:srgbClr val="0B2137">
                <a:alpha val="18000"/>
              </a:srgbClr>
            </a:outerShdw>
          </a:effectLst>
        </p:spPr>
      </p:sp>
      <p:pic>
        <p:nvPicPr>
          <p:cNvPr id="5" name="Image 0" descr="Simulação pedagógica ATC, imagem editada por IA (não é uma captura oficial do Windows). As partes da barra de tarefas, numeradas de 1 a 6.">    </p:cNvPr>
          <p:cNvPicPr>
            <a:picLocks noChangeAspect="1"/>
          </p:cNvPicPr>
          <p:nvPr/>
        </p:nvPicPr>
        <p:blipFill>
          <a:blip r:embed="rId1"/>
          <a:stretch>
            <a:fillRect/>
          </a:stretch>
        </p:blipFill>
        <p:spPr>
          <a:xfrm>
            <a:off x="2931329" y="1325880"/>
            <a:ext cx="6298862" cy="2103120"/>
          </a:xfrm>
          <a:prstGeom prst="rect">
            <a:avLst/>
          </a:prstGeom>
        </p:spPr>
      </p:pic>
      <p:sp>
        <p:nvSpPr>
          <p:cNvPr id="6" name="Text 3"/>
          <p:cNvSpPr txBox="1"/>
          <p:nvPr/>
        </p:nvSpPr>
        <p:spPr>
          <a:xfrm>
            <a:off x="548640" y="3703320"/>
            <a:ext cx="6766560" cy="559308"/>
          </a:xfrm>
          <a:prstGeom prst="rect">
            <a:avLst/>
          </a:prstGeom>
          <a:noFill/>
          <a:ln/>
        </p:spPr>
        <p:txBody>
          <a:bodyPr wrap="square" lIns="0" tIns="0" rIns="0" bIns="0" rtlCol="0" anchor="t"/>
          <a:lstStyle/>
          <a:p>
            <a:pPr indent="0" marL="0">
              <a:buNone/>
            </a:pPr>
            <a:r>
              <a:rPr lang="en-US" sz="1500" dirty="0">
                <a:solidFill>
                  <a:schemeClr val="tx1"/>
                </a:solidFill>
              </a:rPr>
              <a:t>Depois de iniciar sessão, vê o </a:t>
            </a:r>
            <a:pPr indent="0" marL="0">
              <a:buNone/>
            </a:pPr>
            <a:r>
              <a:rPr lang="en-US" sz="1500" b="1" dirty="0">
                <a:solidFill>
                  <a:schemeClr val="tx1"/>
                </a:solidFill>
              </a:rPr>
              <a:t>ambiente de trabalho</a:t>
            </a:r>
            <a:pPr indent="0" marL="0">
              <a:buNone/>
            </a:pPr>
            <a:r>
              <a:rPr lang="en-US" sz="1500" dirty="0">
                <a:solidFill>
                  <a:schemeClr val="tx1"/>
                </a:solidFill>
              </a:rPr>
              <a:t>. É o ponto de partida para todo o trabalho no Windows.</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4399788"/>
          <a:ext cx="6766560" cy="914400"/>
        </p:xfrm>
        <a:graphic>
          <a:graphicData uri="http://schemas.openxmlformats.org/drawingml/2006/table">
            <a:tbl>
              <a:tblPr/>
              <a:tblGrid>
                <a:gridCol w="2300630"/>
                <a:gridCol w="446593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Parte</a:t>
                      </a:r>
                      <a:endParaRPr lang="en-US" sz="12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0B213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Para que serve</a:t>
                      </a:r>
                      <a:endParaRPr lang="en-US" sz="12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0B2137"/>
                    </a:solidFill>
                  </a:tcPr>
                </a:tc>
              </a:tr>
              <a:tr h="0">
                <a:tc>
                  <a:txBody>
                    <a:bodyPr/>
                    <a:lstStyle/>
                    <a:p>
                      <a:pPr indent="0" marL="0">
                        <a:buNone/>
                      </a:pPr>
                      <a:r>
                        <a:rPr lang="en-US" sz="1200" dirty="0">
                          <a:solidFill>
                            <a:srgbClr val="1D2733"/>
                          </a:solidFill>
                          <a:latin typeface="Calibri" pitchFamily="34" charset="0"/>
                          <a:ea typeface="Calibri" pitchFamily="34" charset="-122"/>
                          <a:cs typeface="Calibri" pitchFamily="34" charset="-120"/>
                        </a:rPr>
                        <a:t>Ícones</a:t>
                      </a:r>
                      <a:endParaRPr lang="en-US" sz="12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indent="0" marL="0">
                        <a:buNone/>
                      </a:pPr>
                      <a:r>
                        <a:rPr lang="en-US" sz="1200" dirty="0">
                          <a:solidFill>
                            <a:srgbClr val="1D2733"/>
                          </a:solidFill>
                          <a:latin typeface="Calibri" pitchFamily="34" charset="0"/>
                          <a:ea typeface="Calibri" pitchFamily="34" charset="-122"/>
                          <a:cs typeface="Calibri" pitchFamily="34" charset="-120"/>
                        </a:rPr>
                        <a:t>Dão acesso rápido a programas, pastas e ficheiros. Faça duplo clique para abrir.</a:t>
                      </a:r>
                      <a:endParaRPr lang="en-US" sz="12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D2733"/>
                          </a:solidFill>
                          <a:latin typeface="Calibri" pitchFamily="34" charset="0"/>
                          <a:ea typeface="Calibri" pitchFamily="34" charset="-122"/>
                          <a:cs typeface="Calibri" pitchFamily="34" charset="-120"/>
                        </a:rPr>
                        <a:t>Barra de tarefas</a:t>
                      </a:r>
                      <a:endParaRPr lang="en-US" sz="12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2F4F7"/>
                    </a:solidFill>
                  </a:tcPr>
                </a:tc>
                <a:tc>
                  <a:txBody>
                    <a:bodyPr/>
                    <a:lstStyle/>
                    <a:p>
                      <a:pPr indent="0" marL="0">
                        <a:buNone/>
                      </a:pPr>
                      <a:r>
                        <a:rPr lang="en-US" sz="1200" dirty="0">
                          <a:solidFill>
                            <a:srgbClr val="1D2733"/>
                          </a:solidFill>
                          <a:latin typeface="Calibri" pitchFamily="34" charset="0"/>
                          <a:ea typeface="Calibri" pitchFamily="34" charset="-122"/>
                          <a:cs typeface="Calibri" pitchFamily="34" charset="-120"/>
                        </a:rPr>
                        <a:t>Mostra os programas abertos e os afixados. Fica na parte de baixo do ecrã.</a:t>
                      </a:r>
                      <a:endParaRPr lang="en-US" sz="12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2F4F7"/>
                    </a:solidFill>
                  </a:tcPr>
                </a:tc>
              </a:tr>
              <a:tr h="0">
                <a:tc>
                  <a:txBody>
                    <a:bodyPr/>
                    <a:lstStyle/>
                    <a:p>
                      <a:pPr indent="0" marL="0">
                        <a:buNone/>
                      </a:pPr>
                      <a:r>
                        <a:rPr lang="en-US" sz="1200" dirty="0">
                          <a:solidFill>
                            <a:srgbClr val="1D2733"/>
                          </a:solidFill>
                          <a:latin typeface="Calibri" pitchFamily="34" charset="0"/>
                          <a:ea typeface="Calibri" pitchFamily="34" charset="-122"/>
                          <a:cs typeface="Calibri" pitchFamily="34" charset="-120"/>
                        </a:rPr>
                        <a:t>Botão Iniciar</a:t>
                      </a:r>
                      <a:endParaRPr lang="en-US" sz="12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indent="0" marL="0">
                        <a:buNone/>
                      </a:pPr>
                      <a:r>
                        <a:rPr lang="en-US" sz="1200" dirty="0">
                          <a:solidFill>
                            <a:srgbClr val="1D2733"/>
                          </a:solidFill>
                          <a:latin typeface="Calibri" pitchFamily="34" charset="0"/>
                          <a:ea typeface="Calibri" pitchFamily="34" charset="-122"/>
                          <a:cs typeface="Calibri" pitchFamily="34" charset="-120"/>
                        </a:rPr>
                        <a:t>Abre o menu Iniciar. Tem o logótipo do Windows.</a:t>
                      </a:r>
                      <a:endParaRPr lang="en-US" sz="12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D2733"/>
                          </a:solidFill>
                          <a:latin typeface="Calibri" pitchFamily="34" charset="0"/>
                          <a:ea typeface="Calibri" pitchFamily="34" charset="-122"/>
                          <a:cs typeface="Calibri" pitchFamily="34" charset="-120"/>
                        </a:rPr>
                        <a:t>Área de notificação</a:t>
                      </a:r>
                      <a:endParaRPr lang="en-US" sz="12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2F4F7"/>
                    </a:solidFill>
                  </a:tcPr>
                </a:tc>
                <a:tc>
                  <a:txBody>
                    <a:bodyPr/>
                    <a:lstStyle/>
                    <a:p>
                      <a:pPr indent="0" marL="0">
                        <a:buNone/>
                      </a:pPr>
                      <a:r>
                        <a:rPr lang="en-US" sz="1200" dirty="0">
                          <a:solidFill>
                            <a:srgbClr val="1D2733"/>
                          </a:solidFill>
                          <a:latin typeface="Calibri" pitchFamily="34" charset="0"/>
                          <a:ea typeface="Calibri" pitchFamily="34" charset="-122"/>
                          <a:cs typeface="Calibri" pitchFamily="34" charset="-120"/>
                        </a:rPr>
                        <a:t>Mostra a hora, a data, o estado da rede e o volume do som.</a:t>
                      </a:r>
                      <a:endParaRPr lang="en-US" sz="12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2F4F7"/>
                    </a:solidFill>
                  </a:tcPr>
                </a:tc>
              </a:tr>
            </a:tbl>
          </a:graphicData>
        </a:graphic>
      </p:graphicFrame>
      <p:sp>
        <p:nvSpPr>
          <p:cNvPr id="8" name="Cartão de dica"/>
          <p:cNvSpPr/>
          <p:nvPr/>
        </p:nvSpPr>
        <p:spPr>
          <a:xfrm>
            <a:off x="7635240" y="3703320"/>
            <a:ext cx="4023360" cy="1524508"/>
          </a:xfrm>
          <a:prstGeom prst="roundRect">
            <a:avLst>
              <a:gd name="adj" fmla="val 7198"/>
            </a:avLst>
          </a:prstGeom>
          <a:solidFill>
            <a:srgbClr val="F2F4F7"/>
          </a:solidFill>
          <a:ln w="9525">
            <a:solidFill>
              <a:srgbClr val="DCE3E9"/>
            </a:solidFill>
            <a:prstDash val="solid"/>
          </a:ln>
        </p:spPr>
      </p:sp>
      <p:pic>
        <p:nvPicPr>
          <p:cNvPr id="9" name="Image 1" descr="Miguel, guia virtual ATC">    </p:cNvPr>
          <p:cNvPicPr>
            <a:picLocks noChangeAspect="1"/>
          </p:cNvPicPr>
          <p:nvPr/>
        </p:nvPicPr>
        <p:blipFill>
          <a:blip r:embed="rId2"/>
          <a:stretch>
            <a:fillRect/>
          </a:stretch>
        </p:blipFill>
        <p:spPr>
          <a:xfrm>
            <a:off x="7818120" y="4076954"/>
            <a:ext cx="777240" cy="777240"/>
          </a:xfrm>
          <a:prstGeom prst="rect">
            <a:avLst/>
          </a:prstGeom>
        </p:spPr>
      </p:pic>
      <p:sp>
        <p:nvSpPr>
          <p:cNvPr id="10" name="Text 5"/>
          <p:cNvSpPr txBox="1"/>
          <p:nvPr/>
        </p:nvSpPr>
        <p:spPr>
          <a:xfrm>
            <a:off x="8759952" y="3776472"/>
            <a:ext cx="2743200" cy="1378204"/>
          </a:xfrm>
          <a:prstGeom prst="rect">
            <a:avLst/>
          </a:prstGeom>
          <a:noFill/>
          <a:ln/>
        </p:spPr>
        <p:txBody>
          <a:bodyPr wrap="square" lIns="0" tIns="0" rIns="0" bIns="0" rtlCol="0" anchor="ctr"/>
          <a:lstStyle/>
          <a:p>
            <a:pPr indent="0" marL="0">
              <a:spcAft>
                <a:spcPts val="200"/>
              </a:spcAft>
              <a:buNone/>
            </a:pPr>
            <a:r>
              <a:rPr lang="en-US" sz="1400" b="1" dirty="0">
                <a:solidFill>
                  <a:schemeClr val="accent1"/>
                </a:solidFill>
              </a:rPr>
              <a:t>Dica do Miguel</a:t>
            </a:r>
            <a:endParaRPr lang="en-US" sz="1400" dirty="0"/>
          </a:p>
          <a:p>
            <a:pPr indent="0" marL="0">
              <a:spcAft>
                <a:spcPts val="200"/>
              </a:spcAft>
              <a:buNone/>
            </a:pPr>
            <a:r>
              <a:rPr lang="en-US" sz="1400" dirty="0">
                <a:solidFill>
                  <a:schemeClr val="tx1"/>
                </a:solidFill>
              </a:rPr>
              <a:t>Para ver o ambiente de trabalho com todas as janelas abertas, prima Windows + D. Prima de novo para voltar.</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146304"/>
            <a:ext cx="9601200" cy="219456"/>
          </a:xfrm>
          <a:prstGeom prst="rect">
            <a:avLst/>
          </a:prstGeom>
          <a:noFill/>
          <a:ln/>
        </p:spPr>
        <p:txBody>
          <a:bodyPr wrap="square" lIns="0" tIns="0" rIns="0" bIns="0" rtlCol="0" anchor="ctr"/>
          <a:lstStyle/>
          <a:p>
            <a:pPr indent="0" marL="0">
              <a:buNone/>
            </a:pPr>
            <a:r>
              <a:rPr lang="en-US" sz="1000" b="1" spc="250" kern="0" dirty="0">
                <a:solidFill>
                  <a:schemeClr val="accent2"/>
                </a:solidFill>
              </a:rPr>
              <a:t>MÓDULO 1 · TEMA 4 DE 8</a:t>
            </a:r>
            <a:endParaRPr lang="en-US" sz="1000" dirty="0"/>
          </a:p>
        </p:txBody>
      </p:sp>
      <p:sp>
        <p:nvSpPr>
          <p:cNvPr id="3" name="Text 1"/>
          <p:cNvSpPr/>
          <p:nvPr>
            <p:ph idx="101" type="title" hasCustomPrompt="1"/>
          </p:nvPr>
        </p:nvSpPr>
        <p:spPr>
          <a:xfrm>
            <a:off x="548640" y="384048"/>
            <a:ext cx="10241280" cy="749808"/>
          </a:xfrm>
          <a:prstGeom prst="rect">
            <a:avLst/>
          </a:prstGeom>
          <a:noFill/>
          <a:ln/>
        </p:spPr>
        <p:txBody>
          <a:bodyPr wrap="square" lIns="0" tIns="0" rIns="0" bIns="0" rtlCol="0" anchor="ctr"/>
          <a:lstStyle/>
          <a:p>
            <a:pPr algn="l" indent="0" marL="0">
              <a:buNone/>
            </a:pPr>
            <a:r>
              <a:rPr lang="en-US" sz="2900" b="1" dirty="0">
                <a:solidFill>
                  <a:schemeClr val="tx2"/>
                </a:solidFill>
                <a:latin typeface="Cambria" pitchFamily="34" charset="0"/>
                <a:ea typeface="Cambria" pitchFamily="34" charset="-122"/>
                <a:cs typeface="Cambria" pitchFamily="34" charset="-120"/>
              </a:rPr>
              <a:t>1.4 O menu Iniciar</a:t>
            </a:r>
            <a:endParaRPr lang="en-US" sz="2900" dirty="0"/>
          </a:p>
        </p:txBody>
      </p:sp>
      <p:sp>
        <p:nvSpPr>
          <p:cNvPr id="4" name="Shape 2"/>
          <p:cNvSpPr/>
          <p:nvPr/>
        </p:nvSpPr>
        <p:spPr>
          <a:xfrm>
            <a:off x="484632" y="1629647"/>
            <a:ext cx="3351276" cy="3781585"/>
          </a:xfrm>
          <a:prstGeom prst="roundRect">
            <a:avLst>
              <a:gd name="adj" fmla="val 1637"/>
            </a:avLst>
          </a:prstGeom>
          <a:solidFill>
            <a:srgbClr val="FFFFFF"/>
          </a:solidFill>
          <a:ln w="9525">
            <a:solidFill>
              <a:srgbClr val="DCE3E9"/>
            </a:solidFill>
            <a:prstDash val="solid"/>
          </a:ln>
          <a:effectLst>
            <a:outerShdw sx="100000" sy="100000" kx="0" ky="0" algn="bl" rotWithShape="0" blurRad="127000" dist="38100" dir="5400000">
              <a:srgbClr val="0B2137">
                <a:alpha val="18000"/>
              </a:srgbClr>
            </a:outerShdw>
          </a:effectLst>
        </p:spPr>
      </p:sp>
      <p:pic>
        <p:nvPicPr>
          <p:cNvPr id="5" name="Image 0" descr="Simulação pedagógica ATC, imagem editada por IA (não é uma captura oficial do Windows). O menu Iniciar com as suas zonas numeradas.">    </p:cNvPr>
          <p:cNvPicPr>
            <a:picLocks noChangeAspect="1"/>
          </p:cNvPicPr>
          <p:nvPr/>
        </p:nvPicPr>
        <p:blipFill>
          <a:blip r:embed="rId1"/>
          <a:stretch>
            <a:fillRect/>
          </a:stretch>
        </p:blipFill>
        <p:spPr>
          <a:xfrm>
            <a:off x="548640" y="1693655"/>
            <a:ext cx="3223260" cy="3653569"/>
          </a:xfrm>
          <a:prstGeom prst="rect">
            <a:avLst/>
          </a:prstGeom>
        </p:spPr>
      </p:pic>
      <p:sp>
        <p:nvSpPr>
          <p:cNvPr id="6" name="Shape 3"/>
          <p:cNvSpPr/>
          <p:nvPr/>
        </p:nvSpPr>
        <p:spPr>
          <a:xfrm>
            <a:off x="3936492" y="2549442"/>
            <a:ext cx="3351276" cy="1941995"/>
          </a:xfrm>
          <a:prstGeom prst="roundRect">
            <a:avLst>
              <a:gd name="adj" fmla="val 2825"/>
            </a:avLst>
          </a:prstGeom>
          <a:solidFill>
            <a:srgbClr val="FFFFFF"/>
          </a:solidFill>
          <a:ln w="9525">
            <a:solidFill>
              <a:srgbClr val="DCE3E9"/>
            </a:solidFill>
            <a:prstDash val="solid"/>
          </a:ln>
          <a:effectLst>
            <a:outerShdw sx="100000" sy="100000" kx="0" ky="0" algn="bl" rotWithShape="0" blurRad="127000" dist="38100" dir="5400000">
              <a:srgbClr val="0B2137">
                <a:alpha val="18000"/>
              </a:srgbClr>
            </a:outerShdw>
          </a:effectLst>
        </p:spPr>
      </p:sp>
      <p:pic>
        <p:nvPicPr>
          <p:cNvPr id="7" name="Image 1" descr="Simulação pedagógica ATC, imagem editada por IA (não é uma captura oficial do Windows). Pesquisa no menu Iniciar: «Bloco de notas».">    </p:cNvPr>
          <p:cNvPicPr>
            <a:picLocks noChangeAspect="1"/>
          </p:cNvPicPr>
          <p:nvPr/>
        </p:nvPicPr>
        <p:blipFill>
          <a:blip r:embed="rId2"/>
          <a:stretch>
            <a:fillRect/>
          </a:stretch>
        </p:blipFill>
        <p:spPr>
          <a:xfrm>
            <a:off x="4000500" y="2613450"/>
            <a:ext cx="3223260" cy="1813979"/>
          </a:xfrm>
          <a:prstGeom prst="rect">
            <a:avLst/>
          </a:prstGeom>
        </p:spPr>
      </p:pic>
      <p:sp>
        <p:nvSpPr>
          <p:cNvPr id="8" name="Text 4"/>
          <p:cNvSpPr txBox="1"/>
          <p:nvPr/>
        </p:nvSpPr>
        <p:spPr>
          <a:xfrm>
            <a:off x="548640" y="5806440"/>
            <a:ext cx="6675120" cy="384048"/>
          </a:xfrm>
          <a:prstGeom prst="rect">
            <a:avLst/>
          </a:prstGeom>
          <a:noFill/>
          <a:ln/>
        </p:spPr>
        <p:txBody>
          <a:bodyPr wrap="square" lIns="0" tIns="0" rIns="0" bIns="0" rtlCol="0" anchor="t"/>
          <a:lstStyle/>
          <a:p>
            <a:pPr indent="0" marL="0">
              <a:buNone/>
            </a:pPr>
            <a:r>
              <a:rPr lang="en-US" sz="1000" i="1" dirty="0">
                <a:solidFill>
                  <a:schemeClr val="accent4"/>
                </a:solidFill>
              </a:rPr>
              <a:t>Simulação pedagógica ATC, imagem editada por IA (não é uma captura oficial do Windows). O menu Iniciar com as suas zonas numeradas.</a:t>
            </a:r>
            <a:endParaRPr lang="en-US" sz="1000" dirty="0"/>
          </a:p>
        </p:txBody>
      </p:sp>
      <p:sp>
        <p:nvSpPr>
          <p:cNvPr id="9" name="Text 5"/>
          <p:cNvSpPr txBox="1"/>
          <p:nvPr/>
        </p:nvSpPr>
        <p:spPr>
          <a:xfrm>
            <a:off x="7589520" y="1325880"/>
            <a:ext cx="4069080" cy="1068832"/>
          </a:xfrm>
          <a:prstGeom prst="rect">
            <a:avLst/>
          </a:prstGeom>
          <a:noFill/>
          <a:ln/>
        </p:spPr>
        <p:txBody>
          <a:bodyPr wrap="square" lIns="0" tIns="0" rIns="0" bIns="0" rtlCol="0" anchor="t"/>
          <a:lstStyle/>
          <a:p>
            <a:pPr indent="0" marL="0">
              <a:buNone/>
            </a:pPr>
            <a:r>
              <a:rPr lang="en-US" sz="1600" dirty="0">
                <a:solidFill>
                  <a:schemeClr val="tx1"/>
                </a:solidFill>
              </a:rPr>
              <a:t>O menu Iniciar reúne as </a:t>
            </a:r>
            <a:pPr indent="0" marL="0">
              <a:buNone/>
            </a:pPr>
            <a:r>
              <a:rPr lang="en-US" sz="1600" b="1" dirty="0">
                <a:solidFill>
                  <a:schemeClr val="tx1"/>
                </a:solidFill>
              </a:rPr>
              <a:t>aplicações afixadas</a:t>
            </a:r>
            <a:pPr indent="0" marL="0">
              <a:buNone/>
            </a:pPr>
            <a:r>
              <a:rPr lang="en-US" sz="1600" dirty="0">
                <a:solidFill>
                  <a:schemeClr val="tx1"/>
                </a:solidFill>
              </a:rPr>
              <a:t>, os </a:t>
            </a:r>
            <a:pPr indent="0" marL="0">
              <a:buNone/>
            </a:pPr>
            <a:r>
              <a:rPr lang="en-US" sz="1600" b="1" dirty="0">
                <a:solidFill>
                  <a:schemeClr val="tx1"/>
                </a:solidFill>
              </a:rPr>
              <a:t>ficheiros recomendados</a:t>
            </a:r>
            <a:pPr indent="0" marL="0">
              <a:buNone/>
            </a:pPr>
            <a:r>
              <a:rPr lang="en-US" sz="1600" dirty="0">
                <a:solidFill>
                  <a:schemeClr val="tx1"/>
                </a:solidFill>
              </a:rPr>
              <a:t> (os que usou recentemente) e o </a:t>
            </a:r>
            <a:pPr indent="0" marL="0">
              <a:buNone/>
            </a:pPr>
            <a:r>
              <a:rPr lang="en-US" sz="1600" b="1" dirty="0">
                <a:solidFill>
                  <a:schemeClr val="tx1"/>
                </a:solidFill>
              </a:rPr>
              <a:t>botão de energia</a:t>
            </a:r>
            <a:pPr indent="0" marL="0">
              <a:buNone/>
            </a:pPr>
            <a:r>
              <a:rPr lang="en-US" sz="1600" dirty="0">
                <a:solidFill>
                  <a:schemeClr val="tx1"/>
                </a:solidFill>
              </a:rPr>
              <a:t>.</a:t>
            </a:r>
            <a:endParaRPr lang="en-US" sz="1600" dirty="0"/>
          </a:p>
        </p:txBody>
      </p:sp>
      <p:sp>
        <p:nvSpPr>
          <p:cNvPr id="10" name="Shape 6"/>
          <p:cNvSpPr/>
          <p:nvPr/>
        </p:nvSpPr>
        <p:spPr>
          <a:xfrm>
            <a:off x="7589520" y="2595880"/>
            <a:ext cx="347472" cy="347472"/>
          </a:xfrm>
          <a:prstGeom prst="ellipse">
            <a:avLst/>
          </a:prstGeom>
          <a:solidFill>
            <a:schemeClr val="accent1"/>
          </a:solidFill>
          <a:ln w="12700">
            <a:solidFill>
              <a:schemeClr val="accent1"/>
            </a:solidFill>
            <a:prstDash val="solid"/>
          </a:ln>
        </p:spPr>
      </p:sp>
      <p:sp>
        <p:nvSpPr>
          <p:cNvPr id="11" name="Text 7"/>
          <p:cNvSpPr txBox="1"/>
          <p:nvPr/>
        </p:nvSpPr>
        <p:spPr>
          <a:xfrm>
            <a:off x="7589520" y="2595880"/>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2" name="Text 8"/>
          <p:cNvSpPr txBox="1"/>
          <p:nvPr/>
        </p:nvSpPr>
        <p:spPr>
          <a:xfrm>
            <a:off x="8092440" y="2577592"/>
            <a:ext cx="3566160" cy="474472"/>
          </a:xfrm>
          <a:prstGeom prst="rect">
            <a:avLst/>
          </a:prstGeom>
          <a:noFill/>
          <a:ln/>
        </p:spPr>
        <p:txBody>
          <a:bodyPr wrap="square" lIns="0" tIns="0" rIns="0" bIns="0" rtlCol="0" anchor="t"/>
          <a:lstStyle/>
          <a:p>
            <a:pPr indent="0" marL="0">
              <a:buNone/>
            </a:pPr>
            <a:r>
              <a:rPr lang="en-US" sz="1400" dirty="0">
                <a:solidFill>
                  <a:schemeClr val="tx1"/>
                </a:solidFill>
              </a:rPr>
              <a:t>Clique no botão Iniciar ou prima a tecla </a:t>
            </a:r>
            <a:pPr indent="0" marL="0">
              <a:buNone/>
            </a:pPr>
            <a:r>
              <a:rPr lang="en-US" sz="1400" b="1" dirty="0">
                <a:solidFill>
                  <a:schemeClr val="tx1"/>
                </a:solidFill>
              </a:rPr>
              <a:t>Windows</a:t>
            </a:r>
            <a:pPr indent="0" marL="0">
              <a:buNone/>
            </a:pPr>
            <a:r>
              <a:rPr lang="en-US" sz="1400" dirty="0">
                <a:solidFill>
                  <a:schemeClr val="tx1"/>
                </a:solidFill>
              </a:rPr>
              <a:t> do teclado.</a:t>
            </a:r>
            <a:endParaRPr lang="en-US" sz="1400" dirty="0"/>
          </a:p>
        </p:txBody>
      </p:sp>
      <p:sp>
        <p:nvSpPr>
          <p:cNvPr id="13" name="Shape 9"/>
          <p:cNvSpPr/>
          <p:nvPr/>
        </p:nvSpPr>
        <p:spPr>
          <a:xfrm>
            <a:off x="7589520" y="3198368"/>
            <a:ext cx="347472" cy="347472"/>
          </a:xfrm>
          <a:prstGeom prst="ellipse">
            <a:avLst/>
          </a:prstGeom>
          <a:solidFill>
            <a:schemeClr val="accent1"/>
          </a:solidFill>
          <a:ln w="12700">
            <a:solidFill>
              <a:schemeClr val="accent1"/>
            </a:solidFill>
            <a:prstDash val="solid"/>
          </a:ln>
        </p:spPr>
      </p:sp>
      <p:sp>
        <p:nvSpPr>
          <p:cNvPr id="14" name="Text 10"/>
          <p:cNvSpPr txBox="1"/>
          <p:nvPr/>
        </p:nvSpPr>
        <p:spPr>
          <a:xfrm>
            <a:off x="7589520" y="319836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5" name="Text 11"/>
          <p:cNvSpPr txBox="1"/>
          <p:nvPr/>
        </p:nvSpPr>
        <p:spPr>
          <a:xfrm>
            <a:off x="8092440" y="3180080"/>
            <a:ext cx="3566160" cy="684276"/>
          </a:xfrm>
          <a:prstGeom prst="rect">
            <a:avLst/>
          </a:prstGeom>
          <a:noFill/>
          <a:ln/>
        </p:spPr>
        <p:txBody>
          <a:bodyPr wrap="square" lIns="0" tIns="0" rIns="0" bIns="0" rtlCol="0" anchor="t"/>
          <a:lstStyle/>
          <a:p>
            <a:pPr indent="0" marL="0">
              <a:buNone/>
            </a:pPr>
            <a:r>
              <a:rPr lang="en-US" sz="1400" dirty="0">
                <a:solidFill>
                  <a:schemeClr val="tx1"/>
                </a:solidFill>
              </a:rPr>
              <a:t>Para procurar um programa, comece a escrever o nome, por exemplo </a:t>
            </a:r>
            <a:pPr indent="0" marL="0">
              <a:buNone/>
            </a:pPr>
            <a:r>
              <a:rPr lang="en-US" sz="1400" b="1" dirty="0">
                <a:solidFill>
                  <a:schemeClr val="tx1"/>
                </a:solidFill>
              </a:rPr>
              <a:t>Word</a:t>
            </a:r>
            <a:pPr indent="0" marL="0">
              <a:buNone/>
            </a:pPr>
            <a:r>
              <a:rPr lang="en-US" sz="1400" dirty="0">
                <a:solidFill>
                  <a:schemeClr val="tx1"/>
                </a:solidFill>
              </a:rPr>
              <a:t>.</a:t>
            </a:r>
            <a:endParaRPr lang="en-US" sz="1400" dirty="0"/>
          </a:p>
        </p:txBody>
      </p:sp>
      <p:sp>
        <p:nvSpPr>
          <p:cNvPr id="16" name="Shape 12"/>
          <p:cNvSpPr/>
          <p:nvPr/>
        </p:nvSpPr>
        <p:spPr>
          <a:xfrm>
            <a:off x="7589520" y="4010660"/>
            <a:ext cx="347472" cy="347472"/>
          </a:xfrm>
          <a:prstGeom prst="ellipse">
            <a:avLst/>
          </a:prstGeom>
          <a:solidFill>
            <a:schemeClr val="accent1"/>
          </a:solidFill>
          <a:ln w="12700">
            <a:solidFill>
              <a:schemeClr val="accent1"/>
            </a:solidFill>
            <a:prstDash val="solid"/>
          </a:ln>
        </p:spPr>
      </p:sp>
      <p:sp>
        <p:nvSpPr>
          <p:cNvPr id="17" name="Text 13"/>
          <p:cNvSpPr txBox="1"/>
          <p:nvPr/>
        </p:nvSpPr>
        <p:spPr>
          <a:xfrm>
            <a:off x="7589520" y="4010660"/>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8" name="Text 14"/>
          <p:cNvSpPr txBox="1"/>
          <p:nvPr/>
        </p:nvSpPr>
        <p:spPr>
          <a:xfrm>
            <a:off x="8092440" y="3992372"/>
            <a:ext cx="3566160" cy="474472"/>
          </a:xfrm>
          <a:prstGeom prst="rect">
            <a:avLst/>
          </a:prstGeom>
          <a:noFill/>
          <a:ln/>
        </p:spPr>
        <p:txBody>
          <a:bodyPr wrap="square" lIns="0" tIns="0" rIns="0" bIns="0" rtlCol="0" anchor="t"/>
          <a:lstStyle/>
          <a:p>
            <a:pPr indent="0" marL="0">
              <a:buNone/>
            </a:pPr>
            <a:r>
              <a:rPr lang="en-US" sz="1400" dirty="0">
                <a:solidFill>
                  <a:schemeClr val="tx1"/>
                </a:solidFill>
              </a:rPr>
              <a:t>Clique no resultado em </a:t>
            </a:r>
            <a:pPr indent="0" marL="0">
              <a:buNone/>
            </a:pPr>
            <a:r>
              <a:rPr lang="en-US" sz="1400" b="1" dirty="0">
                <a:solidFill>
                  <a:schemeClr val="tx1"/>
                </a:solidFill>
              </a:rPr>
              <a:t>Melhor correspondência</a:t>
            </a:r>
            <a:pPr indent="0" marL="0">
              <a:buNone/>
            </a:pPr>
            <a:r>
              <a:rPr lang="en-US" sz="1400" dirty="0">
                <a:solidFill>
                  <a:schemeClr val="tx1"/>
                </a:solidFill>
              </a:rPr>
              <a:t> para o abrir.</a:t>
            </a:r>
            <a:endParaRPr lang="en-US" sz="1400" dirty="0"/>
          </a:p>
        </p:txBody>
      </p:sp>
      <p:sp>
        <p:nvSpPr>
          <p:cNvPr id="19" name="Cartão de dica"/>
          <p:cNvSpPr/>
          <p:nvPr/>
        </p:nvSpPr>
        <p:spPr>
          <a:xfrm>
            <a:off x="7589520" y="4963160"/>
            <a:ext cx="4069080" cy="1209040"/>
          </a:xfrm>
          <a:prstGeom prst="roundRect">
            <a:avLst>
              <a:gd name="adj" fmla="val 9076"/>
            </a:avLst>
          </a:prstGeom>
          <a:solidFill>
            <a:srgbClr val="F2F4F7"/>
          </a:solidFill>
          <a:ln w="9525">
            <a:solidFill>
              <a:srgbClr val="DCE3E9"/>
            </a:solidFill>
            <a:prstDash val="solid"/>
          </a:ln>
        </p:spPr>
      </p:sp>
      <p:pic>
        <p:nvPicPr>
          <p:cNvPr id="20" name="Image 2" descr="Helena, guia virtual ATC">    </p:cNvPr>
          <p:cNvPicPr>
            <a:picLocks noChangeAspect="1"/>
          </p:cNvPicPr>
          <p:nvPr/>
        </p:nvPicPr>
        <p:blipFill>
          <a:blip r:embed="rId3"/>
          <a:stretch>
            <a:fillRect/>
          </a:stretch>
        </p:blipFill>
        <p:spPr>
          <a:xfrm>
            <a:off x="7772400" y="5179060"/>
            <a:ext cx="777240" cy="777240"/>
          </a:xfrm>
          <a:prstGeom prst="rect">
            <a:avLst/>
          </a:prstGeom>
        </p:spPr>
      </p:pic>
      <p:sp>
        <p:nvSpPr>
          <p:cNvPr id="21" name="Text 16"/>
          <p:cNvSpPr txBox="1"/>
          <p:nvPr/>
        </p:nvSpPr>
        <p:spPr>
          <a:xfrm>
            <a:off x="8714232" y="5036312"/>
            <a:ext cx="2788920" cy="1062736"/>
          </a:xfrm>
          <a:prstGeom prst="rect">
            <a:avLst/>
          </a:prstGeom>
          <a:noFill/>
          <a:ln/>
        </p:spPr>
        <p:txBody>
          <a:bodyPr wrap="square" lIns="0" tIns="0" rIns="0" bIns="0" rtlCol="0" anchor="ctr"/>
          <a:lstStyle/>
          <a:p>
            <a:pPr indent="0" marL="0">
              <a:spcAft>
                <a:spcPts val="200"/>
              </a:spcAft>
              <a:buNone/>
            </a:pPr>
            <a:r>
              <a:rPr lang="en-US" sz="1300" b="1" dirty="0">
                <a:solidFill>
                  <a:schemeClr val="accent1"/>
                </a:solidFill>
              </a:rPr>
              <a:t>Dica da Helena</a:t>
            </a:r>
            <a:endParaRPr lang="en-US" sz="1300" dirty="0"/>
          </a:p>
          <a:p>
            <a:pPr indent="0" marL="0">
              <a:spcAft>
                <a:spcPts val="200"/>
              </a:spcAft>
              <a:buNone/>
            </a:pPr>
            <a:r>
              <a:rPr lang="en-US" sz="1300" dirty="0">
                <a:solidFill>
                  <a:schemeClr val="tx1"/>
                </a:solidFill>
              </a:rPr>
              <a:t>Não precisa de clicar na caixa de pesquisa: com o menu Iniciar aberto, basta começar a escrever.</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146304"/>
            <a:ext cx="9601200" cy="219456"/>
          </a:xfrm>
          <a:prstGeom prst="rect">
            <a:avLst/>
          </a:prstGeom>
          <a:noFill/>
          <a:ln/>
        </p:spPr>
        <p:txBody>
          <a:bodyPr wrap="square" lIns="0" tIns="0" rIns="0" bIns="0" rtlCol="0" anchor="ctr"/>
          <a:lstStyle/>
          <a:p>
            <a:pPr indent="0" marL="0">
              <a:buNone/>
            </a:pPr>
            <a:r>
              <a:rPr lang="en-US" sz="1000" b="1" spc="250" kern="0" dirty="0">
                <a:solidFill>
                  <a:schemeClr val="accent2"/>
                </a:solidFill>
              </a:rPr>
              <a:t>MÓDULO 1 · TEMA 5 DE 8</a:t>
            </a:r>
            <a:endParaRPr lang="en-US" sz="1000" dirty="0"/>
          </a:p>
        </p:txBody>
      </p:sp>
      <p:sp>
        <p:nvSpPr>
          <p:cNvPr id="3" name="Text 1"/>
          <p:cNvSpPr/>
          <p:nvPr>
            <p:ph idx="101" type="title" hasCustomPrompt="1"/>
          </p:nvPr>
        </p:nvSpPr>
        <p:spPr>
          <a:xfrm>
            <a:off x="548640" y="384048"/>
            <a:ext cx="10241280" cy="749808"/>
          </a:xfrm>
          <a:prstGeom prst="rect">
            <a:avLst/>
          </a:prstGeom>
          <a:noFill/>
          <a:ln/>
        </p:spPr>
        <p:txBody>
          <a:bodyPr wrap="square" lIns="0" tIns="0" rIns="0" bIns="0" rtlCol="0" anchor="ctr"/>
          <a:lstStyle/>
          <a:p>
            <a:pPr algn="l" indent="0" marL="0">
              <a:buNone/>
            </a:pPr>
            <a:r>
              <a:rPr lang="en-US" sz="2900" b="1" dirty="0">
                <a:solidFill>
                  <a:schemeClr val="tx2"/>
                </a:solidFill>
                <a:latin typeface="Cambria" pitchFamily="34" charset="0"/>
                <a:ea typeface="Cambria" pitchFamily="34" charset="-122"/>
                <a:cs typeface="Cambria" pitchFamily="34" charset="-120"/>
              </a:rPr>
              <a:t>1.5 Trabalhar com janelas</a:t>
            </a:r>
            <a:endParaRPr lang="en-US" sz="2900" dirty="0"/>
          </a:p>
        </p:txBody>
      </p:sp>
      <p:sp>
        <p:nvSpPr>
          <p:cNvPr id="4" name="Shape 2"/>
          <p:cNvSpPr/>
          <p:nvPr/>
        </p:nvSpPr>
        <p:spPr>
          <a:xfrm>
            <a:off x="484632" y="2382012"/>
            <a:ext cx="3351276" cy="2276856"/>
          </a:xfrm>
          <a:prstGeom prst="roundRect">
            <a:avLst>
              <a:gd name="adj" fmla="val 2410"/>
            </a:avLst>
          </a:prstGeom>
          <a:solidFill>
            <a:srgbClr val="FFFFFF"/>
          </a:solidFill>
          <a:ln w="9525">
            <a:solidFill>
              <a:srgbClr val="DCE3E9"/>
            </a:solidFill>
            <a:prstDash val="solid"/>
          </a:ln>
          <a:effectLst>
            <a:outerShdw sx="100000" sy="100000" kx="0" ky="0" algn="bl" rotWithShape="0" blurRad="127000" dist="38100" dir="5400000">
              <a:srgbClr val="0B2137">
                <a:alpha val="18000"/>
              </a:srgbClr>
            </a:outerShdw>
          </a:effectLst>
        </p:spPr>
      </p:sp>
      <p:pic>
        <p:nvPicPr>
          <p:cNvPr id="5" name="Image 0" descr="Simulação pedagógica ATC, imagem editada por IA (não é uma captura oficial do Windows). Bloco de notas com um documento de exemplo.">    </p:cNvPr>
          <p:cNvPicPr>
            <a:picLocks noChangeAspect="1"/>
          </p:cNvPicPr>
          <p:nvPr/>
        </p:nvPicPr>
        <p:blipFill>
          <a:blip r:embed="rId1"/>
          <a:stretch>
            <a:fillRect/>
          </a:stretch>
        </p:blipFill>
        <p:spPr>
          <a:xfrm>
            <a:off x="548640" y="2446020"/>
            <a:ext cx="3223260" cy="2148840"/>
          </a:xfrm>
          <a:prstGeom prst="rect">
            <a:avLst/>
          </a:prstGeom>
        </p:spPr>
      </p:pic>
      <p:sp>
        <p:nvSpPr>
          <p:cNvPr id="6" name="Shape 3"/>
          <p:cNvSpPr/>
          <p:nvPr/>
        </p:nvSpPr>
        <p:spPr>
          <a:xfrm>
            <a:off x="3936492" y="2305907"/>
            <a:ext cx="3351276" cy="2429066"/>
          </a:xfrm>
          <a:prstGeom prst="roundRect">
            <a:avLst>
              <a:gd name="adj" fmla="val 2259"/>
            </a:avLst>
          </a:prstGeom>
          <a:solidFill>
            <a:srgbClr val="FFFFFF"/>
          </a:solidFill>
          <a:ln w="9525">
            <a:solidFill>
              <a:srgbClr val="DCE3E9"/>
            </a:solidFill>
            <a:prstDash val="solid"/>
          </a:ln>
          <a:effectLst>
            <a:outerShdw sx="100000" sy="100000" kx="0" ky="0" algn="bl" rotWithShape="0" blurRad="127000" dist="38100" dir="5400000">
              <a:srgbClr val="0B2137">
                <a:alpha val="18000"/>
              </a:srgbClr>
            </a:outerShdw>
          </a:effectLst>
        </p:spPr>
      </p:sp>
      <p:pic>
        <p:nvPicPr>
          <p:cNvPr id="7" name="Image 1" descr="Simulação pedagógica ATC, imagem editada por IA (não é uma captura oficial do Windows). Botões da janela e opções de organização lado a lado.">    </p:cNvPr>
          <p:cNvPicPr>
            <a:picLocks noChangeAspect="1"/>
          </p:cNvPicPr>
          <p:nvPr/>
        </p:nvPicPr>
        <p:blipFill>
          <a:blip r:embed="rId2"/>
          <a:stretch>
            <a:fillRect/>
          </a:stretch>
        </p:blipFill>
        <p:spPr>
          <a:xfrm>
            <a:off x="4000500" y="2369915"/>
            <a:ext cx="3223260" cy="2301049"/>
          </a:xfrm>
          <a:prstGeom prst="rect">
            <a:avLst/>
          </a:prstGeom>
        </p:spPr>
      </p:pic>
      <p:sp>
        <p:nvSpPr>
          <p:cNvPr id="8" name="Text 4"/>
          <p:cNvSpPr txBox="1"/>
          <p:nvPr/>
        </p:nvSpPr>
        <p:spPr>
          <a:xfrm>
            <a:off x="548640" y="5806440"/>
            <a:ext cx="6675120" cy="384048"/>
          </a:xfrm>
          <a:prstGeom prst="rect">
            <a:avLst/>
          </a:prstGeom>
          <a:noFill/>
          <a:ln/>
        </p:spPr>
        <p:txBody>
          <a:bodyPr wrap="square" lIns="0" tIns="0" rIns="0" bIns="0" rtlCol="0" anchor="t"/>
          <a:lstStyle/>
          <a:p>
            <a:pPr indent="0" marL="0">
              <a:buNone/>
            </a:pPr>
            <a:r>
              <a:rPr lang="en-US" sz="1000" i="1" dirty="0">
                <a:solidFill>
                  <a:schemeClr val="accent4"/>
                </a:solidFill>
              </a:rPr>
              <a:t>Simulação pedagógica ATC, imagem editada por IA (não é uma captura oficial do Windows). Bloco de notas com um documento de exemplo.</a:t>
            </a:r>
            <a:endParaRPr lang="en-US" sz="1000" dirty="0"/>
          </a:p>
        </p:txBody>
      </p:sp>
      <p:sp>
        <p:nvSpPr>
          <p:cNvPr id="9" name="Text 5"/>
          <p:cNvSpPr txBox="1"/>
          <p:nvPr/>
        </p:nvSpPr>
        <p:spPr>
          <a:xfrm>
            <a:off x="7589520" y="1325880"/>
            <a:ext cx="4069080" cy="829056"/>
          </a:xfrm>
          <a:prstGeom prst="rect">
            <a:avLst/>
          </a:prstGeom>
          <a:noFill/>
          <a:ln/>
        </p:spPr>
        <p:txBody>
          <a:bodyPr wrap="square" lIns="0" tIns="0" rIns="0" bIns="0" rtlCol="0" anchor="t"/>
          <a:lstStyle/>
          <a:p>
            <a:pPr indent="0" marL="0">
              <a:buNone/>
            </a:pPr>
            <a:r>
              <a:rPr lang="en-US" sz="1600" dirty="0">
                <a:solidFill>
                  <a:schemeClr val="tx1"/>
                </a:solidFill>
              </a:rPr>
              <a:t>Cada programa abre numa </a:t>
            </a:r>
            <a:pPr indent="0" marL="0">
              <a:buNone/>
            </a:pPr>
            <a:r>
              <a:rPr lang="en-US" sz="1600" b="1" dirty="0">
                <a:solidFill>
                  <a:schemeClr val="tx1"/>
                </a:solidFill>
              </a:rPr>
              <a:t>janela</a:t>
            </a:r>
            <a:pPr indent="0" marL="0">
              <a:buNone/>
            </a:pPr>
            <a:r>
              <a:rPr lang="en-US" sz="1600" dirty="0">
                <a:solidFill>
                  <a:schemeClr val="tx1"/>
                </a:solidFill>
              </a:rPr>
              <a:t>. No canto superior direito de todas as janelas há três botões:</a:t>
            </a:r>
            <a:endParaRPr lang="en-US" sz="1600" dirty="0"/>
          </a:p>
        </p:txBody>
      </p:sp>
      <p:sp>
        <p:nvSpPr>
          <p:cNvPr id="10" name="Text 6"/>
          <p:cNvSpPr txBox="1"/>
          <p:nvPr/>
        </p:nvSpPr>
        <p:spPr>
          <a:xfrm>
            <a:off x="7589520" y="2337816"/>
            <a:ext cx="4069080" cy="2599944"/>
          </a:xfrm>
          <a:prstGeom prst="rect">
            <a:avLst/>
          </a:prstGeom>
          <a:noFill/>
          <a:ln/>
        </p:spPr>
        <p:txBody>
          <a:bodyPr wrap="square" lIns="0" tIns="0" rIns="0" bIns="0" rtlCol="0" anchor="t"/>
          <a:lstStyle/>
          <a:p>
            <a:pPr marL="342900" indent="-342900">
              <a:spcAft>
                <a:spcPts val="600"/>
              </a:spcAft>
              <a:buSzPct val="100000"/>
              <a:buChar char="•"/>
            </a:pPr>
            <a:r>
              <a:rPr lang="en-US" sz="1300" b="1" dirty="0">
                <a:solidFill>
                  <a:schemeClr val="tx1"/>
                </a:solidFill>
              </a:rPr>
              <a:t>Minimizar</a:t>
            </a:r>
            <a:pPr indent="0" marL="0">
              <a:spcAft>
                <a:spcPts val="600"/>
              </a:spcAft>
              <a:buNone/>
            </a:pPr>
            <a:r>
              <a:rPr lang="en-US" sz="1300" dirty="0">
                <a:solidFill>
                  <a:schemeClr val="tx1"/>
                </a:solidFill>
              </a:rPr>
              <a:t>: Esconde a janela na barra de tarefas. O programa continua aberto.</a:t>
            </a:r>
            <a:endParaRPr lang="en-US" sz="1300" dirty="0"/>
          </a:p>
          <a:p>
            <a:pPr marL="342900" indent="-342900">
              <a:spcAft>
                <a:spcPts val="600"/>
              </a:spcAft>
              <a:buSzPct val="100000"/>
              <a:buChar char="•"/>
            </a:pPr>
            <a:r>
              <a:rPr lang="en-US" sz="1300" b="1" dirty="0">
                <a:solidFill>
                  <a:schemeClr val="tx1"/>
                </a:solidFill>
              </a:rPr>
              <a:t>Maximizar</a:t>
            </a:r>
            <a:pPr indent="0" marL="0">
              <a:spcAft>
                <a:spcPts val="600"/>
              </a:spcAft>
              <a:buNone/>
            </a:pPr>
            <a:r>
              <a:rPr lang="en-US" sz="1300" dirty="0">
                <a:solidFill>
                  <a:schemeClr val="tx1"/>
                </a:solidFill>
              </a:rPr>
              <a:t>: A janela ocupa o ecrã inteiro. Clique de novo para restaurar o tamanho.</a:t>
            </a:r>
            <a:endParaRPr lang="en-US" sz="1300" dirty="0"/>
          </a:p>
          <a:p>
            <a:pPr marL="342900" indent="-342900">
              <a:spcAft>
                <a:spcPts val="600"/>
              </a:spcAft>
              <a:buSzPct val="100000"/>
              <a:buChar char="•"/>
            </a:pPr>
            <a:r>
              <a:rPr lang="en-US" sz="1300" b="1" dirty="0">
                <a:solidFill>
                  <a:schemeClr val="tx1"/>
                </a:solidFill>
              </a:rPr>
              <a:t>Fechar</a:t>
            </a:r>
            <a:pPr indent="0" marL="0">
              <a:spcAft>
                <a:spcPts val="600"/>
              </a:spcAft>
              <a:buNone/>
            </a:pPr>
            <a:r>
              <a:rPr lang="en-US" sz="1300" dirty="0">
                <a:solidFill>
                  <a:schemeClr val="tx1"/>
                </a:solidFill>
              </a:rPr>
              <a:t>: Fecha a janela e termina o programa.</a:t>
            </a:r>
            <a:endParaRPr lang="en-US" sz="1300" dirty="0"/>
          </a:p>
        </p:txBody>
      </p:sp>
      <p:sp>
        <p:nvSpPr>
          <p:cNvPr id="11" name="Cartão de dica"/>
          <p:cNvSpPr/>
          <p:nvPr/>
        </p:nvSpPr>
        <p:spPr>
          <a:xfrm>
            <a:off x="7589520" y="5120640"/>
            <a:ext cx="4069080" cy="1051560"/>
          </a:xfrm>
          <a:prstGeom prst="roundRect">
            <a:avLst>
              <a:gd name="adj" fmla="val 10435"/>
            </a:avLst>
          </a:prstGeom>
          <a:solidFill>
            <a:srgbClr val="F2F4F7"/>
          </a:solidFill>
          <a:ln w="9525">
            <a:solidFill>
              <a:srgbClr val="DCE3E9"/>
            </a:solidFill>
            <a:prstDash val="solid"/>
          </a:ln>
        </p:spPr>
      </p:sp>
      <p:pic>
        <p:nvPicPr>
          <p:cNvPr id="12" name="Image 2" descr="Miguel, guia virtual ATC">    </p:cNvPr>
          <p:cNvPicPr>
            <a:picLocks noChangeAspect="1"/>
          </p:cNvPicPr>
          <p:nvPr/>
        </p:nvPicPr>
        <p:blipFill>
          <a:blip r:embed="rId3"/>
          <a:stretch>
            <a:fillRect/>
          </a:stretch>
        </p:blipFill>
        <p:spPr>
          <a:xfrm>
            <a:off x="7772400" y="5257800"/>
            <a:ext cx="777240" cy="777240"/>
          </a:xfrm>
          <a:prstGeom prst="rect">
            <a:avLst/>
          </a:prstGeom>
        </p:spPr>
      </p:pic>
      <p:sp>
        <p:nvSpPr>
          <p:cNvPr id="13" name="Text 8"/>
          <p:cNvSpPr txBox="1"/>
          <p:nvPr/>
        </p:nvSpPr>
        <p:spPr>
          <a:xfrm>
            <a:off x="8714232" y="5193792"/>
            <a:ext cx="2788920" cy="905256"/>
          </a:xfrm>
          <a:prstGeom prst="rect">
            <a:avLst/>
          </a:prstGeom>
          <a:noFill/>
          <a:ln/>
        </p:spPr>
        <p:txBody>
          <a:bodyPr wrap="square" lIns="0" tIns="0" rIns="0" bIns="0" rtlCol="0" anchor="ctr"/>
          <a:lstStyle/>
          <a:p>
            <a:pPr indent="0" marL="0">
              <a:spcAft>
                <a:spcPts val="200"/>
              </a:spcAft>
              <a:buNone/>
            </a:pPr>
            <a:r>
              <a:rPr lang="en-US" sz="1300" b="1" dirty="0">
                <a:solidFill>
                  <a:schemeClr val="accent1"/>
                </a:solidFill>
              </a:rPr>
              <a:t>Dica do Miguel</a:t>
            </a:r>
            <a:endParaRPr lang="en-US" sz="1300" dirty="0"/>
          </a:p>
          <a:p>
            <a:pPr indent="0" marL="0">
              <a:spcAft>
                <a:spcPts val="200"/>
              </a:spcAft>
              <a:buNone/>
            </a:pPr>
            <a:r>
              <a:rPr lang="en-US" sz="1300" dirty="0">
                <a:solidFill>
                  <a:schemeClr val="tx1"/>
                </a:solidFill>
              </a:rPr>
              <a:t>Para passar de uma janela para outra, use Alt + Tab.</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146304"/>
            <a:ext cx="9601200" cy="219456"/>
          </a:xfrm>
          <a:prstGeom prst="rect">
            <a:avLst/>
          </a:prstGeom>
          <a:noFill/>
          <a:ln/>
        </p:spPr>
        <p:txBody>
          <a:bodyPr wrap="square" lIns="0" tIns="0" rIns="0" bIns="0" rtlCol="0" anchor="ctr"/>
          <a:lstStyle/>
          <a:p>
            <a:pPr indent="0" marL="0">
              <a:buNone/>
            </a:pPr>
            <a:r>
              <a:rPr lang="en-US" sz="1000" b="1" spc="250" kern="0" dirty="0">
                <a:solidFill>
                  <a:schemeClr val="accent2"/>
                </a:solidFill>
              </a:rPr>
              <a:t>MÓDULO 1 · TEMA 5 DE 8 · QUADRO-RESUMO</a:t>
            </a:r>
            <a:endParaRPr lang="en-US" sz="1000" dirty="0"/>
          </a:p>
        </p:txBody>
      </p:sp>
      <p:sp>
        <p:nvSpPr>
          <p:cNvPr id="3" name="Text 1"/>
          <p:cNvSpPr/>
          <p:nvPr>
            <p:ph idx="101" type="title" hasCustomPrompt="1"/>
          </p:nvPr>
        </p:nvSpPr>
        <p:spPr>
          <a:xfrm>
            <a:off x="548640" y="384048"/>
            <a:ext cx="10241280" cy="749808"/>
          </a:xfrm>
          <a:prstGeom prst="rect">
            <a:avLst/>
          </a:prstGeom>
          <a:noFill/>
          <a:ln/>
        </p:spPr>
        <p:txBody>
          <a:bodyPr wrap="square" lIns="0" tIns="0" rIns="0" bIns="0" rtlCol="0" anchor="ctr"/>
          <a:lstStyle/>
          <a:p>
            <a:pPr algn="l" indent="0" marL="0">
              <a:buNone/>
            </a:pPr>
            <a:r>
              <a:rPr lang="en-US" sz="2900" b="1" dirty="0">
                <a:solidFill>
                  <a:schemeClr val="tx2"/>
                </a:solidFill>
                <a:latin typeface="Cambria" pitchFamily="34" charset="0"/>
                <a:ea typeface="Cambria" pitchFamily="34" charset="-122"/>
                <a:cs typeface="Cambria" pitchFamily="34" charset="-120"/>
              </a:rPr>
              <a:t>1.5 Trabalhar com janelas — Quadro de referência</a:t>
            </a:r>
            <a:endParaRPr lang="en-US" sz="2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434133"/>
                <a:gridCol w="5089550"/>
                <a:gridCol w="3540557"/>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Botão</a:t>
                      </a:r>
                      <a:endParaRPr lang="en-US" sz="14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0B2137"/>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Nome</a:t>
                      </a:r>
                      <a:endParaRPr lang="en-US" sz="14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0B2137"/>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O que faz</a:t>
                      </a:r>
                      <a:endParaRPr lang="en-US" sz="14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0B2137"/>
                    </a:solidFill>
                  </a:tcPr>
                </a:tc>
              </a:tr>
              <a:tr h="0">
                <a:tc>
                  <a:txBody>
                    <a:bodyPr/>
                    <a:lstStyle/>
                    <a:p>
                      <a:pPr indent="0" marL="0">
                        <a:buNone/>
                      </a:pPr>
                      <a:r>
                        <a:rPr lang="en-US" sz="1400" dirty="0">
                          <a:solidFill>
                            <a:srgbClr val="1D2733"/>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indent="0" marL="0">
                        <a:buNone/>
                      </a:pPr>
                      <a:r>
                        <a:rPr lang="en-US" sz="1400" dirty="0">
                          <a:solidFill>
                            <a:srgbClr val="1D2733"/>
                          </a:solidFill>
                          <a:latin typeface="Calibri" pitchFamily="34" charset="0"/>
                          <a:ea typeface="Calibri" pitchFamily="34" charset="-122"/>
                          <a:cs typeface="Calibri" pitchFamily="34" charset="-120"/>
                        </a:rPr>
                        <a:t>Minimizar</a:t>
                      </a:r>
                      <a:endParaRPr lang="en-US" sz="14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indent="0" marL="0">
                        <a:buNone/>
                      </a:pPr>
                      <a:r>
                        <a:rPr lang="en-US" sz="1400" dirty="0">
                          <a:solidFill>
                            <a:srgbClr val="1D2733"/>
                          </a:solidFill>
                          <a:latin typeface="Calibri" pitchFamily="34" charset="0"/>
                          <a:ea typeface="Calibri" pitchFamily="34" charset="-122"/>
                          <a:cs typeface="Calibri" pitchFamily="34" charset="-120"/>
                        </a:rPr>
                        <a:t>Esconde a janela na barra de tarefas. O programa continua aberto.</a:t>
                      </a:r>
                      <a:endParaRPr lang="en-US" sz="14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D2733"/>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2F4F7"/>
                    </a:solidFill>
                  </a:tcPr>
                </a:tc>
                <a:tc>
                  <a:txBody>
                    <a:bodyPr/>
                    <a:lstStyle/>
                    <a:p>
                      <a:pPr indent="0" marL="0">
                        <a:buNone/>
                      </a:pPr>
                      <a:r>
                        <a:rPr lang="en-US" sz="1400" dirty="0">
                          <a:solidFill>
                            <a:srgbClr val="1D2733"/>
                          </a:solidFill>
                          <a:latin typeface="Calibri" pitchFamily="34" charset="0"/>
                          <a:ea typeface="Calibri" pitchFamily="34" charset="-122"/>
                          <a:cs typeface="Calibri" pitchFamily="34" charset="-120"/>
                        </a:rPr>
                        <a:t>Maximizar</a:t>
                      </a:r>
                      <a:endParaRPr lang="en-US" sz="14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2F4F7"/>
                    </a:solidFill>
                  </a:tcPr>
                </a:tc>
                <a:tc>
                  <a:txBody>
                    <a:bodyPr/>
                    <a:lstStyle/>
                    <a:p>
                      <a:pPr indent="0" marL="0">
                        <a:buNone/>
                      </a:pPr>
                      <a:r>
                        <a:rPr lang="en-US" sz="1400" dirty="0">
                          <a:solidFill>
                            <a:srgbClr val="1D2733"/>
                          </a:solidFill>
                          <a:latin typeface="Calibri" pitchFamily="34" charset="0"/>
                          <a:ea typeface="Calibri" pitchFamily="34" charset="-122"/>
                          <a:cs typeface="Calibri" pitchFamily="34" charset="-120"/>
                        </a:rPr>
                        <a:t>A janela ocupa o ecrã inteiro. Clique de novo para restaurar o tamanho.</a:t>
                      </a:r>
                      <a:endParaRPr lang="en-US" sz="14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2F4F7"/>
                    </a:solidFill>
                  </a:tcPr>
                </a:tc>
              </a:tr>
              <a:tr h="0">
                <a:tc>
                  <a:txBody>
                    <a:bodyPr/>
                    <a:lstStyle/>
                    <a:p>
                      <a:pPr indent="0" marL="0">
                        <a:buNone/>
                      </a:pPr>
                      <a:r>
                        <a:rPr lang="en-US" sz="1400" dirty="0">
                          <a:solidFill>
                            <a:srgbClr val="1D2733"/>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indent="0" marL="0">
                        <a:buNone/>
                      </a:pPr>
                      <a:r>
                        <a:rPr lang="en-US" sz="1400" dirty="0">
                          <a:solidFill>
                            <a:srgbClr val="1D2733"/>
                          </a:solidFill>
                          <a:latin typeface="Calibri" pitchFamily="34" charset="0"/>
                          <a:ea typeface="Calibri" pitchFamily="34" charset="-122"/>
                          <a:cs typeface="Calibri" pitchFamily="34" charset="-120"/>
                        </a:rPr>
                        <a:t>Fechar</a:t>
                      </a:r>
                      <a:endParaRPr lang="en-US" sz="14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indent="0" marL="0">
                        <a:buNone/>
                      </a:pPr>
                      <a:r>
                        <a:rPr lang="en-US" sz="1400" dirty="0">
                          <a:solidFill>
                            <a:srgbClr val="1D2733"/>
                          </a:solidFill>
                          <a:latin typeface="Calibri" pitchFamily="34" charset="0"/>
                          <a:ea typeface="Calibri" pitchFamily="34" charset="-122"/>
                          <a:cs typeface="Calibri" pitchFamily="34" charset="-120"/>
                        </a:rPr>
                        <a:t>Fecha a janela e termina o programa.</a:t>
                      </a:r>
                      <a:endParaRPr lang="en-US" sz="14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146304"/>
            <a:ext cx="9601200" cy="219456"/>
          </a:xfrm>
          <a:prstGeom prst="rect">
            <a:avLst/>
          </a:prstGeom>
          <a:noFill/>
          <a:ln/>
        </p:spPr>
        <p:txBody>
          <a:bodyPr wrap="square" lIns="0" tIns="0" rIns="0" bIns="0" rtlCol="0" anchor="ctr"/>
          <a:lstStyle/>
          <a:p>
            <a:pPr indent="0" marL="0">
              <a:buNone/>
            </a:pPr>
            <a:r>
              <a:rPr lang="en-US" sz="1000" b="1" spc="250" kern="0" dirty="0">
                <a:solidFill>
                  <a:schemeClr val="accent2"/>
                </a:solidFill>
              </a:rPr>
              <a:t>MÓDULO 1 · TEMA 6 DE 8</a:t>
            </a:r>
            <a:endParaRPr lang="en-US" sz="1000" dirty="0"/>
          </a:p>
        </p:txBody>
      </p:sp>
      <p:sp>
        <p:nvSpPr>
          <p:cNvPr id="3" name="Text 1"/>
          <p:cNvSpPr/>
          <p:nvPr>
            <p:ph idx="101" type="title" hasCustomPrompt="1"/>
          </p:nvPr>
        </p:nvSpPr>
        <p:spPr>
          <a:xfrm>
            <a:off x="548640" y="384048"/>
            <a:ext cx="10241280" cy="749808"/>
          </a:xfrm>
          <a:prstGeom prst="rect">
            <a:avLst/>
          </a:prstGeom>
          <a:noFill/>
          <a:ln/>
        </p:spPr>
        <p:txBody>
          <a:bodyPr wrap="square" lIns="0" tIns="0" rIns="0" bIns="0" rtlCol="0" anchor="ctr"/>
          <a:lstStyle/>
          <a:p>
            <a:pPr algn="l" indent="0" marL="0">
              <a:buNone/>
            </a:pPr>
            <a:r>
              <a:rPr lang="en-US" sz="2900" b="1" dirty="0">
                <a:solidFill>
                  <a:schemeClr val="tx2"/>
                </a:solidFill>
                <a:latin typeface="Cambria" pitchFamily="34" charset="0"/>
                <a:ea typeface="Cambria" pitchFamily="34" charset="-122"/>
                <a:cs typeface="Cambria" pitchFamily="34" charset="-120"/>
              </a:rPr>
              <a:t>1.6 Encerrar o computador</a:t>
            </a:r>
            <a:endParaRPr lang="en-US" sz="2900" dirty="0"/>
          </a:p>
        </p:txBody>
      </p:sp>
      <p:sp>
        <p:nvSpPr>
          <p:cNvPr id="4" name="Shape 2"/>
          <p:cNvSpPr/>
          <p:nvPr/>
        </p:nvSpPr>
        <p:spPr>
          <a:xfrm>
            <a:off x="1927754" y="1261872"/>
            <a:ext cx="3916891" cy="2253996"/>
          </a:xfrm>
          <a:prstGeom prst="roundRect">
            <a:avLst>
              <a:gd name="adj" fmla="val 2434"/>
            </a:avLst>
          </a:prstGeom>
          <a:solidFill>
            <a:srgbClr val="FFFFFF"/>
          </a:solidFill>
          <a:ln w="9525">
            <a:solidFill>
              <a:srgbClr val="DCE3E9"/>
            </a:solidFill>
            <a:prstDash val="solid"/>
          </a:ln>
          <a:effectLst>
            <a:outerShdw sx="100000" sy="100000" kx="0" ky="0" algn="bl" rotWithShape="0" blurRad="127000" dist="38100" dir="5400000">
              <a:srgbClr val="0B2137">
                <a:alpha val="18000"/>
              </a:srgbClr>
            </a:outerShdw>
          </a:effectLst>
        </p:spPr>
      </p:sp>
      <p:pic>
        <p:nvPicPr>
          <p:cNvPr id="5" name="Image 0" descr="Simulação pedagógica ATC, imagem editada por IA (não é uma captura oficial do Windows). Encerrar a partir do menu Iniciar: botão Ligar/Desligar.">    </p:cNvPr>
          <p:cNvPicPr>
            <a:picLocks noChangeAspect="1"/>
          </p:cNvPicPr>
          <p:nvPr/>
        </p:nvPicPr>
        <p:blipFill>
          <a:blip r:embed="rId1"/>
          <a:stretch>
            <a:fillRect/>
          </a:stretch>
        </p:blipFill>
        <p:spPr>
          <a:xfrm>
            <a:off x="1991762" y="1325880"/>
            <a:ext cx="3788875" cy="2125980"/>
          </a:xfrm>
          <a:prstGeom prst="rect">
            <a:avLst/>
          </a:prstGeom>
        </p:spPr>
      </p:pic>
      <p:sp>
        <p:nvSpPr>
          <p:cNvPr id="6" name="Shape 3"/>
          <p:cNvSpPr/>
          <p:nvPr/>
        </p:nvSpPr>
        <p:spPr>
          <a:xfrm>
            <a:off x="1775794" y="3525012"/>
            <a:ext cx="4220812" cy="2253996"/>
          </a:xfrm>
          <a:prstGeom prst="roundRect">
            <a:avLst>
              <a:gd name="adj" fmla="val 2434"/>
            </a:avLst>
          </a:prstGeom>
          <a:solidFill>
            <a:srgbClr val="FFFFFF"/>
          </a:solidFill>
          <a:ln w="9525">
            <a:solidFill>
              <a:srgbClr val="DCE3E9"/>
            </a:solidFill>
            <a:prstDash val="solid"/>
          </a:ln>
          <a:effectLst>
            <a:outerShdw sx="100000" sy="100000" kx="0" ky="0" algn="bl" rotWithShape="0" blurRad="127000" dist="38100" dir="5400000">
              <a:srgbClr val="0B2137">
                <a:alpha val="18000"/>
              </a:srgbClr>
            </a:outerShdw>
          </a:effectLst>
        </p:spPr>
      </p:sp>
      <p:pic>
        <p:nvPicPr>
          <p:cNvPr id="7" name="Image 1" descr="Simulação pedagógica ATC, imagem editada por IA (não é uma captura oficial do Windows). A janela «Encerrar o Windows» (Alt + F4 no ambiente de trabalho).">    </p:cNvPr>
          <p:cNvPicPr>
            <a:picLocks noChangeAspect="1"/>
          </p:cNvPicPr>
          <p:nvPr/>
        </p:nvPicPr>
        <p:blipFill>
          <a:blip r:embed="rId2"/>
          <a:stretch>
            <a:fillRect/>
          </a:stretch>
        </p:blipFill>
        <p:spPr>
          <a:xfrm>
            <a:off x="1839802" y="3589020"/>
            <a:ext cx="4092796" cy="2125980"/>
          </a:xfrm>
          <a:prstGeom prst="rect">
            <a:avLst/>
          </a:prstGeom>
        </p:spPr>
      </p:pic>
      <p:sp>
        <p:nvSpPr>
          <p:cNvPr id="8" name="Text 4"/>
          <p:cNvSpPr txBox="1"/>
          <p:nvPr/>
        </p:nvSpPr>
        <p:spPr>
          <a:xfrm>
            <a:off x="548640" y="5806440"/>
            <a:ext cx="6675120" cy="384048"/>
          </a:xfrm>
          <a:prstGeom prst="rect">
            <a:avLst/>
          </a:prstGeom>
          <a:noFill/>
          <a:ln/>
        </p:spPr>
        <p:txBody>
          <a:bodyPr wrap="square" lIns="0" tIns="0" rIns="0" bIns="0" rtlCol="0" anchor="t"/>
          <a:lstStyle/>
          <a:p>
            <a:pPr indent="0" marL="0">
              <a:buNone/>
            </a:pPr>
            <a:r>
              <a:rPr lang="en-US" sz="1000" i="1" dirty="0">
                <a:solidFill>
                  <a:schemeClr val="accent4"/>
                </a:solidFill>
              </a:rPr>
              <a:t>Simulação pedagógica ATC, imagem editada por IA (não é uma captura oficial do Windows). Encerrar a partir do menu Iniciar: botão Ligar/Desligar.</a:t>
            </a:r>
            <a:endParaRPr lang="en-US" sz="1000" dirty="0"/>
          </a:p>
        </p:txBody>
      </p:sp>
      <p:sp>
        <p:nvSpPr>
          <p:cNvPr id="9" name="Text 5"/>
          <p:cNvSpPr txBox="1"/>
          <p:nvPr/>
        </p:nvSpPr>
        <p:spPr>
          <a:xfrm>
            <a:off x="7589520" y="1325880"/>
            <a:ext cx="4069080" cy="1068832"/>
          </a:xfrm>
          <a:prstGeom prst="rect">
            <a:avLst/>
          </a:prstGeom>
          <a:noFill/>
          <a:ln/>
        </p:spPr>
        <p:txBody>
          <a:bodyPr wrap="square" lIns="0" tIns="0" rIns="0" bIns="0" rtlCol="0" anchor="t"/>
          <a:lstStyle/>
          <a:p>
            <a:pPr indent="0" marL="0">
              <a:buNone/>
            </a:pPr>
            <a:r>
              <a:rPr lang="en-US" sz="1600" dirty="0">
                <a:solidFill>
                  <a:schemeClr val="tx1"/>
                </a:solidFill>
              </a:rPr>
              <a:t>No final do trabalho, encerre sempre o computador pelo Windows. Desligar diretamente da tomada pode danificar ficheiros.</a:t>
            </a:r>
            <a:endParaRPr lang="en-US" sz="1600" dirty="0"/>
          </a:p>
        </p:txBody>
      </p:sp>
      <p:sp>
        <p:nvSpPr>
          <p:cNvPr id="10" name="Shape 6"/>
          <p:cNvSpPr/>
          <p:nvPr/>
        </p:nvSpPr>
        <p:spPr>
          <a:xfrm>
            <a:off x="7589520" y="2595880"/>
            <a:ext cx="347472" cy="347472"/>
          </a:xfrm>
          <a:prstGeom prst="ellipse">
            <a:avLst/>
          </a:prstGeom>
          <a:solidFill>
            <a:schemeClr val="accent1"/>
          </a:solidFill>
          <a:ln w="12700">
            <a:solidFill>
              <a:schemeClr val="accent1"/>
            </a:solidFill>
            <a:prstDash val="solid"/>
          </a:ln>
        </p:spPr>
      </p:sp>
      <p:sp>
        <p:nvSpPr>
          <p:cNvPr id="11" name="Text 7"/>
          <p:cNvSpPr txBox="1"/>
          <p:nvPr/>
        </p:nvSpPr>
        <p:spPr>
          <a:xfrm>
            <a:off x="7589520" y="2595880"/>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2" name="Text 8"/>
          <p:cNvSpPr txBox="1"/>
          <p:nvPr/>
        </p:nvSpPr>
        <p:spPr>
          <a:xfrm>
            <a:off x="8092440" y="2577592"/>
            <a:ext cx="3566160" cy="474472"/>
          </a:xfrm>
          <a:prstGeom prst="rect">
            <a:avLst/>
          </a:prstGeom>
          <a:noFill/>
          <a:ln/>
        </p:spPr>
        <p:txBody>
          <a:bodyPr wrap="square" lIns="0" tIns="0" rIns="0" bIns="0" rtlCol="0" anchor="t"/>
          <a:lstStyle/>
          <a:p>
            <a:pPr indent="0" marL="0">
              <a:buNone/>
            </a:pPr>
            <a:r>
              <a:rPr lang="en-US" sz="1400" dirty="0">
                <a:solidFill>
                  <a:schemeClr val="tx1"/>
                </a:solidFill>
              </a:rPr>
              <a:t>Guarde e feche os ficheiros abertos.</a:t>
            </a:r>
            <a:endParaRPr lang="en-US" sz="1400" dirty="0"/>
          </a:p>
        </p:txBody>
      </p:sp>
      <p:sp>
        <p:nvSpPr>
          <p:cNvPr id="13" name="Shape 9"/>
          <p:cNvSpPr/>
          <p:nvPr/>
        </p:nvSpPr>
        <p:spPr>
          <a:xfrm>
            <a:off x="7589520" y="3198368"/>
            <a:ext cx="347472" cy="347472"/>
          </a:xfrm>
          <a:prstGeom prst="ellipse">
            <a:avLst/>
          </a:prstGeom>
          <a:solidFill>
            <a:schemeClr val="accent1"/>
          </a:solidFill>
          <a:ln w="12700">
            <a:solidFill>
              <a:schemeClr val="accent1"/>
            </a:solidFill>
            <a:prstDash val="solid"/>
          </a:ln>
        </p:spPr>
      </p:sp>
      <p:sp>
        <p:nvSpPr>
          <p:cNvPr id="14" name="Text 10"/>
          <p:cNvSpPr txBox="1"/>
          <p:nvPr/>
        </p:nvSpPr>
        <p:spPr>
          <a:xfrm>
            <a:off x="7589520" y="319836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5" name="Text 11"/>
          <p:cNvSpPr txBox="1"/>
          <p:nvPr/>
        </p:nvSpPr>
        <p:spPr>
          <a:xfrm>
            <a:off x="8092440" y="3180080"/>
            <a:ext cx="3566160" cy="384048"/>
          </a:xfrm>
          <a:prstGeom prst="rect">
            <a:avLst/>
          </a:prstGeom>
          <a:noFill/>
          <a:ln/>
        </p:spPr>
        <p:txBody>
          <a:bodyPr wrap="square" lIns="0" tIns="0" rIns="0" bIns="0" rtlCol="0" anchor="t"/>
          <a:lstStyle/>
          <a:p>
            <a:pPr indent="0" marL="0">
              <a:buNone/>
            </a:pPr>
            <a:r>
              <a:rPr lang="en-US" sz="1400" dirty="0">
                <a:solidFill>
                  <a:schemeClr val="tx1"/>
                </a:solidFill>
              </a:rPr>
              <a:t>Abra o menu </a:t>
            </a:r>
            <a:pPr indent="0" marL="0">
              <a:buNone/>
            </a:pPr>
            <a:r>
              <a:rPr lang="en-US" sz="1400" b="1" dirty="0">
                <a:solidFill>
                  <a:schemeClr val="tx1"/>
                </a:solidFill>
              </a:rPr>
              <a:t>Iniciar</a:t>
            </a:r>
            <a:pPr indent="0" marL="0">
              <a:buNone/>
            </a:pPr>
            <a:r>
              <a:rPr lang="en-US" sz="1400" dirty="0">
                <a:solidFill>
                  <a:schemeClr val="tx1"/>
                </a:solidFill>
              </a:rPr>
              <a:t>.</a:t>
            </a:r>
            <a:endParaRPr lang="en-US" sz="1400" dirty="0"/>
          </a:p>
        </p:txBody>
      </p:sp>
      <p:sp>
        <p:nvSpPr>
          <p:cNvPr id="16" name="Shape 12"/>
          <p:cNvSpPr/>
          <p:nvPr/>
        </p:nvSpPr>
        <p:spPr>
          <a:xfrm>
            <a:off x="7589520" y="3710432"/>
            <a:ext cx="347472" cy="347472"/>
          </a:xfrm>
          <a:prstGeom prst="ellipse">
            <a:avLst/>
          </a:prstGeom>
          <a:solidFill>
            <a:schemeClr val="accent1"/>
          </a:solidFill>
          <a:ln w="12700">
            <a:solidFill>
              <a:schemeClr val="accent1"/>
            </a:solidFill>
            <a:prstDash val="solid"/>
          </a:ln>
        </p:spPr>
      </p:sp>
      <p:sp>
        <p:nvSpPr>
          <p:cNvPr id="17" name="Text 13"/>
          <p:cNvSpPr txBox="1"/>
          <p:nvPr/>
        </p:nvSpPr>
        <p:spPr>
          <a:xfrm>
            <a:off x="7589520" y="3710432"/>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8" name="Text 14"/>
          <p:cNvSpPr txBox="1"/>
          <p:nvPr/>
        </p:nvSpPr>
        <p:spPr>
          <a:xfrm>
            <a:off x="8092440" y="3692144"/>
            <a:ext cx="3566160" cy="384048"/>
          </a:xfrm>
          <a:prstGeom prst="rect">
            <a:avLst/>
          </a:prstGeom>
          <a:noFill/>
          <a:ln/>
        </p:spPr>
        <p:txBody>
          <a:bodyPr wrap="square" lIns="0" tIns="0" rIns="0" bIns="0" rtlCol="0" anchor="t"/>
          <a:lstStyle/>
          <a:p>
            <a:pPr indent="0" marL="0">
              <a:buNone/>
            </a:pPr>
            <a:r>
              <a:rPr lang="en-US" sz="1400" dirty="0">
                <a:solidFill>
                  <a:schemeClr val="tx1"/>
                </a:solidFill>
              </a:rPr>
              <a:t>Clique no botão de </a:t>
            </a:r>
            <a:pPr indent="0" marL="0">
              <a:buNone/>
            </a:pPr>
            <a:r>
              <a:rPr lang="en-US" sz="1400" b="1" dirty="0">
                <a:solidFill>
                  <a:schemeClr val="tx1"/>
                </a:solidFill>
              </a:rPr>
              <a:t>energia</a:t>
            </a:r>
            <a:pPr indent="0" marL="0">
              <a:buNone/>
            </a:pPr>
            <a:r>
              <a:rPr lang="en-US" sz="1400" dirty="0">
                <a:solidFill>
                  <a:schemeClr val="tx1"/>
                </a:solidFill>
              </a:rPr>
              <a:t>.</a:t>
            </a:r>
            <a:endParaRPr lang="en-US" sz="1400" dirty="0"/>
          </a:p>
        </p:txBody>
      </p:sp>
      <p:sp>
        <p:nvSpPr>
          <p:cNvPr id="19" name="Shape 15"/>
          <p:cNvSpPr/>
          <p:nvPr/>
        </p:nvSpPr>
        <p:spPr>
          <a:xfrm>
            <a:off x="7589520" y="4222496"/>
            <a:ext cx="347472" cy="347472"/>
          </a:xfrm>
          <a:prstGeom prst="ellipse">
            <a:avLst/>
          </a:prstGeom>
          <a:solidFill>
            <a:schemeClr val="accent1"/>
          </a:solidFill>
          <a:ln w="12700">
            <a:solidFill>
              <a:schemeClr val="accent1"/>
            </a:solidFill>
            <a:prstDash val="solid"/>
          </a:ln>
        </p:spPr>
      </p:sp>
      <p:sp>
        <p:nvSpPr>
          <p:cNvPr id="20" name="Text 16"/>
          <p:cNvSpPr txBox="1"/>
          <p:nvPr/>
        </p:nvSpPr>
        <p:spPr>
          <a:xfrm>
            <a:off x="7589520" y="4222496"/>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1" name="Text 17"/>
          <p:cNvSpPr txBox="1"/>
          <p:nvPr/>
        </p:nvSpPr>
        <p:spPr>
          <a:xfrm>
            <a:off x="8092440" y="4204208"/>
            <a:ext cx="3566160" cy="384048"/>
          </a:xfrm>
          <a:prstGeom prst="rect">
            <a:avLst/>
          </a:prstGeom>
          <a:noFill/>
          <a:ln/>
        </p:spPr>
        <p:txBody>
          <a:bodyPr wrap="square" lIns="0" tIns="0" rIns="0" bIns="0" rtlCol="0" anchor="t"/>
          <a:lstStyle/>
          <a:p>
            <a:pPr indent="0" marL="0">
              <a:buNone/>
            </a:pPr>
            <a:r>
              <a:rPr lang="en-US" sz="1400" dirty="0">
                <a:solidFill>
                  <a:schemeClr val="tx1"/>
                </a:solidFill>
              </a:rPr>
              <a:t>Escolha </a:t>
            </a:r>
            <a:pPr indent="0" marL="0">
              <a:buNone/>
            </a:pPr>
            <a:r>
              <a:rPr lang="en-US" sz="1400" b="1" dirty="0">
                <a:solidFill>
                  <a:schemeClr val="tx1"/>
                </a:solidFill>
              </a:rPr>
              <a:t>Encerrar</a:t>
            </a:r>
            <a:pPr indent="0" marL="0">
              <a:buNone/>
            </a:pPr>
            <a:r>
              <a:rPr lang="en-US" sz="1400" dirty="0">
                <a:solidFill>
                  <a:schemeClr val="tx1"/>
                </a:solidFill>
              </a:rPr>
              <a:t>.</a:t>
            </a:r>
            <a:endParaRPr lang="en-US" sz="1400" dirty="0"/>
          </a:p>
        </p:txBody>
      </p:sp>
      <p:sp>
        <p:nvSpPr>
          <p:cNvPr id="22" name="Cartão de dica"/>
          <p:cNvSpPr/>
          <p:nvPr/>
        </p:nvSpPr>
        <p:spPr>
          <a:xfrm>
            <a:off x="7589520" y="4963160"/>
            <a:ext cx="4069080" cy="1209040"/>
          </a:xfrm>
          <a:prstGeom prst="roundRect">
            <a:avLst>
              <a:gd name="adj" fmla="val 9076"/>
            </a:avLst>
          </a:prstGeom>
          <a:solidFill>
            <a:srgbClr val="FBEDE6"/>
          </a:solidFill>
          <a:ln w="9525">
            <a:solidFill>
              <a:srgbClr val="F0C7B4"/>
            </a:solidFill>
            <a:prstDash val="solid"/>
          </a:ln>
        </p:spPr>
      </p:sp>
      <p:pic>
        <p:nvPicPr>
          <p:cNvPr id="23" name="Image 2" descr="Helena, guia virtual ATC">    </p:cNvPr>
          <p:cNvPicPr>
            <a:picLocks noChangeAspect="1"/>
          </p:cNvPicPr>
          <p:nvPr/>
        </p:nvPicPr>
        <p:blipFill>
          <a:blip r:embed="rId3"/>
          <a:stretch>
            <a:fillRect/>
          </a:stretch>
        </p:blipFill>
        <p:spPr>
          <a:xfrm>
            <a:off x="7772400" y="5179060"/>
            <a:ext cx="777240" cy="777240"/>
          </a:xfrm>
          <a:prstGeom prst="rect">
            <a:avLst/>
          </a:prstGeom>
        </p:spPr>
      </p:pic>
      <p:sp>
        <p:nvSpPr>
          <p:cNvPr id="24" name="Text 19"/>
          <p:cNvSpPr txBox="1"/>
          <p:nvPr/>
        </p:nvSpPr>
        <p:spPr>
          <a:xfrm>
            <a:off x="8714232" y="5036312"/>
            <a:ext cx="2788920" cy="1062736"/>
          </a:xfrm>
          <a:prstGeom prst="rect">
            <a:avLst/>
          </a:prstGeom>
          <a:noFill/>
          <a:ln/>
        </p:spPr>
        <p:txBody>
          <a:bodyPr wrap="square" lIns="0" tIns="0" rIns="0" bIns="0" rtlCol="0" anchor="ctr"/>
          <a:lstStyle/>
          <a:p>
            <a:pPr indent="0" marL="0">
              <a:spcAft>
                <a:spcPts val="200"/>
              </a:spcAft>
              <a:buNone/>
            </a:pPr>
            <a:r>
              <a:rPr lang="en-US" sz="1300" b="1" dirty="0">
                <a:solidFill>
                  <a:schemeClr val="accent6"/>
                </a:solidFill>
              </a:rPr>
              <a:t>Atenção</a:t>
            </a:r>
            <a:endParaRPr lang="en-US" sz="1300" dirty="0"/>
          </a:p>
          <a:p>
            <a:pPr indent="0" marL="0">
              <a:spcAft>
                <a:spcPts val="200"/>
              </a:spcAft>
              <a:buNone/>
            </a:pPr>
            <a:r>
              <a:rPr lang="en-US" sz="1300" dirty="0">
                <a:solidFill>
                  <a:schemeClr val="tx1"/>
                </a:solidFill>
              </a:rPr>
              <a:t>Guarde sempre os seus ficheiros antes de encerrar. O trabalho que não foi guardado perde-se.</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146304"/>
            <a:ext cx="9601200" cy="219456"/>
          </a:xfrm>
          <a:prstGeom prst="rect">
            <a:avLst/>
          </a:prstGeom>
          <a:noFill/>
          <a:ln/>
        </p:spPr>
        <p:txBody>
          <a:bodyPr wrap="square" lIns="0" tIns="0" rIns="0" bIns="0" rtlCol="0" anchor="ctr"/>
          <a:lstStyle/>
          <a:p>
            <a:pPr indent="0" marL="0">
              <a:buNone/>
            </a:pPr>
            <a:r>
              <a:rPr lang="en-US" sz="1000" b="1" spc="250" kern="0" dirty="0">
                <a:solidFill>
                  <a:schemeClr val="accent2"/>
                </a:solidFill>
              </a:rPr>
              <a:t>MÓDULO 1 · TEMA 7 DE 8</a:t>
            </a:r>
            <a:endParaRPr lang="en-US" sz="1000" dirty="0"/>
          </a:p>
        </p:txBody>
      </p:sp>
      <p:sp>
        <p:nvSpPr>
          <p:cNvPr id="3" name="Text 1"/>
          <p:cNvSpPr/>
          <p:nvPr>
            <p:ph idx="101" type="title" hasCustomPrompt="1"/>
          </p:nvPr>
        </p:nvSpPr>
        <p:spPr>
          <a:xfrm>
            <a:off x="548640" y="384048"/>
            <a:ext cx="10241280" cy="749808"/>
          </a:xfrm>
          <a:prstGeom prst="rect">
            <a:avLst/>
          </a:prstGeom>
          <a:noFill/>
          <a:ln/>
        </p:spPr>
        <p:txBody>
          <a:bodyPr wrap="square" lIns="0" tIns="0" rIns="0" bIns="0" rtlCol="0" anchor="ctr"/>
          <a:lstStyle/>
          <a:p>
            <a:pPr algn="l" indent="0" marL="0">
              <a:buNone/>
            </a:pPr>
            <a:r>
              <a:rPr lang="en-US" sz="2900" b="1" dirty="0">
                <a:solidFill>
                  <a:schemeClr val="tx2"/>
                </a:solidFill>
                <a:latin typeface="Cambria" pitchFamily="34" charset="0"/>
                <a:ea typeface="Cambria" pitchFamily="34" charset="-122"/>
                <a:cs typeface="Cambria" pitchFamily="34" charset="-120"/>
              </a:rPr>
              <a:t>1.7 Reconhecer o Windows real</a:t>
            </a:r>
            <a:endParaRPr lang="en-US" sz="2900" dirty="0"/>
          </a:p>
        </p:txBody>
      </p:sp>
      <p:sp>
        <p:nvSpPr>
          <p:cNvPr id="4" name="Shape 2"/>
          <p:cNvSpPr/>
          <p:nvPr/>
        </p:nvSpPr>
        <p:spPr>
          <a:xfrm>
            <a:off x="484632" y="2219954"/>
            <a:ext cx="3351276" cy="2600973"/>
          </a:xfrm>
          <a:prstGeom prst="roundRect">
            <a:avLst>
              <a:gd name="adj" fmla="val 2109"/>
            </a:avLst>
          </a:prstGeom>
          <a:solidFill>
            <a:srgbClr val="FFFFFF"/>
          </a:solidFill>
          <a:ln w="9525">
            <a:solidFill>
              <a:srgbClr val="DCE3E9"/>
            </a:solidFill>
            <a:prstDash val="solid"/>
          </a:ln>
          <a:effectLst>
            <a:outerShdw sx="100000" sy="100000" kx="0" ky="0" algn="bl" rotWithShape="0" blurRad="127000" dist="38100" dir="5400000">
              <a:srgbClr val="0B2137">
                <a:alpha val="18000"/>
              </a:srgbClr>
            </a:outerShdw>
          </a:effectLst>
        </p:spPr>
      </p:sp>
      <p:pic>
        <p:nvPicPr>
          <p:cNvPr id="5" name="Image 0" descr="Captura real do Explorador de Ficheiros do Microsoft Windows 11. Used with permission from Microsoft.">    </p:cNvPr>
          <p:cNvPicPr>
            <a:picLocks noChangeAspect="1"/>
          </p:cNvPicPr>
          <p:nvPr/>
        </p:nvPicPr>
        <p:blipFill>
          <a:blip r:embed="rId1"/>
          <a:stretch>
            <a:fillRect/>
          </a:stretch>
        </p:blipFill>
        <p:spPr>
          <a:xfrm>
            <a:off x="548640" y="2283962"/>
            <a:ext cx="3223260" cy="2472957"/>
          </a:xfrm>
          <a:prstGeom prst="rect">
            <a:avLst/>
          </a:prstGeom>
        </p:spPr>
      </p:pic>
      <p:sp>
        <p:nvSpPr>
          <p:cNvPr id="6" name="Shape 3"/>
          <p:cNvSpPr/>
          <p:nvPr/>
        </p:nvSpPr>
        <p:spPr>
          <a:xfrm>
            <a:off x="3936492" y="1973732"/>
            <a:ext cx="3351276" cy="3093415"/>
          </a:xfrm>
          <a:prstGeom prst="roundRect">
            <a:avLst>
              <a:gd name="adj" fmla="val 1774"/>
            </a:avLst>
          </a:prstGeom>
          <a:solidFill>
            <a:srgbClr val="FFFFFF"/>
          </a:solidFill>
          <a:ln w="9525">
            <a:solidFill>
              <a:srgbClr val="DCE3E9"/>
            </a:solidFill>
            <a:prstDash val="solid"/>
          </a:ln>
          <a:effectLst>
            <a:outerShdw sx="100000" sy="100000" kx="0" ky="0" algn="bl" rotWithShape="0" blurRad="127000" dist="38100" dir="5400000">
              <a:srgbClr val="0B2137">
                <a:alpha val="18000"/>
              </a:srgbClr>
            </a:outerShdw>
          </a:effectLst>
        </p:spPr>
      </p:sp>
      <p:pic>
        <p:nvPicPr>
          <p:cNvPr id="7" name="Image 1" descr="Captura oficial: menu de contexto e opção de afixar no Acesso rápido. Used with permission from Microsoft.">    </p:cNvPr>
          <p:cNvPicPr>
            <a:picLocks noChangeAspect="1"/>
          </p:cNvPicPr>
          <p:nvPr/>
        </p:nvPicPr>
        <p:blipFill>
          <a:blip r:embed="rId2"/>
          <a:stretch>
            <a:fillRect/>
          </a:stretch>
        </p:blipFill>
        <p:spPr>
          <a:xfrm>
            <a:off x="4000500" y="2037740"/>
            <a:ext cx="3223260" cy="2965399"/>
          </a:xfrm>
          <a:prstGeom prst="rect">
            <a:avLst/>
          </a:prstGeom>
        </p:spPr>
      </p:pic>
      <p:sp>
        <p:nvSpPr>
          <p:cNvPr id="8" name="Text 4"/>
          <p:cNvSpPr txBox="1"/>
          <p:nvPr/>
        </p:nvSpPr>
        <p:spPr>
          <a:xfrm>
            <a:off x="548640" y="5806440"/>
            <a:ext cx="6675120" cy="384048"/>
          </a:xfrm>
          <a:prstGeom prst="rect">
            <a:avLst/>
          </a:prstGeom>
          <a:noFill/>
          <a:ln/>
        </p:spPr>
        <p:txBody>
          <a:bodyPr wrap="square" lIns="0" tIns="0" rIns="0" bIns="0" rtlCol="0" anchor="t"/>
          <a:lstStyle/>
          <a:p>
            <a:pPr indent="0" marL="0">
              <a:buNone/>
            </a:pPr>
            <a:r>
              <a:rPr lang="en-US" sz="1000" i="1" dirty="0">
                <a:solidFill>
                  <a:schemeClr val="accent4"/>
                </a:solidFill>
              </a:rPr>
              <a:t>Captura real do Explorador de Ficheiros do Microsoft Windows 11. Used with permission from Microsoft.</a:t>
            </a:r>
            <a:endParaRPr lang="en-US" sz="1000" dirty="0"/>
          </a:p>
        </p:txBody>
      </p:sp>
      <p:sp>
        <p:nvSpPr>
          <p:cNvPr id="9" name="Text 5"/>
          <p:cNvSpPr txBox="1"/>
          <p:nvPr/>
        </p:nvSpPr>
        <p:spPr>
          <a:xfrm>
            <a:off x="7589520" y="1325880"/>
            <a:ext cx="4069080" cy="1578356"/>
          </a:xfrm>
          <a:prstGeom prst="rect">
            <a:avLst/>
          </a:prstGeom>
          <a:noFill/>
          <a:ln/>
        </p:spPr>
        <p:txBody>
          <a:bodyPr wrap="square" lIns="0" tIns="0" rIns="0" bIns="0" rtlCol="0" anchor="t"/>
          <a:lstStyle/>
          <a:p>
            <a:pPr indent="0" marL="0">
              <a:buNone/>
            </a:pPr>
            <a:r>
              <a:rPr lang="en-US" sz="1400" dirty="0">
                <a:solidFill>
                  <a:schemeClr val="tx1"/>
                </a:solidFill>
              </a:rPr>
              <a:t>Estas imagens provêm da documentação oficial da Microsoft. Os nomes nas capturas estão em inglês e o aspeto corresponde à versão documentada pela Microsoft; o seu Windows 11 pode apresentar diferenças. As imagens foram mantidas integrais.</a:t>
            </a:r>
            <a:endParaRPr lang="en-US" sz="1400" dirty="0"/>
          </a:p>
        </p:txBody>
      </p:sp>
      <p:pic>
        <p:nvPicPr>
          <p:cNvPr id="10" name="Image 2" descr="Ícone do Explorador de Ficheiros — identifica a aplicação para gerir ficheiros e pastas. Used with permission from Microsoft.">    </p:cNvPr>
          <p:cNvPicPr>
            <a:picLocks noChangeAspect="1"/>
          </p:cNvPicPr>
          <p:nvPr/>
        </p:nvPicPr>
        <p:blipFill>
          <a:blip r:embed="rId3"/>
          <a:stretch>
            <a:fillRect/>
          </a:stretch>
        </p:blipFill>
        <p:spPr>
          <a:xfrm>
            <a:off x="9966960" y="457200"/>
            <a:ext cx="502920" cy="502920"/>
          </a:xfrm>
          <a:prstGeom prst="rect">
            <a:avLst/>
          </a:prstGeom>
        </p:spPr>
      </p:pic>
      <p:pic>
        <p:nvPicPr>
          <p:cNvPr id="11" name="Image 3" descr="Símbolo da tecla Windows, usada no atalho Windows + E.">    </p:cNvPr>
          <p:cNvPicPr>
            <a:picLocks noChangeAspect="1"/>
          </p:cNvPicPr>
          <p:nvPr/>
        </p:nvPicPr>
        <p:blipFill>
          <a:blip r:embed="rId4"/>
          <a:stretch>
            <a:fillRect/>
          </a:stretch>
        </p:blipFill>
        <p:spPr>
          <a:xfrm>
            <a:off x="9326880" y="457200"/>
            <a:ext cx="502920" cy="502920"/>
          </a:xfrm>
          <a:prstGeom prst="rect">
            <a:avLst/>
          </a:prstGeom>
        </p:spPr>
      </p:pic>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146304"/>
            <a:ext cx="9601200" cy="219456"/>
          </a:xfrm>
          <a:prstGeom prst="rect">
            <a:avLst/>
          </a:prstGeom>
          <a:noFill/>
          <a:ln/>
        </p:spPr>
        <p:txBody>
          <a:bodyPr wrap="square" lIns="0" tIns="0" rIns="0" bIns="0" rtlCol="0" anchor="ctr"/>
          <a:lstStyle/>
          <a:p>
            <a:pPr indent="0" marL="0">
              <a:buNone/>
            </a:pPr>
            <a:r>
              <a:rPr lang="en-US" sz="1000" b="1" spc="250" kern="0" dirty="0">
                <a:solidFill>
                  <a:schemeClr val="accent2"/>
                </a:solidFill>
              </a:rPr>
              <a:t>MÓDULO 1 · TEMA 8 DE 8</a:t>
            </a:r>
            <a:endParaRPr lang="en-US" sz="1000" dirty="0"/>
          </a:p>
        </p:txBody>
      </p:sp>
      <p:sp>
        <p:nvSpPr>
          <p:cNvPr id="3" name="Text 1"/>
          <p:cNvSpPr/>
          <p:nvPr>
            <p:ph idx="101" type="title" hasCustomPrompt="1"/>
          </p:nvPr>
        </p:nvSpPr>
        <p:spPr>
          <a:xfrm>
            <a:off x="548640" y="384048"/>
            <a:ext cx="10241280" cy="749808"/>
          </a:xfrm>
          <a:prstGeom prst="rect">
            <a:avLst/>
          </a:prstGeom>
          <a:noFill/>
          <a:ln/>
        </p:spPr>
        <p:txBody>
          <a:bodyPr wrap="square" lIns="0" tIns="0" rIns="0" bIns="0" rtlCol="0" anchor="ctr"/>
          <a:lstStyle/>
          <a:p>
            <a:pPr algn="l" indent="0" marL="0">
              <a:buNone/>
            </a:pPr>
            <a:r>
              <a:rPr lang="en-US" sz="2900" b="1" dirty="0">
                <a:solidFill>
                  <a:schemeClr val="tx2"/>
                </a:solidFill>
                <a:latin typeface="Cambria" pitchFamily="34" charset="0"/>
                <a:ea typeface="Cambria" pitchFamily="34" charset="-122"/>
                <a:cs typeface="Cambria" pitchFamily="34" charset="-120"/>
              </a:rPr>
              <a:t>1.8 Reconhecer os programas</a:t>
            </a:r>
            <a:endParaRPr lang="en-US" sz="2900" dirty="0"/>
          </a:p>
        </p:txBody>
      </p:sp>
      <p:sp>
        <p:nvSpPr>
          <p:cNvPr id="4" name="Text 2"/>
          <p:cNvSpPr txBox="1"/>
          <p:nvPr/>
        </p:nvSpPr>
        <p:spPr>
          <a:xfrm>
            <a:off x="548640" y="1325880"/>
            <a:ext cx="11064240" cy="1005840"/>
          </a:xfrm>
          <a:prstGeom prst="rect">
            <a:avLst/>
          </a:prstGeom>
          <a:noFill/>
          <a:ln/>
        </p:spPr>
        <p:txBody>
          <a:bodyPr wrap="square" lIns="0" tIns="0" rIns="0" bIns="0" rtlCol="0" anchor="t"/>
          <a:lstStyle/>
          <a:p>
            <a:pPr indent="0" marL="0">
              <a:buNone/>
            </a:pPr>
            <a:r>
              <a:rPr lang="en-US" sz="1600" dirty="0">
                <a:solidFill>
                  <a:schemeClr val="tx1"/>
                </a:solidFill>
              </a:rPr>
              <a:t>Os ícones seguintes são réplicas visuais fornecidas para este curso e ajudam a reconhecer os programas. A aparência pode variar conforme a versão instalada; confirme sempre o nome da aplicação.</a:t>
            </a:r>
            <a:endParaRPr lang="en-US" sz="1600" dirty="0"/>
          </a:p>
        </p:txBody>
      </p:sp>
      <p:sp>
        <p:nvSpPr>
          <p:cNvPr id="5" name="Shape 3"/>
          <p:cNvSpPr/>
          <p:nvPr/>
        </p:nvSpPr>
        <p:spPr>
          <a:xfrm>
            <a:off x="548640" y="2651760"/>
            <a:ext cx="2377440" cy="2926080"/>
          </a:xfrm>
          <a:prstGeom prst="roundRect">
            <a:avLst>
              <a:gd name="adj" fmla="val 4615"/>
            </a:avLst>
          </a:prstGeom>
          <a:solidFill>
            <a:srgbClr val="F2F4F7"/>
          </a:solidFill>
          <a:ln w="9525">
            <a:solidFill>
              <a:srgbClr val="DCE3E9"/>
            </a:solidFill>
            <a:prstDash val="solid"/>
          </a:ln>
        </p:spPr>
      </p:sp>
      <p:pic>
        <p:nvPicPr>
          <p:cNvPr id="6" name="Image 0" descr="Microsoft Word — criar e editar documentos de texto.">    </p:cNvPr>
          <p:cNvPicPr>
            <a:picLocks noChangeAspect="1"/>
          </p:cNvPicPr>
          <p:nvPr/>
        </p:nvPicPr>
        <p:blipFill>
          <a:blip r:embed="rId1"/>
          <a:stretch>
            <a:fillRect/>
          </a:stretch>
        </p:blipFill>
        <p:spPr>
          <a:xfrm>
            <a:off x="1051560" y="2971800"/>
            <a:ext cx="1371600" cy="1371600"/>
          </a:xfrm>
          <a:prstGeom prst="rect">
            <a:avLst/>
          </a:prstGeom>
        </p:spPr>
      </p:pic>
      <p:sp>
        <p:nvSpPr>
          <p:cNvPr id="7" name="Text 4"/>
          <p:cNvSpPr txBox="1"/>
          <p:nvPr/>
        </p:nvSpPr>
        <p:spPr>
          <a:xfrm>
            <a:off x="548640" y="4572000"/>
            <a:ext cx="2377440" cy="457200"/>
          </a:xfrm>
          <a:prstGeom prst="rect">
            <a:avLst/>
          </a:prstGeom>
          <a:noFill/>
          <a:ln/>
        </p:spPr>
        <p:txBody>
          <a:bodyPr wrap="square" lIns="0" tIns="0" rIns="0" bIns="0" rtlCol="0" anchor="ctr"/>
          <a:lstStyle/>
          <a:p>
            <a:pPr algn="ctr" indent="0" marL="0">
              <a:buNone/>
            </a:pPr>
            <a:r>
              <a:rPr lang="en-US" sz="2000" b="1" dirty="0">
                <a:solidFill>
                  <a:schemeClr val="tx2"/>
                </a:solidFill>
              </a:rPr>
              <a:t>Word</a:t>
            </a:r>
            <a:endParaRPr lang="en-US" sz="2000" dirty="0"/>
          </a:p>
        </p:txBody>
      </p:sp>
      <p:sp>
        <p:nvSpPr>
          <p:cNvPr id="8" name="Shape 5"/>
          <p:cNvSpPr/>
          <p:nvPr/>
        </p:nvSpPr>
        <p:spPr>
          <a:xfrm>
            <a:off x="3444240" y="2651760"/>
            <a:ext cx="2377440" cy="2926080"/>
          </a:xfrm>
          <a:prstGeom prst="roundRect">
            <a:avLst>
              <a:gd name="adj" fmla="val 4615"/>
            </a:avLst>
          </a:prstGeom>
          <a:solidFill>
            <a:srgbClr val="F2F4F7"/>
          </a:solidFill>
          <a:ln w="9525">
            <a:solidFill>
              <a:srgbClr val="DCE3E9"/>
            </a:solidFill>
            <a:prstDash val="solid"/>
          </a:ln>
        </p:spPr>
      </p:sp>
      <p:pic>
        <p:nvPicPr>
          <p:cNvPr id="9" name="Image 1" descr="Microsoft Excel — organizar dados, calcular e criar gráficos.">    </p:cNvPr>
          <p:cNvPicPr>
            <a:picLocks noChangeAspect="1"/>
          </p:cNvPicPr>
          <p:nvPr/>
        </p:nvPicPr>
        <p:blipFill>
          <a:blip r:embed="rId2"/>
          <a:stretch>
            <a:fillRect/>
          </a:stretch>
        </p:blipFill>
        <p:spPr>
          <a:xfrm>
            <a:off x="3947160" y="2971800"/>
            <a:ext cx="1371600" cy="1371600"/>
          </a:xfrm>
          <a:prstGeom prst="rect">
            <a:avLst/>
          </a:prstGeom>
        </p:spPr>
      </p:pic>
      <p:sp>
        <p:nvSpPr>
          <p:cNvPr id="10" name="Text 6"/>
          <p:cNvSpPr txBox="1"/>
          <p:nvPr/>
        </p:nvSpPr>
        <p:spPr>
          <a:xfrm>
            <a:off x="3444240" y="4572000"/>
            <a:ext cx="2377440" cy="457200"/>
          </a:xfrm>
          <a:prstGeom prst="rect">
            <a:avLst/>
          </a:prstGeom>
          <a:noFill/>
          <a:ln/>
        </p:spPr>
        <p:txBody>
          <a:bodyPr wrap="square" lIns="0" tIns="0" rIns="0" bIns="0" rtlCol="0" anchor="ctr"/>
          <a:lstStyle/>
          <a:p>
            <a:pPr algn="ctr" indent="0" marL="0">
              <a:buNone/>
            </a:pPr>
            <a:r>
              <a:rPr lang="en-US" sz="2000" b="1" dirty="0">
                <a:solidFill>
                  <a:schemeClr val="tx2"/>
                </a:solidFill>
              </a:rPr>
              <a:t>Excel</a:t>
            </a:r>
            <a:endParaRPr lang="en-US" sz="2000" dirty="0"/>
          </a:p>
        </p:txBody>
      </p:sp>
      <p:sp>
        <p:nvSpPr>
          <p:cNvPr id="11" name="Shape 7"/>
          <p:cNvSpPr/>
          <p:nvPr/>
        </p:nvSpPr>
        <p:spPr>
          <a:xfrm>
            <a:off x="6339840" y="2651760"/>
            <a:ext cx="2377440" cy="2926080"/>
          </a:xfrm>
          <a:prstGeom prst="roundRect">
            <a:avLst>
              <a:gd name="adj" fmla="val 4615"/>
            </a:avLst>
          </a:prstGeom>
          <a:solidFill>
            <a:srgbClr val="F2F4F7"/>
          </a:solidFill>
          <a:ln w="9525">
            <a:solidFill>
              <a:srgbClr val="DCE3E9"/>
            </a:solidFill>
            <a:prstDash val="solid"/>
          </a:ln>
        </p:spPr>
      </p:sp>
      <p:pic>
        <p:nvPicPr>
          <p:cNvPr id="12" name="Image 2" descr="Microsoft PowerPoint — preparar apresentações com diapositivos.">    </p:cNvPr>
          <p:cNvPicPr>
            <a:picLocks noChangeAspect="1"/>
          </p:cNvPicPr>
          <p:nvPr/>
        </p:nvPicPr>
        <p:blipFill>
          <a:blip r:embed="rId3"/>
          <a:stretch>
            <a:fillRect/>
          </a:stretch>
        </p:blipFill>
        <p:spPr>
          <a:xfrm>
            <a:off x="6842760" y="2971800"/>
            <a:ext cx="1371600" cy="1371600"/>
          </a:xfrm>
          <a:prstGeom prst="rect">
            <a:avLst/>
          </a:prstGeom>
        </p:spPr>
      </p:pic>
      <p:sp>
        <p:nvSpPr>
          <p:cNvPr id="13" name="Text 8"/>
          <p:cNvSpPr txBox="1"/>
          <p:nvPr/>
        </p:nvSpPr>
        <p:spPr>
          <a:xfrm>
            <a:off x="6339840" y="4572000"/>
            <a:ext cx="2377440" cy="457200"/>
          </a:xfrm>
          <a:prstGeom prst="rect">
            <a:avLst/>
          </a:prstGeom>
          <a:noFill/>
          <a:ln/>
        </p:spPr>
        <p:txBody>
          <a:bodyPr wrap="square" lIns="0" tIns="0" rIns="0" bIns="0" rtlCol="0" anchor="ctr"/>
          <a:lstStyle/>
          <a:p>
            <a:pPr algn="ctr" indent="0" marL="0">
              <a:buNone/>
            </a:pPr>
            <a:r>
              <a:rPr lang="en-US" sz="2000" b="1" dirty="0">
                <a:solidFill>
                  <a:schemeClr val="tx2"/>
                </a:solidFill>
              </a:rPr>
              <a:t>PowerPoint</a:t>
            </a:r>
            <a:endParaRPr lang="en-US" sz="2000" dirty="0"/>
          </a:p>
        </p:txBody>
      </p:sp>
      <p:sp>
        <p:nvSpPr>
          <p:cNvPr id="14" name="Shape 9"/>
          <p:cNvSpPr/>
          <p:nvPr/>
        </p:nvSpPr>
        <p:spPr>
          <a:xfrm>
            <a:off x="9235440" y="2651760"/>
            <a:ext cx="2377440" cy="2926080"/>
          </a:xfrm>
          <a:prstGeom prst="roundRect">
            <a:avLst>
              <a:gd name="adj" fmla="val 4615"/>
            </a:avLst>
          </a:prstGeom>
          <a:solidFill>
            <a:srgbClr val="F2F4F7"/>
          </a:solidFill>
          <a:ln w="9525">
            <a:solidFill>
              <a:srgbClr val="DCE3E9"/>
            </a:solidFill>
            <a:prstDash val="solid"/>
          </a:ln>
        </p:spPr>
      </p:sp>
      <p:pic>
        <p:nvPicPr>
          <p:cNvPr id="15" name="Image 3" descr="Microsoft Outlook — gerir correio eletrónico, contactos e calendário.">    </p:cNvPr>
          <p:cNvPicPr>
            <a:picLocks noChangeAspect="1"/>
          </p:cNvPicPr>
          <p:nvPr/>
        </p:nvPicPr>
        <p:blipFill>
          <a:blip r:embed="rId4"/>
          <a:stretch>
            <a:fillRect/>
          </a:stretch>
        </p:blipFill>
        <p:spPr>
          <a:xfrm>
            <a:off x="9738360" y="2971800"/>
            <a:ext cx="1371600" cy="1371600"/>
          </a:xfrm>
          <a:prstGeom prst="rect">
            <a:avLst/>
          </a:prstGeom>
        </p:spPr>
      </p:pic>
      <p:sp>
        <p:nvSpPr>
          <p:cNvPr id="16" name="Text 10"/>
          <p:cNvSpPr txBox="1"/>
          <p:nvPr/>
        </p:nvSpPr>
        <p:spPr>
          <a:xfrm>
            <a:off x="9235440" y="4572000"/>
            <a:ext cx="2377440" cy="457200"/>
          </a:xfrm>
          <a:prstGeom prst="rect">
            <a:avLst/>
          </a:prstGeom>
          <a:noFill/>
          <a:ln/>
        </p:spPr>
        <p:txBody>
          <a:bodyPr wrap="square" lIns="0" tIns="0" rIns="0" bIns="0" rtlCol="0" anchor="ctr"/>
          <a:lstStyle/>
          <a:p>
            <a:pPr algn="ctr" indent="0" marL="0">
              <a:buNone/>
            </a:pPr>
            <a:r>
              <a:rPr lang="en-US" sz="2000" b="1" dirty="0">
                <a:solidFill>
                  <a:schemeClr val="tx2"/>
                </a:solidFill>
              </a:rPr>
              <a:t>Outlook</a:t>
            </a:r>
            <a:endParaRPr lang="en-US" sz="2000" dirty="0"/>
          </a:p>
        </p:txBody>
      </p:sp>
      <p:sp>
        <p:nvSpPr>
          <p:cNvPr id="17" name="Text 11"/>
          <p:cNvSpPr txBox="1"/>
          <p:nvPr/>
        </p:nvSpPr>
        <p:spPr>
          <a:xfrm>
            <a:off x="548640" y="5806440"/>
            <a:ext cx="11064240" cy="320040"/>
          </a:xfrm>
          <a:prstGeom prst="rect">
            <a:avLst/>
          </a:prstGeom>
          <a:noFill/>
          <a:ln/>
        </p:spPr>
        <p:txBody>
          <a:bodyPr wrap="square" lIns="0" tIns="0" rIns="0" bIns="0" rtlCol="0" anchor="ctr"/>
          <a:lstStyle/>
          <a:p>
            <a:pPr indent="0" marL="0">
              <a:buNone/>
            </a:pPr>
            <a:r>
              <a:rPr lang="en-US" sz="1000" i="1" dirty="0">
                <a:solidFill>
                  <a:schemeClr val="accent4"/>
                </a:solidFill>
              </a:rPr>
              <a:t>Ícones de identificação: réplicas visuais fornecidas para este curso.</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822960"/>
            <a:ext cx="5973908"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MÓDULO 1 · SÍNTESE PEDAGÓGICA</a:t>
            </a:r>
            <a:endParaRPr lang="en-US" sz="1200" dirty="0"/>
          </a:p>
        </p:txBody>
      </p:sp>
      <p:sp>
        <p:nvSpPr>
          <p:cNvPr id="3" name="Text 1"/>
          <p:cNvSpPr txBox="1"/>
          <p:nvPr/>
        </p:nvSpPr>
        <p:spPr>
          <a:xfrm>
            <a:off x="548640" y="1143000"/>
            <a:ext cx="5973908" cy="82296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Ideias-chave a reter</a:t>
            </a:r>
            <a:endParaRPr lang="en-US" sz="3400" dirty="0"/>
          </a:p>
        </p:txBody>
      </p:sp>
      <p:sp>
        <p:nvSpPr>
          <p:cNvPr id="4" name="Shape 2"/>
          <p:cNvSpPr/>
          <p:nvPr/>
        </p:nvSpPr>
        <p:spPr>
          <a:xfrm>
            <a:off x="548640" y="2194560"/>
            <a:ext cx="329184" cy="329184"/>
          </a:xfrm>
          <a:prstGeom prst="ellipse">
            <a:avLst/>
          </a:prstGeom>
          <a:solidFill>
            <a:schemeClr val="accent5"/>
          </a:solidFill>
          <a:ln w="12700">
            <a:solidFill>
              <a:srgbClr val="2E7D4F"/>
            </a:solidFill>
            <a:prstDash val="solid"/>
          </a:ln>
        </p:spPr>
      </p:sp>
      <p:sp>
        <p:nvSpPr>
          <p:cNvPr id="5" name="Text 3"/>
          <p:cNvSpPr txBox="1"/>
          <p:nvPr/>
        </p:nvSpPr>
        <p:spPr>
          <a:xfrm>
            <a:off x="548640" y="2194560"/>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6" name="Text 4"/>
          <p:cNvSpPr txBox="1"/>
          <p:nvPr/>
        </p:nvSpPr>
        <p:spPr>
          <a:xfrm>
            <a:off x="1051560" y="2148840"/>
            <a:ext cx="5470988" cy="589280"/>
          </a:xfrm>
          <a:prstGeom prst="rect">
            <a:avLst/>
          </a:prstGeom>
          <a:noFill/>
          <a:ln/>
        </p:spPr>
        <p:txBody>
          <a:bodyPr wrap="square" lIns="0" tIns="0" rIns="0" bIns="0" rtlCol="0" anchor="t"/>
          <a:lstStyle/>
          <a:p>
            <a:pPr indent="0" marL="0">
              <a:buNone/>
            </a:pPr>
            <a:r>
              <a:rPr lang="en-US" sz="1600" dirty="0">
                <a:solidFill>
                  <a:schemeClr val="tx1"/>
                </a:solidFill>
              </a:rPr>
              <a:t>O hardware é a parte física do computador; o software são os programas.</a:t>
            </a:r>
            <a:endParaRPr lang="en-US" sz="1600" dirty="0"/>
          </a:p>
        </p:txBody>
      </p:sp>
      <p:sp>
        <p:nvSpPr>
          <p:cNvPr id="7" name="Shape 5"/>
          <p:cNvSpPr/>
          <p:nvPr/>
        </p:nvSpPr>
        <p:spPr>
          <a:xfrm>
            <a:off x="548640" y="2948432"/>
            <a:ext cx="329184" cy="329184"/>
          </a:xfrm>
          <a:prstGeom prst="ellipse">
            <a:avLst/>
          </a:prstGeom>
          <a:solidFill>
            <a:schemeClr val="accent5"/>
          </a:solidFill>
          <a:ln w="12700">
            <a:solidFill>
              <a:srgbClr val="2E7D4F"/>
            </a:solidFill>
            <a:prstDash val="solid"/>
          </a:ln>
        </p:spPr>
      </p:sp>
      <p:sp>
        <p:nvSpPr>
          <p:cNvPr id="8" name="Text 6"/>
          <p:cNvSpPr txBox="1"/>
          <p:nvPr/>
        </p:nvSpPr>
        <p:spPr>
          <a:xfrm>
            <a:off x="548640" y="2948432"/>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9" name="Text 7"/>
          <p:cNvSpPr txBox="1"/>
          <p:nvPr/>
        </p:nvSpPr>
        <p:spPr>
          <a:xfrm>
            <a:off x="1051560" y="2902712"/>
            <a:ext cx="5470988" cy="589280"/>
          </a:xfrm>
          <a:prstGeom prst="rect">
            <a:avLst/>
          </a:prstGeom>
          <a:noFill/>
          <a:ln/>
        </p:spPr>
        <p:txBody>
          <a:bodyPr wrap="square" lIns="0" tIns="0" rIns="0" bIns="0" rtlCol="0" anchor="t"/>
          <a:lstStyle/>
          <a:p>
            <a:pPr indent="0" marL="0">
              <a:buNone/>
            </a:pPr>
            <a:r>
              <a:rPr lang="en-US" sz="1600" dirty="0">
                <a:solidFill>
                  <a:schemeClr val="tx1"/>
                </a:solidFill>
              </a:rPr>
              <a:t>O Windows 11 é o sistema operativo: gere o computador e os outros programas.</a:t>
            </a:r>
            <a:endParaRPr lang="en-US" sz="1600" dirty="0"/>
          </a:p>
        </p:txBody>
      </p:sp>
      <p:sp>
        <p:nvSpPr>
          <p:cNvPr id="10" name="Shape 8"/>
          <p:cNvSpPr/>
          <p:nvPr/>
        </p:nvSpPr>
        <p:spPr>
          <a:xfrm>
            <a:off x="548640" y="3702304"/>
            <a:ext cx="329184" cy="329184"/>
          </a:xfrm>
          <a:prstGeom prst="ellipse">
            <a:avLst/>
          </a:prstGeom>
          <a:solidFill>
            <a:schemeClr val="accent5"/>
          </a:solidFill>
          <a:ln w="12700">
            <a:solidFill>
              <a:srgbClr val="2E7D4F"/>
            </a:solidFill>
            <a:prstDash val="solid"/>
          </a:ln>
        </p:spPr>
      </p:sp>
      <p:sp>
        <p:nvSpPr>
          <p:cNvPr id="11" name="Text 9"/>
          <p:cNvSpPr txBox="1"/>
          <p:nvPr/>
        </p:nvSpPr>
        <p:spPr>
          <a:xfrm>
            <a:off x="548640" y="3702304"/>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2" name="Text 10"/>
          <p:cNvSpPr txBox="1"/>
          <p:nvPr/>
        </p:nvSpPr>
        <p:spPr>
          <a:xfrm>
            <a:off x="1051560" y="3656584"/>
            <a:ext cx="5470988" cy="589280"/>
          </a:xfrm>
          <a:prstGeom prst="rect">
            <a:avLst/>
          </a:prstGeom>
          <a:noFill/>
          <a:ln/>
        </p:spPr>
        <p:txBody>
          <a:bodyPr wrap="square" lIns="0" tIns="0" rIns="0" bIns="0" rtlCol="0" anchor="t"/>
          <a:lstStyle/>
          <a:p>
            <a:pPr indent="0" marL="0">
              <a:buNone/>
            </a:pPr>
            <a:r>
              <a:rPr lang="en-US" sz="1600" dirty="0">
                <a:solidFill>
                  <a:schemeClr val="tx1"/>
                </a:solidFill>
              </a:rPr>
              <a:t>O ambiente de trabalho tem ícones, barra de tarefas, botão Iniciar e área de notificação.</a:t>
            </a:r>
            <a:endParaRPr lang="en-US" sz="1600" dirty="0"/>
          </a:p>
        </p:txBody>
      </p:sp>
      <p:sp>
        <p:nvSpPr>
          <p:cNvPr id="13" name="Shape 11"/>
          <p:cNvSpPr/>
          <p:nvPr/>
        </p:nvSpPr>
        <p:spPr>
          <a:xfrm>
            <a:off x="548640" y="4456176"/>
            <a:ext cx="329184" cy="329184"/>
          </a:xfrm>
          <a:prstGeom prst="ellipse">
            <a:avLst/>
          </a:prstGeom>
          <a:solidFill>
            <a:schemeClr val="accent5"/>
          </a:solidFill>
          <a:ln w="12700">
            <a:solidFill>
              <a:srgbClr val="2E7D4F"/>
            </a:solidFill>
            <a:prstDash val="solid"/>
          </a:ln>
        </p:spPr>
      </p:sp>
      <p:sp>
        <p:nvSpPr>
          <p:cNvPr id="14" name="Text 12"/>
          <p:cNvSpPr txBox="1"/>
          <p:nvPr/>
        </p:nvSpPr>
        <p:spPr>
          <a:xfrm>
            <a:off x="548640" y="4456176"/>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5" name="Text 13"/>
          <p:cNvSpPr txBox="1"/>
          <p:nvPr/>
        </p:nvSpPr>
        <p:spPr>
          <a:xfrm>
            <a:off x="1051560" y="4410456"/>
            <a:ext cx="5470988" cy="589280"/>
          </a:xfrm>
          <a:prstGeom prst="rect">
            <a:avLst/>
          </a:prstGeom>
          <a:noFill/>
          <a:ln/>
        </p:spPr>
        <p:txBody>
          <a:bodyPr wrap="square" lIns="0" tIns="0" rIns="0" bIns="0" rtlCol="0" anchor="t"/>
          <a:lstStyle/>
          <a:p>
            <a:pPr indent="0" marL="0">
              <a:buNone/>
            </a:pPr>
            <a:r>
              <a:rPr lang="en-US" sz="1600" dirty="0">
                <a:solidFill>
                  <a:schemeClr val="tx1"/>
                </a:solidFill>
              </a:rPr>
              <a:t>Os botões de uma janela permitem minimizar, maximizar e fechar.</a:t>
            </a:r>
            <a:endParaRPr lang="en-US" sz="1600" dirty="0"/>
          </a:p>
        </p:txBody>
      </p:sp>
      <p:sp>
        <p:nvSpPr>
          <p:cNvPr id="16" name="Shape 14"/>
          <p:cNvSpPr/>
          <p:nvPr/>
        </p:nvSpPr>
        <p:spPr>
          <a:xfrm>
            <a:off x="548640" y="5210048"/>
            <a:ext cx="329184" cy="329184"/>
          </a:xfrm>
          <a:prstGeom prst="ellipse">
            <a:avLst/>
          </a:prstGeom>
          <a:solidFill>
            <a:schemeClr val="accent5"/>
          </a:solidFill>
          <a:ln w="12700">
            <a:solidFill>
              <a:srgbClr val="2E7D4F"/>
            </a:solidFill>
            <a:prstDash val="solid"/>
          </a:ln>
        </p:spPr>
      </p:sp>
      <p:sp>
        <p:nvSpPr>
          <p:cNvPr id="17" name="Text 15"/>
          <p:cNvSpPr txBox="1"/>
          <p:nvPr/>
        </p:nvSpPr>
        <p:spPr>
          <a:xfrm>
            <a:off x="548640" y="5210048"/>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8" name="Text 16"/>
          <p:cNvSpPr txBox="1"/>
          <p:nvPr/>
        </p:nvSpPr>
        <p:spPr>
          <a:xfrm>
            <a:off x="1051560" y="5164328"/>
            <a:ext cx="5470988" cy="589280"/>
          </a:xfrm>
          <a:prstGeom prst="rect">
            <a:avLst/>
          </a:prstGeom>
          <a:noFill/>
          <a:ln/>
        </p:spPr>
        <p:txBody>
          <a:bodyPr wrap="square" lIns="0" tIns="0" rIns="0" bIns="0" rtlCol="0" anchor="t"/>
          <a:lstStyle/>
          <a:p>
            <a:pPr indent="0" marL="0">
              <a:buNone/>
            </a:pPr>
            <a:r>
              <a:rPr lang="en-US" sz="1600" dirty="0">
                <a:solidFill>
                  <a:schemeClr val="tx1"/>
                </a:solidFill>
              </a:rPr>
              <a:t>Encerre sempre o computador pelo menu Iniciar, depois de guardar o trabalho.</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146304"/>
            <a:ext cx="9601200" cy="219456"/>
          </a:xfrm>
          <a:prstGeom prst="rect">
            <a:avLst/>
          </a:prstGeom>
          <a:noFill/>
          <a:ln/>
        </p:spPr>
        <p:txBody>
          <a:bodyPr wrap="square" lIns="0" tIns="0" rIns="0" bIns="0" rtlCol="0" anchor="ctr"/>
          <a:lstStyle/>
          <a:p>
            <a:pPr indent="0" marL="0">
              <a:buNone/>
            </a:pPr>
            <a:r>
              <a:rPr lang="en-US" sz="1000" b="1" spc="250" kern="0" dirty="0">
                <a:solidFill>
                  <a:schemeClr val="accent2"/>
                </a:solidFill>
              </a:rPr>
              <a:t>MÓDULO 1 · PRÁTICA GUIADA EM LABORATÓRIO</a:t>
            </a:r>
            <a:endParaRPr lang="en-US" sz="1000" dirty="0"/>
          </a:p>
        </p:txBody>
      </p:sp>
      <p:sp>
        <p:nvSpPr>
          <p:cNvPr id="3" name="Text 1"/>
          <p:cNvSpPr/>
          <p:nvPr>
            <p:ph idx="101" type="title" hasCustomPrompt="1"/>
          </p:nvPr>
        </p:nvSpPr>
        <p:spPr>
          <a:xfrm>
            <a:off x="548640" y="384048"/>
            <a:ext cx="10241280" cy="749808"/>
          </a:xfrm>
          <a:prstGeom prst="rect">
            <a:avLst/>
          </a:prstGeom>
          <a:noFill/>
          <a:ln/>
        </p:spPr>
        <p:txBody>
          <a:bodyPr wrap="square" lIns="0" tIns="0" rIns="0" bIns="0" rtlCol="0" anchor="ctr"/>
          <a:lstStyle/>
          <a:p>
            <a:pPr algn="l" indent="0" marL="0">
              <a:buNone/>
            </a:pPr>
            <a:r>
              <a:rPr lang="en-US" sz="2900" b="1" dirty="0">
                <a:solidFill>
                  <a:schemeClr val="tx2"/>
                </a:solidFill>
                <a:latin typeface="Cambria" pitchFamily="34" charset="0"/>
                <a:ea typeface="Cambria" pitchFamily="34" charset="-122"/>
                <a:cs typeface="Cambria" pitchFamily="34" charset="-120"/>
              </a:rPr>
              <a:t>Exercício 1.1 – Primeiros passos no Windows 11</a:t>
            </a:r>
            <a:endParaRPr lang="en-US" sz="2900" dirty="0"/>
          </a:p>
        </p:txBody>
      </p:sp>
      <p:sp>
        <p:nvSpPr>
          <p:cNvPr id="4" name="Shape 2"/>
          <p:cNvSpPr/>
          <p:nvPr/>
        </p:nvSpPr>
        <p:spPr>
          <a:xfrm>
            <a:off x="548640" y="1371600"/>
            <a:ext cx="3108960" cy="4754880"/>
          </a:xfrm>
          <a:prstGeom prst="roundRect">
            <a:avLst>
              <a:gd name="adj" fmla="val 4412"/>
            </a:avLst>
          </a:prstGeom>
          <a:solidFill>
            <a:srgbClr val="F2F4F7"/>
          </a:solidFill>
          <a:ln w="9525">
            <a:solidFill>
              <a:srgbClr val="DCE3E9"/>
            </a:solidFill>
            <a:prstDash val="solid"/>
          </a:ln>
        </p:spPr>
      </p:sp>
      <p:sp>
        <p:nvSpPr>
          <p:cNvPr id="5" name="Text 3"/>
          <p:cNvSpPr txBox="1"/>
          <p:nvPr/>
        </p:nvSpPr>
        <p:spPr>
          <a:xfrm>
            <a:off x="548640" y="1554480"/>
            <a:ext cx="3108960" cy="960120"/>
          </a:xfrm>
          <a:prstGeom prst="rect">
            <a:avLst/>
          </a:prstGeom>
          <a:noFill/>
          <a:ln/>
        </p:spPr>
        <p:txBody>
          <a:bodyPr wrap="square" lIns="0" tIns="0" rIns="0" bIns="0" rtlCol="0" anchor="ctr"/>
          <a:lstStyle/>
          <a:p>
            <a:pPr algn="ctr" indent="0" marL="0">
              <a:buNone/>
            </a:pPr>
            <a:r>
              <a:rPr lang="en-US" sz="5800" b="1" dirty="0">
                <a:solidFill>
                  <a:schemeClr val="accent1"/>
                </a:solidFill>
                <a:latin typeface="Cambria" pitchFamily="34" charset="0"/>
                <a:ea typeface="Cambria" pitchFamily="34" charset="-122"/>
                <a:cs typeface="Cambria" pitchFamily="34" charset="-120"/>
              </a:rPr>
              <a:t>15</a:t>
            </a:r>
            <a:endParaRPr lang="en-US" sz="5800" dirty="0"/>
          </a:p>
        </p:txBody>
      </p:sp>
      <p:sp>
        <p:nvSpPr>
          <p:cNvPr id="6" name="Text 4"/>
          <p:cNvSpPr txBox="1"/>
          <p:nvPr/>
        </p:nvSpPr>
        <p:spPr>
          <a:xfrm>
            <a:off x="548640" y="2514600"/>
            <a:ext cx="3108960" cy="347472"/>
          </a:xfrm>
          <a:prstGeom prst="rect">
            <a:avLst/>
          </a:prstGeom>
          <a:noFill/>
          <a:ln/>
        </p:spPr>
        <p:txBody>
          <a:bodyPr wrap="square" lIns="0" tIns="0" rIns="0" bIns="0" rtlCol="0" anchor="ctr"/>
          <a:lstStyle/>
          <a:p>
            <a:pPr algn="ctr" indent="0" marL="0">
              <a:buNone/>
            </a:pPr>
            <a:r>
              <a:rPr lang="en-US" sz="1500" b="1" dirty="0">
                <a:solidFill>
                  <a:schemeClr val="tx2"/>
                </a:solidFill>
              </a:rPr>
              <a:t>minutos de prática</a:t>
            </a:r>
            <a:endParaRPr lang="en-US" sz="1500" dirty="0"/>
          </a:p>
        </p:txBody>
      </p:sp>
      <p:sp>
        <p:nvSpPr>
          <p:cNvPr id="7" name="Text 5"/>
          <p:cNvSpPr txBox="1"/>
          <p:nvPr/>
        </p:nvSpPr>
        <p:spPr>
          <a:xfrm>
            <a:off x="777240" y="3017520"/>
            <a:ext cx="2651760" cy="914400"/>
          </a:xfrm>
          <a:prstGeom prst="rect">
            <a:avLst/>
          </a:prstGeom>
          <a:noFill/>
          <a:ln/>
        </p:spPr>
        <p:txBody>
          <a:bodyPr wrap="square" lIns="0" tIns="0" rIns="0" bIns="0" rtlCol="0" anchor="t"/>
          <a:lstStyle/>
          <a:p>
            <a:pPr algn="ctr" indent="0" marL="0">
              <a:buNone/>
            </a:pPr>
            <a:r>
              <a:rPr lang="en-US" sz="1350" dirty="0">
                <a:solidFill>
                  <a:schemeClr val="tx1"/>
                </a:solidFill>
              </a:rPr>
              <a:t>Nenhum (usa apenas o Windows)</a:t>
            </a:r>
            <a:endParaRPr lang="en-US" sz="1350" dirty="0"/>
          </a:p>
        </p:txBody>
      </p:sp>
      <p:pic>
        <p:nvPicPr>
          <p:cNvPr id="8" name="Image 0" descr="Helena, guia virtual ATC">    </p:cNvPr>
          <p:cNvPicPr>
            <a:picLocks noChangeAspect="1"/>
          </p:cNvPicPr>
          <p:nvPr/>
        </p:nvPicPr>
        <p:blipFill>
          <a:blip r:embed="rId1"/>
          <a:stretch>
            <a:fillRect/>
          </a:stretch>
        </p:blipFill>
        <p:spPr>
          <a:xfrm>
            <a:off x="1417320" y="4160520"/>
            <a:ext cx="1371600" cy="1371600"/>
          </a:xfrm>
          <a:prstGeom prst="rect">
            <a:avLst/>
          </a:prstGeom>
        </p:spPr>
      </p:pic>
      <p:sp>
        <p:nvSpPr>
          <p:cNvPr id="9" name="Text 6"/>
          <p:cNvSpPr txBox="1"/>
          <p:nvPr/>
        </p:nvSpPr>
        <p:spPr>
          <a:xfrm>
            <a:off x="548640" y="5650992"/>
            <a:ext cx="3108960" cy="320040"/>
          </a:xfrm>
          <a:prstGeom prst="rect">
            <a:avLst/>
          </a:prstGeom>
          <a:noFill/>
          <a:ln/>
        </p:spPr>
        <p:txBody>
          <a:bodyPr wrap="square" lIns="0" tIns="0" rIns="0" bIns="0" rtlCol="0" anchor="ctr"/>
          <a:lstStyle/>
          <a:p>
            <a:pPr algn="ctr" indent="0" marL="0">
              <a:buNone/>
            </a:pPr>
            <a:r>
              <a:rPr lang="en-US" sz="1200" b="1" dirty="0">
                <a:solidFill>
                  <a:schemeClr val="accent2"/>
                </a:solidFill>
              </a:rPr>
              <a:t>Apoio da Helena</a:t>
            </a:r>
            <a:endParaRPr lang="en-US" sz="1200" dirty="0"/>
          </a:p>
        </p:txBody>
      </p:sp>
      <p:sp>
        <p:nvSpPr>
          <p:cNvPr id="10" name="Shape 7"/>
          <p:cNvSpPr/>
          <p:nvPr/>
        </p:nvSpPr>
        <p:spPr>
          <a:xfrm>
            <a:off x="4069080" y="1435608"/>
            <a:ext cx="347472" cy="347472"/>
          </a:xfrm>
          <a:prstGeom prst="ellipse">
            <a:avLst/>
          </a:prstGeom>
          <a:solidFill>
            <a:schemeClr val="accent2"/>
          </a:solidFill>
          <a:ln w="12700">
            <a:solidFill>
              <a:schemeClr val="accent2"/>
            </a:solidFill>
            <a:prstDash val="solid"/>
          </a:ln>
        </p:spPr>
      </p:sp>
      <p:sp>
        <p:nvSpPr>
          <p:cNvPr id="11" name="Text 8"/>
          <p:cNvSpPr txBox="1"/>
          <p:nvPr/>
        </p:nvSpPr>
        <p:spPr>
          <a:xfrm>
            <a:off x="4069080" y="14356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2" name="Text 9"/>
          <p:cNvSpPr txBox="1"/>
          <p:nvPr/>
        </p:nvSpPr>
        <p:spPr>
          <a:xfrm>
            <a:off x="4572000" y="1417320"/>
            <a:ext cx="7086600" cy="384048"/>
          </a:xfrm>
          <a:prstGeom prst="rect">
            <a:avLst/>
          </a:prstGeom>
          <a:noFill/>
          <a:ln/>
        </p:spPr>
        <p:txBody>
          <a:bodyPr wrap="square" lIns="0" tIns="0" rIns="0" bIns="0" rtlCol="0" anchor="t"/>
          <a:lstStyle/>
          <a:p>
            <a:pPr indent="0" marL="0">
              <a:buNone/>
            </a:pPr>
            <a:r>
              <a:rPr lang="en-US" sz="1350" dirty="0">
                <a:solidFill>
                  <a:schemeClr val="tx1"/>
                </a:solidFill>
              </a:rPr>
              <a:t>Ligue o computador e inicie sessão com o seu PIN ou palavra-passe.</a:t>
            </a:r>
            <a:endParaRPr lang="en-US" sz="1350" dirty="0"/>
          </a:p>
        </p:txBody>
      </p:sp>
      <p:sp>
        <p:nvSpPr>
          <p:cNvPr id="13" name="Shape 10"/>
          <p:cNvSpPr/>
          <p:nvPr/>
        </p:nvSpPr>
        <p:spPr>
          <a:xfrm>
            <a:off x="4069080" y="1947672"/>
            <a:ext cx="347472" cy="347472"/>
          </a:xfrm>
          <a:prstGeom prst="ellipse">
            <a:avLst/>
          </a:prstGeom>
          <a:solidFill>
            <a:schemeClr val="accent2"/>
          </a:solidFill>
          <a:ln w="12700">
            <a:solidFill>
              <a:schemeClr val="accent2"/>
            </a:solidFill>
            <a:prstDash val="solid"/>
          </a:ln>
        </p:spPr>
      </p:sp>
      <p:sp>
        <p:nvSpPr>
          <p:cNvPr id="14" name="Text 11"/>
          <p:cNvSpPr txBox="1"/>
          <p:nvPr/>
        </p:nvSpPr>
        <p:spPr>
          <a:xfrm>
            <a:off x="4069080" y="1947672"/>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5" name="Text 12"/>
          <p:cNvSpPr txBox="1"/>
          <p:nvPr/>
        </p:nvSpPr>
        <p:spPr>
          <a:xfrm>
            <a:off x="4572000" y="1929384"/>
            <a:ext cx="7086600" cy="459486"/>
          </a:xfrm>
          <a:prstGeom prst="rect">
            <a:avLst/>
          </a:prstGeom>
          <a:noFill/>
          <a:ln/>
        </p:spPr>
        <p:txBody>
          <a:bodyPr wrap="square" lIns="0" tIns="0" rIns="0" bIns="0" rtlCol="0" anchor="t"/>
          <a:lstStyle/>
          <a:p>
            <a:pPr indent="0" marL="0">
              <a:buNone/>
            </a:pPr>
            <a:r>
              <a:rPr lang="en-US" sz="1350" dirty="0">
                <a:solidFill>
                  <a:schemeClr val="tx1"/>
                </a:solidFill>
              </a:rPr>
              <a:t>Identifique no ambiente de trabalho: um ícone, a barra de tarefas, o botão Iniciar e a área de notificação.</a:t>
            </a:r>
            <a:endParaRPr lang="en-US" sz="1350" dirty="0"/>
          </a:p>
        </p:txBody>
      </p:sp>
      <p:sp>
        <p:nvSpPr>
          <p:cNvPr id="16" name="Shape 13"/>
          <p:cNvSpPr/>
          <p:nvPr/>
        </p:nvSpPr>
        <p:spPr>
          <a:xfrm>
            <a:off x="4069080" y="2535174"/>
            <a:ext cx="347472" cy="347472"/>
          </a:xfrm>
          <a:prstGeom prst="ellipse">
            <a:avLst/>
          </a:prstGeom>
          <a:solidFill>
            <a:schemeClr val="accent2"/>
          </a:solidFill>
          <a:ln w="12700">
            <a:solidFill>
              <a:schemeClr val="accent2"/>
            </a:solidFill>
            <a:prstDash val="solid"/>
          </a:ln>
        </p:spPr>
      </p:sp>
      <p:sp>
        <p:nvSpPr>
          <p:cNvPr id="17" name="Text 14"/>
          <p:cNvSpPr txBox="1"/>
          <p:nvPr/>
        </p:nvSpPr>
        <p:spPr>
          <a:xfrm>
            <a:off x="4069080" y="2535174"/>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8" name="Text 15"/>
          <p:cNvSpPr txBox="1"/>
          <p:nvPr/>
        </p:nvSpPr>
        <p:spPr>
          <a:xfrm>
            <a:off x="4572000" y="2516886"/>
            <a:ext cx="7086600" cy="384048"/>
          </a:xfrm>
          <a:prstGeom prst="rect">
            <a:avLst/>
          </a:prstGeom>
          <a:noFill/>
          <a:ln/>
        </p:spPr>
        <p:txBody>
          <a:bodyPr wrap="square" lIns="0" tIns="0" rIns="0" bIns="0" rtlCol="0" anchor="t"/>
          <a:lstStyle/>
          <a:p>
            <a:pPr indent="0" marL="0">
              <a:buNone/>
            </a:pPr>
            <a:r>
              <a:rPr lang="en-US" sz="1350" dirty="0">
                <a:solidFill>
                  <a:schemeClr val="tx1"/>
                </a:solidFill>
              </a:rPr>
              <a:t>Abra o menu Iniciar, escreva Bloco de Notas e abra a aplicação.</a:t>
            </a:r>
            <a:endParaRPr lang="en-US" sz="1350" dirty="0"/>
          </a:p>
        </p:txBody>
      </p:sp>
      <p:sp>
        <p:nvSpPr>
          <p:cNvPr id="19" name="Shape 16"/>
          <p:cNvSpPr/>
          <p:nvPr/>
        </p:nvSpPr>
        <p:spPr>
          <a:xfrm>
            <a:off x="4069080" y="3047238"/>
            <a:ext cx="347472" cy="347472"/>
          </a:xfrm>
          <a:prstGeom prst="ellipse">
            <a:avLst/>
          </a:prstGeom>
          <a:solidFill>
            <a:schemeClr val="accent2"/>
          </a:solidFill>
          <a:ln w="12700">
            <a:solidFill>
              <a:schemeClr val="accent2"/>
            </a:solidFill>
            <a:prstDash val="solid"/>
          </a:ln>
        </p:spPr>
      </p:sp>
      <p:sp>
        <p:nvSpPr>
          <p:cNvPr id="20" name="Text 17"/>
          <p:cNvSpPr txBox="1"/>
          <p:nvPr/>
        </p:nvSpPr>
        <p:spPr>
          <a:xfrm>
            <a:off x="4069080" y="304723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1" name="Text 18"/>
          <p:cNvSpPr txBox="1"/>
          <p:nvPr/>
        </p:nvSpPr>
        <p:spPr>
          <a:xfrm>
            <a:off x="4572000" y="3028950"/>
            <a:ext cx="7086600" cy="384048"/>
          </a:xfrm>
          <a:prstGeom prst="rect">
            <a:avLst/>
          </a:prstGeom>
          <a:noFill/>
          <a:ln/>
        </p:spPr>
        <p:txBody>
          <a:bodyPr wrap="square" lIns="0" tIns="0" rIns="0" bIns="0" rtlCol="0" anchor="t"/>
          <a:lstStyle/>
          <a:p>
            <a:pPr indent="0" marL="0">
              <a:buNone/>
            </a:pPr>
            <a:r>
              <a:rPr lang="en-US" sz="1350" dirty="0">
                <a:solidFill>
                  <a:schemeClr val="tx1"/>
                </a:solidFill>
              </a:rPr>
              <a:t>Escreva o seu nome na janela do Bloco de Notas.</a:t>
            </a:r>
            <a:endParaRPr lang="en-US" sz="1350" dirty="0"/>
          </a:p>
        </p:txBody>
      </p:sp>
      <p:sp>
        <p:nvSpPr>
          <p:cNvPr id="22" name="Shape 19"/>
          <p:cNvSpPr/>
          <p:nvPr/>
        </p:nvSpPr>
        <p:spPr>
          <a:xfrm>
            <a:off x="4069080" y="3559302"/>
            <a:ext cx="347472" cy="347472"/>
          </a:xfrm>
          <a:prstGeom prst="ellipse">
            <a:avLst/>
          </a:prstGeom>
          <a:solidFill>
            <a:schemeClr val="accent2"/>
          </a:solidFill>
          <a:ln w="12700">
            <a:solidFill>
              <a:schemeClr val="accent2"/>
            </a:solidFill>
            <a:prstDash val="solid"/>
          </a:ln>
        </p:spPr>
      </p:sp>
      <p:sp>
        <p:nvSpPr>
          <p:cNvPr id="23" name="Text 20"/>
          <p:cNvSpPr txBox="1"/>
          <p:nvPr/>
        </p:nvSpPr>
        <p:spPr>
          <a:xfrm>
            <a:off x="4069080" y="3559302"/>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4" name="Text 21"/>
          <p:cNvSpPr txBox="1"/>
          <p:nvPr/>
        </p:nvSpPr>
        <p:spPr>
          <a:xfrm>
            <a:off x="4572000" y="3541014"/>
            <a:ext cx="7086600" cy="459486"/>
          </a:xfrm>
          <a:prstGeom prst="rect">
            <a:avLst/>
          </a:prstGeom>
          <a:noFill/>
          <a:ln/>
        </p:spPr>
        <p:txBody>
          <a:bodyPr wrap="square" lIns="0" tIns="0" rIns="0" bIns="0" rtlCol="0" anchor="t"/>
          <a:lstStyle/>
          <a:p>
            <a:pPr indent="0" marL="0">
              <a:buNone/>
            </a:pPr>
            <a:r>
              <a:rPr lang="en-US" sz="1350" dirty="0">
                <a:solidFill>
                  <a:schemeClr val="tx1"/>
                </a:solidFill>
              </a:rPr>
              <a:t>Maximize a janela, depois restaure-a e minimize-a. Volte a abri-la a partir da barra de tarefas.</a:t>
            </a:r>
            <a:endParaRPr lang="en-US" sz="1350" dirty="0"/>
          </a:p>
        </p:txBody>
      </p:sp>
      <p:sp>
        <p:nvSpPr>
          <p:cNvPr id="25" name="Shape 22"/>
          <p:cNvSpPr/>
          <p:nvPr/>
        </p:nvSpPr>
        <p:spPr>
          <a:xfrm>
            <a:off x="4069080" y="4146804"/>
            <a:ext cx="347472" cy="347472"/>
          </a:xfrm>
          <a:prstGeom prst="ellipse">
            <a:avLst/>
          </a:prstGeom>
          <a:solidFill>
            <a:schemeClr val="accent2"/>
          </a:solidFill>
          <a:ln w="12700">
            <a:solidFill>
              <a:schemeClr val="accent2"/>
            </a:solidFill>
            <a:prstDash val="solid"/>
          </a:ln>
        </p:spPr>
      </p:sp>
      <p:sp>
        <p:nvSpPr>
          <p:cNvPr id="26" name="Text 23"/>
          <p:cNvSpPr txBox="1"/>
          <p:nvPr/>
        </p:nvSpPr>
        <p:spPr>
          <a:xfrm>
            <a:off x="4069080" y="4146804"/>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7" name="Text 24"/>
          <p:cNvSpPr txBox="1"/>
          <p:nvPr/>
        </p:nvSpPr>
        <p:spPr>
          <a:xfrm>
            <a:off x="4572000" y="4128516"/>
            <a:ext cx="7086600" cy="384048"/>
          </a:xfrm>
          <a:prstGeom prst="rect">
            <a:avLst/>
          </a:prstGeom>
          <a:noFill/>
          <a:ln/>
        </p:spPr>
        <p:txBody>
          <a:bodyPr wrap="square" lIns="0" tIns="0" rIns="0" bIns="0" rtlCol="0" anchor="t"/>
          <a:lstStyle/>
          <a:p>
            <a:pPr indent="0" marL="0">
              <a:buNone/>
            </a:pPr>
            <a:r>
              <a:rPr lang="en-US" sz="1350" dirty="0">
                <a:solidFill>
                  <a:schemeClr val="tx1"/>
                </a:solidFill>
              </a:rPr>
              <a:t>Feche o Bloco de Notas sem guardar (clique em Não guardar).</a:t>
            </a:r>
            <a:endParaRPr lang="en-US" sz="1350" dirty="0"/>
          </a:p>
        </p:txBody>
      </p:sp>
      <p:sp>
        <p:nvSpPr>
          <p:cNvPr id="28" name="Shape 25"/>
          <p:cNvSpPr/>
          <p:nvPr/>
        </p:nvSpPr>
        <p:spPr>
          <a:xfrm>
            <a:off x="4069080" y="4658868"/>
            <a:ext cx="347472" cy="347472"/>
          </a:xfrm>
          <a:prstGeom prst="ellipse">
            <a:avLst/>
          </a:prstGeom>
          <a:solidFill>
            <a:schemeClr val="accent2"/>
          </a:solidFill>
          <a:ln w="12700">
            <a:solidFill>
              <a:schemeClr val="accent2"/>
            </a:solidFill>
            <a:prstDash val="solid"/>
          </a:ln>
        </p:spPr>
      </p:sp>
      <p:sp>
        <p:nvSpPr>
          <p:cNvPr id="29" name="Text 26"/>
          <p:cNvSpPr txBox="1"/>
          <p:nvPr/>
        </p:nvSpPr>
        <p:spPr>
          <a:xfrm>
            <a:off x="4069080" y="465886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30" name="Text 27"/>
          <p:cNvSpPr txBox="1"/>
          <p:nvPr/>
        </p:nvSpPr>
        <p:spPr>
          <a:xfrm>
            <a:off x="4572000" y="4640580"/>
            <a:ext cx="7086600" cy="384048"/>
          </a:xfrm>
          <a:prstGeom prst="rect">
            <a:avLst/>
          </a:prstGeom>
          <a:noFill/>
          <a:ln/>
        </p:spPr>
        <p:txBody>
          <a:bodyPr wrap="square" lIns="0" tIns="0" rIns="0" bIns="0" rtlCol="0" anchor="t"/>
          <a:lstStyle/>
          <a:p>
            <a:pPr indent="0" marL="0">
              <a:buNone/>
            </a:pPr>
            <a:r>
              <a:rPr lang="en-US" sz="1350" dirty="0">
                <a:solidFill>
                  <a:schemeClr val="tx1"/>
                </a:solidFill>
              </a:rPr>
              <a:t>Encerre o computador a partir do menu Iniciar.</a:t>
            </a:r>
            <a:endParaRPr lang="en-US" sz="1350" dirty="0"/>
          </a:p>
        </p:txBody>
      </p:sp>
      <p:sp>
        <p:nvSpPr>
          <p:cNvPr id="31" name="Shape 28"/>
          <p:cNvSpPr/>
          <p:nvPr/>
        </p:nvSpPr>
        <p:spPr>
          <a:xfrm>
            <a:off x="4069080" y="5532120"/>
            <a:ext cx="7589520" cy="594360"/>
          </a:xfrm>
          <a:prstGeom prst="roundRect">
            <a:avLst>
              <a:gd name="adj" fmla="val 12308"/>
            </a:avLst>
          </a:prstGeom>
          <a:solidFill>
            <a:srgbClr val="EDF7F1"/>
          </a:solidFill>
          <a:ln w="9525">
            <a:solidFill>
              <a:srgbClr val="B8DEC6"/>
            </a:solidFill>
            <a:prstDash val="solid"/>
          </a:ln>
        </p:spPr>
      </p:sp>
      <p:sp>
        <p:nvSpPr>
          <p:cNvPr id="32" name="Text 29"/>
          <p:cNvSpPr txBox="1"/>
          <p:nvPr/>
        </p:nvSpPr>
        <p:spPr>
          <a:xfrm>
            <a:off x="4251960" y="5577840"/>
            <a:ext cx="7223760" cy="502920"/>
          </a:xfrm>
          <a:prstGeom prst="rect">
            <a:avLst/>
          </a:prstGeom>
          <a:noFill/>
          <a:ln/>
        </p:spPr>
        <p:txBody>
          <a:bodyPr wrap="square" lIns="0" tIns="0" rIns="0" bIns="0" rtlCol="0" anchor="ctr"/>
          <a:lstStyle/>
          <a:p>
            <a:pPr indent="0" marL="0">
              <a:buNone/>
            </a:pPr>
            <a:r>
              <a:rPr lang="en-US" sz="1300" b="1" dirty="0">
                <a:solidFill>
                  <a:schemeClr val="accent5"/>
                </a:solidFill>
              </a:rPr>
              <a:t>Critério de sucesso: </a:t>
            </a:r>
            <a:pPr indent="0" marL="0">
              <a:buNone/>
            </a:pPr>
            <a:r>
              <a:rPr lang="en-US" sz="1300" dirty="0">
                <a:solidFill>
                  <a:schemeClr val="tx1"/>
                </a:solidFill>
              </a:rPr>
              <a:t>concluir todos os passos com autonomia e validar o resultado com o formador.</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146304"/>
            <a:ext cx="9601200" cy="219456"/>
          </a:xfrm>
          <a:prstGeom prst="rect">
            <a:avLst/>
          </a:prstGeom>
          <a:noFill/>
          <a:ln/>
        </p:spPr>
        <p:txBody>
          <a:bodyPr wrap="square" lIns="0" tIns="0" rIns="0" bIns="0" rtlCol="0" anchor="ctr"/>
          <a:lstStyle/>
          <a:p>
            <a:pPr indent="0" marL="0">
              <a:buNone/>
            </a:pPr>
            <a:r>
              <a:rPr lang="en-US" sz="1000" b="1" spc="250" kern="0" dirty="0">
                <a:solidFill>
                  <a:schemeClr val="accent2"/>
                </a:solidFill>
              </a:rPr>
              <a:t>MÓDULO 1 · AVALIAÇÃO FORMATIVA EM SALA</a:t>
            </a:r>
            <a:endParaRPr lang="en-US" sz="1000" dirty="0"/>
          </a:p>
        </p:txBody>
      </p:sp>
      <p:sp>
        <p:nvSpPr>
          <p:cNvPr id="3" name="Text 1"/>
          <p:cNvSpPr/>
          <p:nvPr>
            <p:ph idx="101" type="title" hasCustomPrompt="1"/>
          </p:nvPr>
        </p:nvSpPr>
        <p:spPr>
          <a:xfrm>
            <a:off x="548640" y="384048"/>
            <a:ext cx="10241280" cy="749808"/>
          </a:xfrm>
          <a:prstGeom prst="rect">
            <a:avLst/>
          </a:prstGeom>
          <a:noFill/>
          <a:ln/>
        </p:spPr>
        <p:txBody>
          <a:bodyPr wrap="square" lIns="0" tIns="0" rIns="0" bIns="0" rtlCol="0" anchor="ctr"/>
          <a:lstStyle/>
          <a:p>
            <a:pPr algn="l" indent="0" marL="0">
              <a:buNone/>
            </a:pPr>
            <a:r>
              <a:rPr lang="en-US" sz="2900" b="1" dirty="0">
                <a:solidFill>
                  <a:schemeClr val="tx2"/>
                </a:solidFill>
                <a:latin typeface="Cambria" pitchFamily="34" charset="0"/>
                <a:ea typeface="Cambria" pitchFamily="34" charset="-122"/>
                <a:cs typeface="Cambria" pitchFamily="34" charset="-120"/>
              </a:rPr>
              <a:t>Teste os seus conhecimentos</a:t>
            </a:r>
            <a:endParaRPr lang="en-US" sz="2900" dirty="0"/>
          </a:p>
        </p:txBody>
      </p:sp>
      <p:sp>
        <p:nvSpPr>
          <p:cNvPr id="4" name="Shape 2"/>
          <p:cNvSpPr/>
          <p:nvPr/>
        </p:nvSpPr>
        <p:spPr>
          <a:xfrm>
            <a:off x="548640" y="1325880"/>
            <a:ext cx="5394960" cy="2057400"/>
          </a:xfrm>
          <a:prstGeom prst="roundRect">
            <a:avLst>
              <a:gd name="adj" fmla="val 4444"/>
            </a:avLst>
          </a:prstGeom>
          <a:solidFill>
            <a:srgbClr val="F2F4F7"/>
          </a:solidFill>
          <a:ln w="9525">
            <a:solidFill>
              <a:srgbClr val="DCE3E9"/>
            </a:solidFill>
            <a:prstDash val="solid"/>
          </a:ln>
        </p:spPr>
      </p:sp>
      <p:sp>
        <p:nvSpPr>
          <p:cNvPr id="5" name="Shape 3"/>
          <p:cNvSpPr/>
          <p:nvPr/>
        </p:nvSpPr>
        <p:spPr>
          <a:xfrm>
            <a:off x="731520" y="1453896"/>
            <a:ext cx="1143000" cy="256032"/>
          </a:xfrm>
          <a:prstGeom prst="roundRect">
            <a:avLst>
              <a:gd name="adj" fmla="val 17857"/>
            </a:avLst>
          </a:prstGeom>
          <a:solidFill>
            <a:schemeClr val="accent2"/>
          </a:solidFill>
          <a:ln w="12700">
            <a:solidFill>
              <a:schemeClr val="accent2"/>
            </a:solidFill>
            <a:prstDash val="solid"/>
          </a:ln>
        </p:spPr>
      </p:sp>
      <p:sp>
        <p:nvSpPr>
          <p:cNvPr id="6" name="Text 4"/>
          <p:cNvSpPr txBox="1"/>
          <p:nvPr/>
        </p:nvSpPr>
        <p:spPr>
          <a:xfrm>
            <a:off x="731520" y="1453896"/>
            <a:ext cx="1143000" cy="256032"/>
          </a:xfrm>
          <a:prstGeom prst="rect">
            <a:avLst/>
          </a:prstGeom>
          <a:noFill/>
          <a:ln/>
        </p:spPr>
        <p:txBody>
          <a:bodyPr wrap="square" lIns="0" tIns="0" rIns="0" bIns="0" rtlCol="0" anchor="ctr"/>
          <a:lstStyle/>
          <a:p>
            <a:pPr algn="ctr" indent="0" marL="0">
              <a:buNone/>
            </a:pPr>
            <a:r>
              <a:rPr lang="en-US" sz="950" b="1" dirty="0">
                <a:solidFill>
                  <a:srgbClr val="FFFFFF"/>
                </a:solidFill>
              </a:rPr>
              <a:t>QUESTÃO 1</a:t>
            </a:r>
            <a:endParaRPr lang="en-US" sz="950" dirty="0"/>
          </a:p>
        </p:txBody>
      </p:sp>
      <p:sp>
        <p:nvSpPr>
          <p:cNvPr id="7" name="Text 5"/>
          <p:cNvSpPr txBox="1"/>
          <p:nvPr/>
        </p:nvSpPr>
        <p:spPr>
          <a:xfrm>
            <a:off x="731520" y="1746504"/>
            <a:ext cx="5029200" cy="566928"/>
          </a:xfrm>
          <a:prstGeom prst="rect">
            <a:avLst/>
          </a:prstGeom>
          <a:noFill/>
          <a:ln/>
        </p:spPr>
        <p:txBody>
          <a:bodyPr wrap="square" lIns="0" tIns="0" rIns="0" bIns="0" rtlCol="0" anchor="t"/>
          <a:lstStyle/>
          <a:p>
            <a:pPr indent="0" marL="0">
              <a:buNone/>
            </a:pPr>
            <a:r>
              <a:rPr lang="en-US" sz="1350" b="1" dirty="0">
                <a:solidFill>
                  <a:schemeClr val="tx2"/>
                </a:solidFill>
              </a:rPr>
              <a:t>Qual dos seguintes é um exemplo de hardware?</a:t>
            </a:r>
            <a:endParaRPr lang="en-US" sz="1350" dirty="0"/>
          </a:p>
        </p:txBody>
      </p:sp>
      <p:sp>
        <p:nvSpPr>
          <p:cNvPr id="8" name="Text 6"/>
          <p:cNvSpPr txBox="1"/>
          <p:nvPr/>
        </p:nvSpPr>
        <p:spPr>
          <a:xfrm>
            <a:off x="731520" y="2331720"/>
            <a:ext cx="5029200" cy="978408"/>
          </a:xfrm>
          <a:prstGeom prst="rect">
            <a:avLst/>
          </a:prstGeom>
          <a:noFill/>
          <a:ln/>
        </p:spPr>
        <p:txBody>
          <a:bodyPr wrap="square" lIns="0" tIns="0" rIns="0" bIns="0" rtlCol="0" anchor="t"/>
          <a:lstStyle/>
          <a:p>
            <a:pPr indent="0" marL="0">
              <a:spcAft>
                <a:spcPts val="150"/>
              </a:spcAft>
              <a:buNone/>
            </a:pPr>
            <a:r>
              <a:rPr lang="en-US" sz="1250" dirty="0">
                <a:solidFill>
                  <a:schemeClr val="tx1"/>
                </a:solidFill>
              </a:rPr>
              <a:t>A) O teclado</a:t>
            </a:r>
            <a:endParaRPr lang="en-US" sz="1250" dirty="0"/>
          </a:p>
          <a:p>
            <a:pPr indent="0" marL="0">
              <a:spcAft>
                <a:spcPts val="150"/>
              </a:spcAft>
              <a:buNone/>
            </a:pPr>
            <a:r>
              <a:rPr lang="en-US" sz="1250" dirty="0">
                <a:solidFill>
                  <a:schemeClr val="tx1"/>
                </a:solidFill>
              </a:rPr>
              <a:t>B) O Windows 11</a:t>
            </a:r>
            <a:endParaRPr lang="en-US" sz="1250" dirty="0"/>
          </a:p>
          <a:p>
            <a:pPr indent="0" marL="0">
              <a:spcAft>
                <a:spcPts val="150"/>
              </a:spcAft>
              <a:buNone/>
            </a:pPr>
            <a:r>
              <a:rPr lang="en-US" sz="1250" dirty="0">
                <a:solidFill>
                  <a:schemeClr val="tx1"/>
                </a:solidFill>
              </a:rPr>
              <a:t>C) O Word</a:t>
            </a:r>
            <a:endParaRPr lang="en-US" sz="1250" dirty="0"/>
          </a:p>
          <a:p>
            <a:pPr indent="0" marL="0">
              <a:spcAft>
                <a:spcPts val="150"/>
              </a:spcAft>
              <a:buNone/>
            </a:pPr>
            <a:r>
              <a:rPr lang="en-US" sz="1250" dirty="0">
                <a:solidFill>
                  <a:schemeClr val="tx1"/>
                </a:solidFill>
              </a:rPr>
              <a:t>D) O navegador de Internet</a:t>
            </a:r>
            <a:endParaRPr lang="en-US" sz="1250" dirty="0"/>
          </a:p>
        </p:txBody>
      </p:sp>
      <p:sp>
        <p:nvSpPr>
          <p:cNvPr id="9" name="Shape 7"/>
          <p:cNvSpPr/>
          <p:nvPr/>
        </p:nvSpPr>
        <p:spPr>
          <a:xfrm>
            <a:off x="6217920" y="1325880"/>
            <a:ext cx="5394960" cy="2057400"/>
          </a:xfrm>
          <a:prstGeom prst="roundRect">
            <a:avLst>
              <a:gd name="adj" fmla="val 4444"/>
            </a:avLst>
          </a:prstGeom>
          <a:solidFill>
            <a:srgbClr val="F2F4F7"/>
          </a:solidFill>
          <a:ln w="9525">
            <a:solidFill>
              <a:srgbClr val="DCE3E9"/>
            </a:solidFill>
            <a:prstDash val="solid"/>
          </a:ln>
        </p:spPr>
      </p:sp>
      <p:sp>
        <p:nvSpPr>
          <p:cNvPr id="10" name="Shape 8"/>
          <p:cNvSpPr/>
          <p:nvPr/>
        </p:nvSpPr>
        <p:spPr>
          <a:xfrm>
            <a:off x="6400800" y="1453896"/>
            <a:ext cx="1143000" cy="256032"/>
          </a:xfrm>
          <a:prstGeom prst="roundRect">
            <a:avLst>
              <a:gd name="adj" fmla="val 17857"/>
            </a:avLst>
          </a:prstGeom>
          <a:solidFill>
            <a:schemeClr val="accent2"/>
          </a:solidFill>
          <a:ln w="12700">
            <a:solidFill>
              <a:schemeClr val="accent2"/>
            </a:solidFill>
            <a:prstDash val="solid"/>
          </a:ln>
        </p:spPr>
      </p:sp>
      <p:sp>
        <p:nvSpPr>
          <p:cNvPr id="11" name="Text 9"/>
          <p:cNvSpPr txBox="1"/>
          <p:nvPr/>
        </p:nvSpPr>
        <p:spPr>
          <a:xfrm>
            <a:off x="6400800" y="1453896"/>
            <a:ext cx="1143000" cy="256032"/>
          </a:xfrm>
          <a:prstGeom prst="rect">
            <a:avLst/>
          </a:prstGeom>
          <a:noFill/>
          <a:ln/>
        </p:spPr>
        <p:txBody>
          <a:bodyPr wrap="square" lIns="0" tIns="0" rIns="0" bIns="0" rtlCol="0" anchor="ctr"/>
          <a:lstStyle/>
          <a:p>
            <a:pPr algn="ctr" indent="0" marL="0">
              <a:buNone/>
            </a:pPr>
            <a:r>
              <a:rPr lang="en-US" sz="950" b="1" dirty="0">
                <a:solidFill>
                  <a:srgbClr val="FFFFFF"/>
                </a:solidFill>
              </a:rPr>
              <a:t>QUESTÃO 2</a:t>
            </a:r>
            <a:endParaRPr lang="en-US" sz="950" dirty="0"/>
          </a:p>
        </p:txBody>
      </p:sp>
      <p:sp>
        <p:nvSpPr>
          <p:cNvPr id="12" name="Text 10"/>
          <p:cNvSpPr txBox="1"/>
          <p:nvPr/>
        </p:nvSpPr>
        <p:spPr>
          <a:xfrm>
            <a:off x="6400800" y="1746504"/>
            <a:ext cx="5029200" cy="566928"/>
          </a:xfrm>
          <a:prstGeom prst="rect">
            <a:avLst/>
          </a:prstGeom>
          <a:noFill/>
          <a:ln/>
        </p:spPr>
        <p:txBody>
          <a:bodyPr wrap="square" lIns="0" tIns="0" rIns="0" bIns="0" rtlCol="0" anchor="t"/>
          <a:lstStyle/>
          <a:p>
            <a:pPr indent="0" marL="0">
              <a:buNone/>
            </a:pPr>
            <a:r>
              <a:rPr lang="en-US" sz="1350" b="1" dirty="0">
                <a:solidFill>
                  <a:schemeClr val="tx2"/>
                </a:solidFill>
              </a:rPr>
              <a:t>O que é o sistema operativo?</a:t>
            </a:r>
            <a:endParaRPr lang="en-US" sz="1350" dirty="0"/>
          </a:p>
        </p:txBody>
      </p:sp>
      <p:sp>
        <p:nvSpPr>
          <p:cNvPr id="13" name="Text 11"/>
          <p:cNvSpPr txBox="1"/>
          <p:nvPr/>
        </p:nvSpPr>
        <p:spPr>
          <a:xfrm>
            <a:off x="6400800" y="2331720"/>
            <a:ext cx="5029200" cy="978408"/>
          </a:xfrm>
          <a:prstGeom prst="rect">
            <a:avLst/>
          </a:prstGeom>
          <a:noFill/>
          <a:ln/>
        </p:spPr>
        <p:txBody>
          <a:bodyPr wrap="square" lIns="0" tIns="0" rIns="0" bIns="0" rtlCol="0" anchor="t"/>
          <a:lstStyle/>
          <a:p>
            <a:pPr indent="0" marL="0">
              <a:spcAft>
                <a:spcPts val="150"/>
              </a:spcAft>
              <a:buNone/>
            </a:pPr>
            <a:r>
              <a:rPr lang="en-US" sz="1250" dirty="0">
                <a:solidFill>
                  <a:schemeClr val="tx1"/>
                </a:solidFill>
              </a:rPr>
              <a:t>A) Um jogo instalado no computador</a:t>
            </a:r>
            <a:endParaRPr lang="en-US" sz="1250" dirty="0"/>
          </a:p>
          <a:p>
            <a:pPr indent="0" marL="0">
              <a:spcAft>
                <a:spcPts val="150"/>
              </a:spcAft>
              <a:buNone/>
            </a:pPr>
            <a:r>
              <a:rPr lang="en-US" sz="1250" dirty="0">
                <a:solidFill>
                  <a:schemeClr val="tx1"/>
                </a:solidFill>
              </a:rPr>
              <a:t>B) O programa que gere o computador e os outros programas</a:t>
            </a:r>
            <a:endParaRPr lang="en-US" sz="1250" dirty="0"/>
          </a:p>
          <a:p>
            <a:pPr indent="0" marL="0">
              <a:spcAft>
                <a:spcPts val="150"/>
              </a:spcAft>
              <a:buNone/>
            </a:pPr>
            <a:r>
              <a:rPr lang="en-US" sz="1250" dirty="0">
                <a:solidFill>
                  <a:schemeClr val="tx1"/>
                </a:solidFill>
              </a:rPr>
              <a:t>C) Uma peça dentro da unidade central</a:t>
            </a:r>
            <a:endParaRPr lang="en-US" sz="1250" dirty="0"/>
          </a:p>
          <a:p>
            <a:pPr indent="0" marL="0">
              <a:spcAft>
                <a:spcPts val="150"/>
              </a:spcAft>
              <a:buNone/>
            </a:pPr>
            <a:r>
              <a:rPr lang="en-US" sz="1250" dirty="0">
                <a:solidFill>
                  <a:schemeClr val="tx1"/>
                </a:solidFill>
              </a:rPr>
              <a:t>D) Um tipo de ficheiro</a:t>
            </a:r>
            <a:endParaRPr lang="en-US" sz="1250" dirty="0"/>
          </a:p>
        </p:txBody>
      </p:sp>
      <p:sp>
        <p:nvSpPr>
          <p:cNvPr id="14" name="Shape 12"/>
          <p:cNvSpPr/>
          <p:nvPr/>
        </p:nvSpPr>
        <p:spPr>
          <a:xfrm>
            <a:off x="548640" y="3584448"/>
            <a:ext cx="5394960" cy="2057400"/>
          </a:xfrm>
          <a:prstGeom prst="roundRect">
            <a:avLst>
              <a:gd name="adj" fmla="val 4444"/>
            </a:avLst>
          </a:prstGeom>
          <a:solidFill>
            <a:srgbClr val="F2F4F7"/>
          </a:solidFill>
          <a:ln w="9525">
            <a:solidFill>
              <a:srgbClr val="DCE3E9"/>
            </a:solidFill>
            <a:prstDash val="solid"/>
          </a:ln>
        </p:spPr>
      </p:sp>
      <p:sp>
        <p:nvSpPr>
          <p:cNvPr id="15" name="Shape 13"/>
          <p:cNvSpPr/>
          <p:nvPr/>
        </p:nvSpPr>
        <p:spPr>
          <a:xfrm>
            <a:off x="731520" y="3712464"/>
            <a:ext cx="1143000" cy="256032"/>
          </a:xfrm>
          <a:prstGeom prst="roundRect">
            <a:avLst>
              <a:gd name="adj" fmla="val 17857"/>
            </a:avLst>
          </a:prstGeom>
          <a:solidFill>
            <a:schemeClr val="accent2"/>
          </a:solidFill>
          <a:ln w="12700">
            <a:solidFill>
              <a:schemeClr val="accent2"/>
            </a:solidFill>
            <a:prstDash val="solid"/>
          </a:ln>
        </p:spPr>
      </p:sp>
      <p:sp>
        <p:nvSpPr>
          <p:cNvPr id="16" name="Text 14"/>
          <p:cNvSpPr txBox="1"/>
          <p:nvPr/>
        </p:nvSpPr>
        <p:spPr>
          <a:xfrm>
            <a:off x="731520" y="3712464"/>
            <a:ext cx="1143000" cy="256032"/>
          </a:xfrm>
          <a:prstGeom prst="rect">
            <a:avLst/>
          </a:prstGeom>
          <a:noFill/>
          <a:ln/>
        </p:spPr>
        <p:txBody>
          <a:bodyPr wrap="square" lIns="0" tIns="0" rIns="0" bIns="0" rtlCol="0" anchor="ctr"/>
          <a:lstStyle/>
          <a:p>
            <a:pPr algn="ctr" indent="0" marL="0">
              <a:buNone/>
            </a:pPr>
            <a:r>
              <a:rPr lang="en-US" sz="950" b="1" dirty="0">
                <a:solidFill>
                  <a:srgbClr val="FFFFFF"/>
                </a:solidFill>
              </a:rPr>
              <a:t>QUESTÃO 3</a:t>
            </a:r>
            <a:endParaRPr lang="en-US" sz="950" dirty="0"/>
          </a:p>
        </p:txBody>
      </p:sp>
      <p:sp>
        <p:nvSpPr>
          <p:cNvPr id="17" name="Text 15"/>
          <p:cNvSpPr txBox="1"/>
          <p:nvPr/>
        </p:nvSpPr>
        <p:spPr>
          <a:xfrm>
            <a:off x="731520" y="4005072"/>
            <a:ext cx="5029200" cy="566928"/>
          </a:xfrm>
          <a:prstGeom prst="rect">
            <a:avLst/>
          </a:prstGeom>
          <a:noFill/>
          <a:ln/>
        </p:spPr>
        <p:txBody>
          <a:bodyPr wrap="square" lIns="0" tIns="0" rIns="0" bIns="0" rtlCol="0" anchor="t"/>
          <a:lstStyle/>
          <a:p>
            <a:pPr indent="0" marL="0">
              <a:buNone/>
            </a:pPr>
            <a:r>
              <a:rPr lang="en-US" sz="1350" b="1" dirty="0">
                <a:solidFill>
                  <a:schemeClr val="tx2"/>
                </a:solidFill>
              </a:rPr>
              <a:t>Onde fica a barra de tarefas no Windows 11?</a:t>
            </a:r>
            <a:endParaRPr lang="en-US" sz="1350" dirty="0"/>
          </a:p>
        </p:txBody>
      </p:sp>
      <p:sp>
        <p:nvSpPr>
          <p:cNvPr id="18" name="Text 16"/>
          <p:cNvSpPr txBox="1"/>
          <p:nvPr/>
        </p:nvSpPr>
        <p:spPr>
          <a:xfrm>
            <a:off x="731520" y="4590288"/>
            <a:ext cx="5029200" cy="978408"/>
          </a:xfrm>
          <a:prstGeom prst="rect">
            <a:avLst/>
          </a:prstGeom>
          <a:noFill/>
          <a:ln/>
        </p:spPr>
        <p:txBody>
          <a:bodyPr wrap="square" lIns="0" tIns="0" rIns="0" bIns="0" rtlCol="0" anchor="t"/>
          <a:lstStyle/>
          <a:p>
            <a:pPr indent="0" marL="0">
              <a:spcAft>
                <a:spcPts val="150"/>
              </a:spcAft>
              <a:buNone/>
            </a:pPr>
            <a:r>
              <a:rPr lang="en-US" sz="1250" dirty="0">
                <a:solidFill>
                  <a:schemeClr val="tx1"/>
                </a:solidFill>
              </a:rPr>
              <a:t>A) No canto superior direito</a:t>
            </a:r>
            <a:endParaRPr lang="en-US" sz="1250" dirty="0"/>
          </a:p>
          <a:p>
            <a:pPr indent="0" marL="0">
              <a:spcAft>
                <a:spcPts val="150"/>
              </a:spcAft>
              <a:buNone/>
            </a:pPr>
            <a:r>
              <a:rPr lang="en-US" sz="1250" dirty="0">
                <a:solidFill>
                  <a:schemeClr val="tx1"/>
                </a:solidFill>
              </a:rPr>
              <a:t>B) No meio do ecrã</a:t>
            </a:r>
            <a:endParaRPr lang="en-US" sz="1250" dirty="0"/>
          </a:p>
          <a:p>
            <a:pPr indent="0" marL="0">
              <a:spcAft>
                <a:spcPts val="150"/>
              </a:spcAft>
              <a:buNone/>
            </a:pPr>
            <a:r>
              <a:rPr lang="en-US" sz="1250" dirty="0">
                <a:solidFill>
                  <a:schemeClr val="tx1"/>
                </a:solidFill>
              </a:rPr>
              <a:t>C) Na parte de baixo do ecrã</a:t>
            </a:r>
            <a:endParaRPr lang="en-US" sz="1250" dirty="0"/>
          </a:p>
          <a:p>
            <a:pPr indent="0" marL="0">
              <a:spcAft>
                <a:spcPts val="150"/>
              </a:spcAft>
              <a:buNone/>
            </a:pPr>
            <a:r>
              <a:rPr lang="en-US" sz="1250" dirty="0">
                <a:solidFill>
                  <a:schemeClr val="tx1"/>
                </a:solidFill>
              </a:rPr>
              <a:t>D) Dentro do menu Iniciar</a:t>
            </a:r>
            <a:endParaRPr lang="en-US" sz="1250" dirty="0"/>
          </a:p>
        </p:txBody>
      </p:sp>
      <p:sp>
        <p:nvSpPr>
          <p:cNvPr id="19" name="Shape 17"/>
          <p:cNvSpPr/>
          <p:nvPr/>
        </p:nvSpPr>
        <p:spPr>
          <a:xfrm>
            <a:off x="6217920" y="3584448"/>
            <a:ext cx="5394960" cy="2057400"/>
          </a:xfrm>
          <a:prstGeom prst="roundRect">
            <a:avLst>
              <a:gd name="adj" fmla="val 4444"/>
            </a:avLst>
          </a:prstGeom>
          <a:solidFill>
            <a:srgbClr val="F2F4F7"/>
          </a:solidFill>
          <a:ln w="9525">
            <a:solidFill>
              <a:srgbClr val="DCE3E9"/>
            </a:solidFill>
            <a:prstDash val="solid"/>
          </a:ln>
        </p:spPr>
      </p:sp>
      <p:sp>
        <p:nvSpPr>
          <p:cNvPr id="20" name="Shape 18"/>
          <p:cNvSpPr/>
          <p:nvPr/>
        </p:nvSpPr>
        <p:spPr>
          <a:xfrm>
            <a:off x="6400800" y="3712464"/>
            <a:ext cx="1143000" cy="256032"/>
          </a:xfrm>
          <a:prstGeom prst="roundRect">
            <a:avLst>
              <a:gd name="adj" fmla="val 17857"/>
            </a:avLst>
          </a:prstGeom>
          <a:solidFill>
            <a:schemeClr val="accent2"/>
          </a:solidFill>
          <a:ln w="12700">
            <a:solidFill>
              <a:schemeClr val="accent2"/>
            </a:solidFill>
            <a:prstDash val="solid"/>
          </a:ln>
        </p:spPr>
      </p:sp>
      <p:sp>
        <p:nvSpPr>
          <p:cNvPr id="21" name="Text 19"/>
          <p:cNvSpPr txBox="1"/>
          <p:nvPr/>
        </p:nvSpPr>
        <p:spPr>
          <a:xfrm>
            <a:off x="6400800" y="3712464"/>
            <a:ext cx="1143000" cy="256032"/>
          </a:xfrm>
          <a:prstGeom prst="rect">
            <a:avLst/>
          </a:prstGeom>
          <a:noFill/>
          <a:ln/>
        </p:spPr>
        <p:txBody>
          <a:bodyPr wrap="square" lIns="0" tIns="0" rIns="0" bIns="0" rtlCol="0" anchor="ctr"/>
          <a:lstStyle/>
          <a:p>
            <a:pPr algn="ctr" indent="0" marL="0">
              <a:buNone/>
            </a:pPr>
            <a:r>
              <a:rPr lang="en-US" sz="950" b="1" dirty="0">
                <a:solidFill>
                  <a:srgbClr val="FFFFFF"/>
                </a:solidFill>
              </a:rPr>
              <a:t>QUESTÃO 4</a:t>
            </a:r>
            <a:endParaRPr lang="en-US" sz="950" dirty="0"/>
          </a:p>
        </p:txBody>
      </p:sp>
      <p:sp>
        <p:nvSpPr>
          <p:cNvPr id="22" name="Text 20"/>
          <p:cNvSpPr txBox="1"/>
          <p:nvPr/>
        </p:nvSpPr>
        <p:spPr>
          <a:xfrm>
            <a:off x="6400800" y="4005072"/>
            <a:ext cx="5029200" cy="566928"/>
          </a:xfrm>
          <a:prstGeom prst="rect">
            <a:avLst/>
          </a:prstGeom>
          <a:noFill/>
          <a:ln/>
        </p:spPr>
        <p:txBody>
          <a:bodyPr wrap="square" lIns="0" tIns="0" rIns="0" bIns="0" rtlCol="0" anchor="t"/>
          <a:lstStyle/>
          <a:p>
            <a:pPr indent="0" marL="0">
              <a:buNone/>
            </a:pPr>
            <a:r>
              <a:rPr lang="en-US" sz="1350" b="1" dirty="0">
                <a:solidFill>
                  <a:schemeClr val="tx2"/>
                </a:solidFill>
              </a:rPr>
              <a:t>Que tecla abre o menu Iniciar?</a:t>
            </a:r>
            <a:endParaRPr lang="en-US" sz="1350" dirty="0"/>
          </a:p>
        </p:txBody>
      </p:sp>
      <p:sp>
        <p:nvSpPr>
          <p:cNvPr id="23" name="Text 21"/>
          <p:cNvSpPr txBox="1"/>
          <p:nvPr/>
        </p:nvSpPr>
        <p:spPr>
          <a:xfrm>
            <a:off x="6400800" y="4590288"/>
            <a:ext cx="5029200" cy="978408"/>
          </a:xfrm>
          <a:prstGeom prst="rect">
            <a:avLst/>
          </a:prstGeom>
          <a:noFill/>
          <a:ln/>
        </p:spPr>
        <p:txBody>
          <a:bodyPr wrap="square" lIns="0" tIns="0" rIns="0" bIns="0" rtlCol="0" anchor="t"/>
          <a:lstStyle/>
          <a:p>
            <a:pPr indent="0" marL="0">
              <a:spcAft>
                <a:spcPts val="150"/>
              </a:spcAft>
              <a:buNone/>
            </a:pPr>
            <a:r>
              <a:rPr lang="en-US" sz="1250" dirty="0">
                <a:solidFill>
                  <a:schemeClr val="tx1"/>
                </a:solidFill>
              </a:rPr>
              <a:t>A) Enter</a:t>
            </a:r>
            <a:endParaRPr lang="en-US" sz="1250" dirty="0"/>
          </a:p>
          <a:p>
            <a:pPr indent="0" marL="0">
              <a:spcAft>
                <a:spcPts val="150"/>
              </a:spcAft>
              <a:buNone/>
            </a:pPr>
            <a:r>
              <a:rPr lang="en-US" sz="1250" dirty="0">
                <a:solidFill>
                  <a:schemeClr val="tx1"/>
                </a:solidFill>
              </a:rPr>
              <a:t>B) Tecla Windows</a:t>
            </a:r>
            <a:endParaRPr lang="en-US" sz="1250" dirty="0"/>
          </a:p>
          <a:p>
            <a:pPr indent="0" marL="0">
              <a:spcAft>
                <a:spcPts val="150"/>
              </a:spcAft>
              <a:buNone/>
            </a:pPr>
            <a:r>
              <a:rPr lang="en-US" sz="1250" dirty="0">
                <a:solidFill>
                  <a:schemeClr val="tx1"/>
                </a:solidFill>
              </a:rPr>
              <a:t>C) Shift</a:t>
            </a:r>
            <a:endParaRPr lang="en-US" sz="1250" dirty="0"/>
          </a:p>
          <a:p>
            <a:pPr indent="0" marL="0">
              <a:spcAft>
                <a:spcPts val="150"/>
              </a:spcAft>
              <a:buNone/>
            </a:pPr>
            <a:r>
              <a:rPr lang="en-US" sz="1250" dirty="0">
                <a:solidFill>
                  <a:schemeClr val="tx1"/>
                </a:solidFill>
              </a:rPr>
              <a:t>D) Esc</a:t>
            </a:r>
            <a:endParaRPr lang="en-US" sz="1250" dirty="0"/>
          </a:p>
        </p:txBody>
      </p:sp>
      <p:sp>
        <p:nvSpPr>
          <p:cNvPr id="24" name="Shape 22"/>
          <p:cNvSpPr/>
          <p:nvPr/>
        </p:nvSpPr>
        <p:spPr>
          <a:xfrm>
            <a:off x="548640" y="5687568"/>
            <a:ext cx="11064240" cy="475488"/>
          </a:xfrm>
          <a:prstGeom prst="roundRect">
            <a:avLst>
              <a:gd name="adj" fmla="val 15385"/>
            </a:avLst>
          </a:prstGeom>
          <a:solidFill>
            <a:srgbClr val="FFF7F0"/>
          </a:solidFill>
          <a:ln w="9525">
            <a:solidFill>
              <a:srgbClr val="F2B483"/>
            </a:solidFill>
            <a:prstDash val="solid"/>
          </a:ln>
        </p:spPr>
      </p:sp>
      <p:sp>
        <p:nvSpPr>
          <p:cNvPr id="25" name="Text 23"/>
          <p:cNvSpPr txBox="1"/>
          <p:nvPr/>
        </p:nvSpPr>
        <p:spPr>
          <a:xfrm>
            <a:off x="731520" y="5715000"/>
            <a:ext cx="10698480" cy="420624"/>
          </a:xfrm>
          <a:prstGeom prst="rect">
            <a:avLst/>
          </a:prstGeom>
          <a:noFill/>
          <a:ln/>
        </p:spPr>
        <p:txBody>
          <a:bodyPr wrap="square" lIns="0" tIns="0" rIns="0" bIns="0" rtlCol="0" anchor="ctr"/>
          <a:lstStyle/>
          <a:p>
            <a:pPr indent="0" marL="0">
              <a:buNone/>
            </a:pPr>
            <a:r>
              <a:rPr lang="en-US" sz="1250" b="1" dirty="0">
                <a:solidFill>
                  <a:schemeClr val="accent1"/>
                </a:solidFill>
              </a:rPr>
              <a:t>Dinâmica pedagógica: </a:t>
            </a:r>
            <a:pPr indent="0" marL="0">
              <a:buNone/>
            </a:pPr>
            <a:r>
              <a:rPr lang="en-US" sz="1250" dirty="0">
                <a:solidFill>
                  <a:schemeClr val="tx1"/>
                </a:solidFill>
              </a:rPr>
              <a:t>discuta cada questão em turma antes de confirmar a resposta certa (chave disponível nas notas do formador).</a:t>
            </a:r>
            <a:endParaRPr lang="en-US" sz="125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146304"/>
            <a:ext cx="9601200" cy="219456"/>
          </a:xfrm>
          <a:prstGeom prst="rect">
            <a:avLst/>
          </a:prstGeom>
          <a:noFill/>
          <a:ln/>
        </p:spPr>
        <p:txBody>
          <a:bodyPr wrap="square" lIns="0" tIns="0" rIns="0" bIns="0" rtlCol="0" anchor="ctr"/>
          <a:lstStyle/>
          <a:p>
            <a:pPr indent="0" marL="0">
              <a:buNone/>
            </a:pPr>
            <a:r>
              <a:rPr lang="en-US" sz="1000" b="1" spc="250" kern="0" dirty="0">
                <a:solidFill>
                  <a:schemeClr val="accent2"/>
                </a:solidFill>
              </a:rPr>
              <a:t>MÓDULO 1 · TERMINOLOGIA TÉCNICA EM PORTUGUÊS EUROPEU</a:t>
            </a:r>
            <a:endParaRPr lang="en-US" sz="1000" dirty="0"/>
          </a:p>
        </p:txBody>
      </p:sp>
      <p:sp>
        <p:nvSpPr>
          <p:cNvPr id="3" name="Text 1"/>
          <p:cNvSpPr/>
          <p:nvPr>
            <p:ph idx="101" type="title" hasCustomPrompt="1"/>
          </p:nvPr>
        </p:nvSpPr>
        <p:spPr>
          <a:xfrm>
            <a:off x="548640" y="384048"/>
            <a:ext cx="10241280" cy="749808"/>
          </a:xfrm>
          <a:prstGeom prst="rect">
            <a:avLst/>
          </a:prstGeom>
          <a:noFill/>
          <a:ln/>
        </p:spPr>
        <p:txBody>
          <a:bodyPr wrap="square" lIns="0" tIns="0" rIns="0" bIns="0" rtlCol="0" anchor="ctr"/>
          <a:lstStyle/>
          <a:p>
            <a:pPr algn="l" indent="0" marL="0">
              <a:buNone/>
            </a:pPr>
            <a:r>
              <a:rPr lang="en-US" sz="2900" b="1" dirty="0">
                <a:solidFill>
                  <a:schemeClr val="tx2"/>
                </a:solidFill>
                <a:latin typeface="Cambria" pitchFamily="34" charset="0"/>
                <a:ea typeface="Cambria" pitchFamily="34" charset="-122"/>
                <a:cs typeface="Cambria" pitchFamily="34" charset="-120"/>
              </a:rPr>
              <a:t>Glossário essencial</a:t>
            </a:r>
            <a:endParaRPr lang="en-US" sz="2900" dirty="0"/>
          </a:p>
        </p:txBody>
      </p:sp>
      <p:sp>
        <p:nvSpPr>
          <p:cNvPr id="4" name="Shape 2"/>
          <p:cNvSpPr/>
          <p:nvPr/>
        </p:nvSpPr>
        <p:spPr>
          <a:xfrm>
            <a:off x="548640" y="1371600"/>
            <a:ext cx="3505200" cy="2240280"/>
          </a:xfrm>
          <a:prstGeom prst="roundRect">
            <a:avLst>
              <a:gd name="adj" fmla="val 4082"/>
            </a:avLst>
          </a:prstGeom>
          <a:solidFill>
            <a:srgbClr val="F2F4F7"/>
          </a:solidFill>
          <a:ln w="9525">
            <a:solidFill>
              <a:srgbClr val="DCE3E9"/>
            </a:solidFill>
            <a:prstDash val="solid"/>
          </a:ln>
        </p:spPr>
      </p:sp>
      <p:sp>
        <p:nvSpPr>
          <p:cNvPr id="5" name="Shape 3"/>
          <p:cNvSpPr/>
          <p:nvPr/>
        </p:nvSpPr>
        <p:spPr>
          <a:xfrm>
            <a:off x="777240" y="1554480"/>
            <a:ext cx="502920" cy="45720"/>
          </a:xfrm>
          <a:prstGeom prst="rect">
            <a:avLst/>
          </a:prstGeom>
          <a:solidFill>
            <a:schemeClr val="accent1"/>
          </a:solidFill>
          <a:ln w="12700">
            <a:solidFill>
              <a:schemeClr val="accent1"/>
            </a:solidFill>
            <a:prstDash val="solid"/>
          </a:ln>
        </p:spPr>
      </p:sp>
      <p:sp>
        <p:nvSpPr>
          <p:cNvPr id="6" name="Text 4"/>
          <p:cNvSpPr txBox="1"/>
          <p:nvPr/>
        </p:nvSpPr>
        <p:spPr>
          <a:xfrm>
            <a:off x="777240" y="1664208"/>
            <a:ext cx="3048000" cy="438912"/>
          </a:xfrm>
          <a:prstGeom prst="rect">
            <a:avLst/>
          </a:prstGeom>
          <a:noFill/>
          <a:ln/>
        </p:spPr>
        <p:txBody>
          <a:bodyPr wrap="square" lIns="0" tIns="0" rIns="0" bIns="0" rtlCol="0" anchor="ctr"/>
          <a:lstStyle/>
          <a:p>
            <a:pPr indent="0" marL="0">
              <a:buNone/>
            </a:pPr>
            <a:r>
              <a:rPr lang="en-US" sz="1900" b="1" dirty="0">
                <a:solidFill>
                  <a:schemeClr val="accent2"/>
                </a:solidFill>
                <a:latin typeface="Cambria" pitchFamily="34" charset="0"/>
                <a:ea typeface="Cambria" pitchFamily="34" charset="-122"/>
                <a:cs typeface="Cambria" pitchFamily="34" charset="-120"/>
              </a:rPr>
              <a:t>Ambiente de trabalho</a:t>
            </a:r>
            <a:endParaRPr lang="en-US" sz="1900" dirty="0"/>
          </a:p>
        </p:txBody>
      </p:sp>
      <p:sp>
        <p:nvSpPr>
          <p:cNvPr id="7" name="Text 5"/>
          <p:cNvSpPr txBox="1"/>
          <p:nvPr/>
        </p:nvSpPr>
        <p:spPr>
          <a:xfrm>
            <a:off x="777240" y="2148840"/>
            <a:ext cx="3048000" cy="1325880"/>
          </a:xfrm>
          <a:prstGeom prst="rect">
            <a:avLst/>
          </a:prstGeom>
          <a:noFill/>
          <a:ln/>
        </p:spPr>
        <p:txBody>
          <a:bodyPr wrap="square" lIns="0" tIns="0" rIns="0" bIns="0" rtlCol="0" anchor="t"/>
          <a:lstStyle/>
          <a:p>
            <a:pPr indent="0" marL="0">
              <a:buNone/>
            </a:pPr>
            <a:r>
              <a:rPr lang="en-US" sz="1450" dirty="0">
                <a:solidFill>
                  <a:schemeClr val="tx1"/>
                </a:solidFill>
              </a:rPr>
              <a:t>Ecrã principal do Windows, com os ícones e a barra de tarefas.</a:t>
            </a:r>
            <a:endParaRPr lang="en-US" sz="1450" dirty="0"/>
          </a:p>
        </p:txBody>
      </p:sp>
      <p:sp>
        <p:nvSpPr>
          <p:cNvPr id="8" name="Shape 6"/>
          <p:cNvSpPr/>
          <p:nvPr/>
        </p:nvSpPr>
        <p:spPr>
          <a:xfrm>
            <a:off x="4328160" y="1371600"/>
            <a:ext cx="3505200" cy="2240280"/>
          </a:xfrm>
          <a:prstGeom prst="roundRect">
            <a:avLst>
              <a:gd name="adj" fmla="val 4082"/>
            </a:avLst>
          </a:prstGeom>
          <a:solidFill>
            <a:srgbClr val="F2F4F7"/>
          </a:solidFill>
          <a:ln w="9525">
            <a:solidFill>
              <a:srgbClr val="DCE3E9"/>
            </a:solidFill>
            <a:prstDash val="solid"/>
          </a:ln>
        </p:spPr>
      </p:sp>
      <p:sp>
        <p:nvSpPr>
          <p:cNvPr id="9" name="Shape 7"/>
          <p:cNvSpPr/>
          <p:nvPr/>
        </p:nvSpPr>
        <p:spPr>
          <a:xfrm>
            <a:off x="4556760" y="1554480"/>
            <a:ext cx="502920" cy="45720"/>
          </a:xfrm>
          <a:prstGeom prst="rect">
            <a:avLst/>
          </a:prstGeom>
          <a:solidFill>
            <a:schemeClr val="accent1"/>
          </a:solidFill>
          <a:ln w="12700">
            <a:solidFill>
              <a:schemeClr val="accent1"/>
            </a:solidFill>
            <a:prstDash val="solid"/>
          </a:ln>
        </p:spPr>
      </p:sp>
      <p:sp>
        <p:nvSpPr>
          <p:cNvPr id="10" name="Text 8"/>
          <p:cNvSpPr txBox="1"/>
          <p:nvPr/>
        </p:nvSpPr>
        <p:spPr>
          <a:xfrm>
            <a:off x="4556760" y="1664208"/>
            <a:ext cx="3048000" cy="438912"/>
          </a:xfrm>
          <a:prstGeom prst="rect">
            <a:avLst/>
          </a:prstGeom>
          <a:noFill/>
          <a:ln/>
        </p:spPr>
        <p:txBody>
          <a:bodyPr wrap="square" lIns="0" tIns="0" rIns="0" bIns="0" rtlCol="0" anchor="ctr"/>
          <a:lstStyle/>
          <a:p>
            <a:pPr indent="0" marL="0">
              <a:buNone/>
            </a:pPr>
            <a:r>
              <a:rPr lang="en-US" sz="1900" b="1" dirty="0">
                <a:solidFill>
                  <a:schemeClr val="accent2"/>
                </a:solidFill>
                <a:latin typeface="Cambria" pitchFamily="34" charset="0"/>
                <a:ea typeface="Cambria" pitchFamily="34" charset="-122"/>
                <a:cs typeface="Cambria" pitchFamily="34" charset="-120"/>
              </a:rPr>
              <a:t>Hardware</a:t>
            </a:r>
            <a:endParaRPr lang="en-US" sz="1900" dirty="0"/>
          </a:p>
        </p:txBody>
      </p:sp>
      <p:sp>
        <p:nvSpPr>
          <p:cNvPr id="11" name="Text 9"/>
          <p:cNvSpPr txBox="1"/>
          <p:nvPr/>
        </p:nvSpPr>
        <p:spPr>
          <a:xfrm>
            <a:off x="4556760" y="2148840"/>
            <a:ext cx="3048000" cy="1325880"/>
          </a:xfrm>
          <a:prstGeom prst="rect">
            <a:avLst/>
          </a:prstGeom>
          <a:noFill/>
          <a:ln/>
        </p:spPr>
        <p:txBody>
          <a:bodyPr wrap="square" lIns="0" tIns="0" rIns="0" bIns="0" rtlCol="0" anchor="t"/>
          <a:lstStyle/>
          <a:p>
            <a:pPr indent="0" marL="0">
              <a:buNone/>
            </a:pPr>
            <a:r>
              <a:rPr lang="en-US" sz="1450" dirty="0">
                <a:solidFill>
                  <a:schemeClr val="tx1"/>
                </a:solidFill>
              </a:rPr>
              <a:t>Componentes físicos do computador.</a:t>
            </a:r>
            <a:endParaRPr lang="en-US" sz="1450" dirty="0"/>
          </a:p>
        </p:txBody>
      </p:sp>
      <p:sp>
        <p:nvSpPr>
          <p:cNvPr id="12" name="Shape 10"/>
          <p:cNvSpPr/>
          <p:nvPr/>
        </p:nvSpPr>
        <p:spPr>
          <a:xfrm>
            <a:off x="8107680" y="1371600"/>
            <a:ext cx="3505200" cy="2240280"/>
          </a:xfrm>
          <a:prstGeom prst="roundRect">
            <a:avLst>
              <a:gd name="adj" fmla="val 4082"/>
            </a:avLst>
          </a:prstGeom>
          <a:solidFill>
            <a:srgbClr val="F2F4F7"/>
          </a:solidFill>
          <a:ln w="9525">
            <a:solidFill>
              <a:srgbClr val="DCE3E9"/>
            </a:solidFill>
            <a:prstDash val="solid"/>
          </a:ln>
        </p:spPr>
      </p:sp>
      <p:sp>
        <p:nvSpPr>
          <p:cNvPr id="13" name="Shape 11"/>
          <p:cNvSpPr/>
          <p:nvPr/>
        </p:nvSpPr>
        <p:spPr>
          <a:xfrm>
            <a:off x="8336280" y="1554480"/>
            <a:ext cx="502920" cy="45720"/>
          </a:xfrm>
          <a:prstGeom prst="rect">
            <a:avLst/>
          </a:prstGeom>
          <a:solidFill>
            <a:schemeClr val="accent1"/>
          </a:solidFill>
          <a:ln w="12700">
            <a:solidFill>
              <a:schemeClr val="accent1"/>
            </a:solidFill>
            <a:prstDash val="solid"/>
          </a:ln>
        </p:spPr>
      </p:sp>
      <p:sp>
        <p:nvSpPr>
          <p:cNvPr id="14" name="Text 12"/>
          <p:cNvSpPr txBox="1"/>
          <p:nvPr/>
        </p:nvSpPr>
        <p:spPr>
          <a:xfrm>
            <a:off x="8336280" y="1664208"/>
            <a:ext cx="3048000" cy="438912"/>
          </a:xfrm>
          <a:prstGeom prst="rect">
            <a:avLst/>
          </a:prstGeom>
          <a:noFill/>
          <a:ln/>
        </p:spPr>
        <p:txBody>
          <a:bodyPr wrap="square" lIns="0" tIns="0" rIns="0" bIns="0" rtlCol="0" anchor="ctr"/>
          <a:lstStyle/>
          <a:p>
            <a:pPr indent="0" marL="0">
              <a:buNone/>
            </a:pPr>
            <a:r>
              <a:rPr lang="en-US" sz="1900" b="1" dirty="0">
                <a:solidFill>
                  <a:schemeClr val="accent2"/>
                </a:solidFill>
                <a:latin typeface="Cambria" pitchFamily="34" charset="0"/>
                <a:ea typeface="Cambria" pitchFamily="34" charset="-122"/>
                <a:cs typeface="Cambria" pitchFamily="34" charset="-120"/>
              </a:rPr>
              <a:t>Janela</a:t>
            </a:r>
            <a:endParaRPr lang="en-US" sz="1900" dirty="0"/>
          </a:p>
        </p:txBody>
      </p:sp>
      <p:sp>
        <p:nvSpPr>
          <p:cNvPr id="15" name="Text 13"/>
          <p:cNvSpPr txBox="1"/>
          <p:nvPr/>
        </p:nvSpPr>
        <p:spPr>
          <a:xfrm>
            <a:off x="8336280" y="2148840"/>
            <a:ext cx="3048000" cy="1325880"/>
          </a:xfrm>
          <a:prstGeom prst="rect">
            <a:avLst/>
          </a:prstGeom>
          <a:noFill/>
          <a:ln/>
        </p:spPr>
        <p:txBody>
          <a:bodyPr wrap="square" lIns="0" tIns="0" rIns="0" bIns="0" rtlCol="0" anchor="t"/>
          <a:lstStyle/>
          <a:p>
            <a:pPr indent="0" marL="0">
              <a:buNone/>
            </a:pPr>
            <a:r>
              <a:rPr lang="en-US" sz="1450" dirty="0">
                <a:solidFill>
                  <a:schemeClr val="tx1"/>
                </a:solidFill>
              </a:rPr>
              <a:t>Área retangular onde cada programa é apresentado.</a:t>
            </a:r>
            <a:endParaRPr lang="en-US" sz="1450" dirty="0"/>
          </a:p>
        </p:txBody>
      </p:sp>
      <p:sp>
        <p:nvSpPr>
          <p:cNvPr id="16" name="Shape 14"/>
          <p:cNvSpPr/>
          <p:nvPr/>
        </p:nvSpPr>
        <p:spPr>
          <a:xfrm>
            <a:off x="548640" y="3886200"/>
            <a:ext cx="3505200" cy="2240280"/>
          </a:xfrm>
          <a:prstGeom prst="roundRect">
            <a:avLst>
              <a:gd name="adj" fmla="val 4082"/>
            </a:avLst>
          </a:prstGeom>
          <a:solidFill>
            <a:srgbClr val="F2F4F7"/>
          </a:solidFill>
          <a:ln w="9525">
            <a:solidFill>
              <a:srgbClr val="DCE3E9"/>
            </a:solidFill>
            <a:prstDash val="solid"/>
          </a:ln>
        </p:spPr>
      </p:sp>
      <p:sp>
        <p:nvSpPr>
          <p:cNvPr id="17" name="Shape 15"/>
          <p:cNvSpPr/>
          <p:nvPr/>
        </p:nvSpPr>
        <p:spPr>
          <a:xfrm>
            <a:off x="777240" y="4069080"/>
            <a:ext cx="502920" cy="45720"/>
          </a:xfrm>
          <a:prstGeom prst="rect">
            <a:avLst/>
          </a:prstGeom>
          <a:solidFill>
            <a:schemeClr val="accent1"/>
          </a:solidFill>
          <a:ln w="12700">
            <a:solidFill>
              <a:schemeClr val="accent1"/>
            </a:solidFill>
            <a:prstDash val="solid"/>
          </a:ln>
        </p:spPr>
      </p:sp>
      <p:sp>
        <p:nvSpPr>
          <p:cNvPr id="18" name="Text 16"/>
          <p:cNvSpPr txBox="1"/>
          <p:nvPr/>
        </p:nvSpPr>
        <p:spPr>
          <a:xfrm>
            <a:off x="777240" y="4178808"/>
            <a:ext cx="3048000" cy="438912"/>
          </a:xfrm>
          <a:prstGeom prst="rect">
            <a:avLst/>
          </a:prstGeom>
          <a:noFill/>
          <a:ln/>
        </p:spPr>
        <p:txBody>
          <a:bodyPr wrap="square" lIns="0" tIns="0" rIns="0" bIns="0" rtlCol="0" anchor="ctr"/>
          <a:lstStyle/>
          <a:p>
            <a:pPr indent="0" marL="0">
              <a:buNone/>
            </a:pPr>
            <a:r>
              <a:rPr lang="en-US" sz="1900" b="1" dirty="0">
                <a:solidFill>
                  <a:schemeClr val="accent2"/>
                </a:solidFill>
                <a:latin typeface="Cambria" pitchFamily="34" charset="0"/>
                <a:ea typeface="Cambria" pitchFamily="34" charset="-122"/>
                <a:cs typeface="Cambria" pitchFamily="34" charset="-120"/>
              </a:rPr>
              <a:t>PIN</a:t>
            </a:r>
            <a:endParaRPr lang="en-US" sz="1900" dirty="0"/>
          </a:p>
        </p:txBody>
      </p:sp>
      <p:sp>
        <p:nvSpPr>
          <p:cNvPr id="19" name="Text 17"/>
          <p:cNvSpPr txBox="1"/>
          <p:nvPr/>
        </p:nvSpPr>
        <p:spPr>
          <a:xfrm>
            <a:off x="777240" y="4663440"/>
            <a:ext cx="3048000" cy="1325880"/>
          </a:xfrm>
          <a:prstGeom prst="rect">
            <a:avLst/>
          </a:prstGeom>
          <a:noFill/>
          <a:ln/>
        </p:spPr>
        <p:txBody>
          <a:bodyPr wrap="square" lIns="0" tIns="0" rIns="0" bIns="0" rtlCol="0" anchor="t"/>
          <a:lstStyle/>
          <a:p>
            <a:pPr indent="0" marL="0">
              <a:buNone/>
            </a:pPr>
            <a:r>
              <a:rPr lang="en-US" sz="1450" dirty="0">
                <a:solidFill>
                  <a:schemeClr val="tx1"/>
                </a:solidFill>
              </a:rPr>
              <a:t>Código numérico pessoal para iniciar sessão.</a:t>
            </a:r>
            <a:endParaRPr lang="en-US" sz="1450" dirty="0"/>
          </a:p>
        </p:txBody>
      </p:sp>
      <p:sp>
        <p:nvSpPr>
          <p:cNvPr id="20" name="Shape 18"/>
          <p:cNvSpPr/>
          <p:nvPr/>
        </p:nvSpPr>
        <p:spPr>
          <a:xfrm>
            <a:off x="4328160" y="3886200"/>
            <a:ext cx="3505200" cy="2240280"/>
          </a:xfrm>
          <a:prstGeom prst="roundRect">
            <a:avLst>
              <a:gd name="adj" fmla="val 4082"/>
            </a:avLst>
          </a:prstGeom>
          <a:solidFill>
            <a:srgbClr val="F2F4F7"/>
          </a:solidFill>
          <a:ln w="9525">
            <a:solidFill>
              <a:srgbClr val="DCE3E9"/>
            </a:solidFill>
            <a:prstDash val="solid"/>
          </a:ln>
        </p:spPr>
      </p:sp>
      <p:sp>
        <p:nvSpPr>
          <p:cNvPr id="21" name="Shape 19"/>
          <p:cNvSpPr/>
          <p:nvPr/>
        </p:nvSpPr>
        <p:spPr>
          <a:xfrm>
            <a:off x="4556760" y="4069080"/>
            <a:ext cx="502920" cy="45720"/>
          </a:xfrm>
          <a:prstGeom prst="rect">
            <a:avLst/>
          </a:prstGeom>
          <a:solidFill>
            <a:schemeClr val="accent1"/>
          </a:solidFill>
          <a:ln w="12700">
            <a:solidFill>
              <a:schemeClr val="accent1"/>
            </a:solidFill>
            <a:prstDash val="solid"/>
          </a:ln>
        </p:spPr>
      </p:sp>
      <p:sp>
        <p:nvSpPr>
          <p:cNvPr id="22" name="Text 20"/>
          <p:cNvSpPr txBox="1"/>
          <p:nvPr/>
        </p:nvSpPr>
        <p:spPr>
          <a:xfrm>
            <a:off x="4556760" y="4178808"/>
            <a:ext cx="3048000" cy="438912"/>
          </a:xfrm>
          <a:prstGeom prst="rect">
            <a:avLst/>
          </a:prstGeom>
          <a:noFill/>
          <a:ln/>
        </p:spPr>
        <p:txBody>
          <a:bodyPr wrap="square" lIns="0" tIns="0" rIns="0" bIns="0" rtlCol="0" anchor="ctr"/>
          <a:lstStyle/>
          <a:p>
            <a:pPr indent="0" marL="0">
              <a:buNone/>
            </a:pPr>
            <a:r>
              <a:rPr lang="en-US" sz="1900" b="1" dirty="0">
                <a:solidFill>
                  <a:schemeClr val="accent2"/>
                </a:solidFill>
                <a:latin typeface="Cambria" pitchFamily="34" charset="0"/>
                <a:ea typeface="Cambria" pitchFamily="34" charset="-122"/>
                <a:cs typeface="Cambria" pitchFamily="34" charset="-120"/>
              </a:rPr>
              <a:t>Sistema operativo</a:t>
            </a:r>
            <a:endParaRPr lang="en-US" sz="1900" dirty="0"/>
          </a:p>
        </p:txBody>
      </p:sp>
      <p:sp>
        <p:nvSpPr>
          <p:cNvPr id="23" name="Text 21"/>
          <p:cNvSpPr txBox="1"/>
          <p:nvPr/>
        </p:nvSpPr>
        <p:spPr>
          <a:xfrm>
            <a:off x="4556760" y="4663440"/>
            <a:ext cx="3048000" cy="1325880"/>
          </a:xfrm>
          <a:prstGeom prst="rect">
            <a:avLst/>
          </a:prstGeom>
          <a:noFill/>
          <a:ln/>
        </p:spPr>
        <p:txBody>
          <a:bodyPr wrap="square" lIns="0" tIns="0" rIns="0" bIns="0" rtlCol="0" anchor="t"/>
          <a:lstStyle/>
          <a:p>
            <a:pPr indent="0" marL="0">
              <a:buNone/>
            </a:pPr>
            <a:r>
              <a:rPr lang="en-US" sz="1450" dirty="0">
                <a:solidFill>
                  <a:schemeClr val="tx1"/>
                </a:solidFill>
              </a:rPr>
              <a:t>Software que gere o computador; por exemplo, o Windows 11.</a:t>
            </a:r>
            <a:endParaRPr lang="en-US" sz="1450" dirty="0"/>
          </a:p>
        </p:txBody>
      </p:sp>
      <p:sp>
        <p:nvSpPr>
          <p:cNvPr id="24" name="Shape 22"/>
          <p:cNvSpPr/>
          <p:nvPr/>
        </p:nvSpPr>
        <p:spPr>
          <a:xfrm>
            <a:off x="8107680" y="3886200"/>
            <a:ext cx="3505200" cy="2240280"/>
          </a:xfrm>
          <a:prstGeom prst="roundRect">
            <a:avLst>
              <a:gd name="adj" fmla="val 4082"/>
            </a:avLst>
          </a:prstGeom>
          <a:solidFill>
            <a:srgbClr val="F2F4F7"/>
          </a:solidFill>
          <a:ln w="9525">
            <a:solidFill>
              <a:srgbClr val="DCE3E9"/>
            </a:solidFill>
            <a:prstDash val="solid"/>
          </a:ln>
        </p:spPr>
      </p:sp>
      <p:sp>
        <p:nvSpPr>
          <p:cNvPr id="25" name="Shape 23"/>
          <p:cNvSpPr/>
          <p:nvPr/>
        </p:nvSpPr>
        <p:spPr>
          <a:xfrm>
            <a:off x="8336280" y="4069080"/>
            <a:ext cx="502920" cy="45720"/>
          </a:xfrm>
          <a:prstGeom prst="rect">
            <a:avLst/>
          </a:prstGeom>
          <a:solidFill>
            <a:schemeClr val="accent1"/>
          </a:solidFill>
          <a:ln w="12700">
            <a:solidFill>
              <a:schemeClr val="accent1"/>
            </a:solidFill>
            <a:prstDash val="solid"/>
          </a:ln>
        </p:spPr>
      </p:sp>
      <p:sp>
        <p:nvSpPr>
          <p:cNvPr id="26" name="Text 24"/>
          <p:cNvSpPr txBox="1"/>
          <p:nvPr/>
        </p:nvSpPr>
        <p:spPr>
          <a:xfrm>
            <a:off x="8336280" y="4178808"/>
            <a:ext cx="3048000" cy="438912"/>
          </a:xfrm>
          <a:prstGeom prst="rect">
            <a:avLst/>
          </a:prstGeom>
          <a:noFill/>
          <a:ln/>
        </p:spPr>
        <p:txBody>
          <a:bodyPr wrap="square" lIns="0" tIns="0" rIns="0" bIns="0" rtlCol="0" anchor="ctr"/>
          <a:lstStyle/>
          <a:p>
            <a:pPr indent="0" marL="0">
              <a:buNone/>
            </a:pPr>
            <a:r>
              <a:rPr lang="en-US" sz="1900" b="1" dirty="0">
                <a:solidFill>
                  <a:schemeClr val="accent2"/>
                </a:solidFill>
                <a:latin typeface="Cambria" pitchFamily="34" charset="0"/>
                <a:ea typeface="Cambria" pitchFamily="34" charset="-122"/>
                <a:cs typeface="Cambria" pitchFamily="34" charset="-120"/>
              </a:rPr>
              <a:t>Software</a:t>
            </a:r>
            <a:endParaRPr lang="en-US" sz="1900" dirty="0"/>
          </a:p>
        </p:txBody>
      </p:sp>
      <p:sp>
        <p:nvSpPr>
          <p:cNvPr id="27" name="Text 25"/>
          <p:cNvSpPr txBox="1"/>
          <p:nvPr/>
        </p:nvSpPr>
        <p:spPr>
          <a:xfrm>
            <a:off x="8336280" y="4663440"/>
            <a:ext cx="3048000" cy="1325880"/>
          </a:xfrm>
          <a:prstGeom prst="rect">
            <a:avLst/>
          </a:prstGeom>
          <a:noFill/>
          <a:ln/>
        </p:spPr>
        <p:txBody>
          <a:bodyPr wrap="square" lIns="0" tIns="0" rIns="0" bIns="0" rtlCol="0" anchor="t"/>
          <a:lstStyle/>
          <a:p>
            <a:pPr indent="0" marL="0">
              <a:buNone/>
            </a:pPr>
            <a:r>
              <a:rPr lang="en-US" sz="1450" dirty="0">
                <a:solidFill>
                  <a:schemeClr val="tx1"/>
                </a:solidFill>
              </a:rPr>
              <a:t>Programas e aplicações do computador.</a:t>
            </a:r>
            <a:endParaRPr lang="en-US" sz="145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Logótipo ATC – Angbu Training Centre">    </p:cNvPr>
          <p:cNvPicPr>
            <a:picLocks noChangeAspect="1"/>
          </p:cNvPicPr>
          <p:nvPr/>
        </p:nvPicPr>
        <p:blipFill>
          <a:blip r:embed="rId2"/>
          <a:stretch>
            <a:fillRect/>
          </a:stretch>
        </p:blipFill>
        <p:spPr>
          <a:xfrm>
            <a:off x="6153768" y="640080"/>
            <a:ext cx="960120" cy="960120"/>
          </a:xfrm>
          <a:prstGeom prst="rect">
            <a:avLst/>
          </a:prstGeom>
        </p:spPr>
      </p:pic>
      <p:sp>
        <p:nvSpPr>
          <p:cNvPr id="3" name="Text 0"/>
          <p:cNvSpPr txBox="1"/>
          <p:nvPr/>
        </p:nvSpPr>
        <p:spPr>
          <a:xfrm>
            <a:off x="6153768" y="2011680"/>
            <a:ext cx="5489287" cy="1645920"/>
          </a:xfrm>
          <a:prstGeom prst="rect">
            <a:avLst/>
          </a:prstGeom>
          <a:noFill/>
          <a:ln/>
        </p:spPr>
        <p:txBody>
          <a:bodyPr wrap="square" lIns="0" tIns="0" rIns="0" bIns="0" rtlCol="0" anchor="t">
            <a:normAutofit/>
          </a:bodyPr>
          <a:lstStyle/>
          <a:p>
            <a:pPr indent="0" marL="0">
              <a:buNone/>
            </a:pPr>
            <a:r>
              <a:rPr lang="en-US" sz="3800" b="1" dirty="0">
                <a:solidFill>
                  <a:schemeClr val="bg1"/>
                </a:solidFill>
                <a:latin typeface="Cambria" pitchFamily="34" charset="0"/>
                <a:ea typeface="Cambria" pitchFamily="34" charset="-122"/>
                <a:cs typeface="Cambria" pitchFamily="34" charset="-120"/>
              </a:rPr>
              <a:t>Aprender hoje.</a:t>
            </a:r>
            <a:endParaRPr lang="en-US" sz="3800" dirty="0"/>
          </a:p>
          <a:p>
            <a:pPr indent="0" marL="0">
              <a:buNone/>
            </a:pPr>
            <a:r>
              <a:rPr lang="en-US" sz="3800" b="1" dirty="0">
                <a:solidFill>
                  <a:schemeClr val="accent3"/>
                </a:solidFill>
                <a:latin typeface="Cambria" pitchFamily="34" charset="0"/>
                <a:ea typeface="Cambria" pitchFamily="34" charset="-122"/>
                <a:cs typeface="Cambria" pitchFamily="34" charset="-120"/>
              </a:rPr>
              <a:t>Ir mais longe amanhã.</a:t>
            </a:r>
            <a:endParaRPr lang="en-US" sz="3800" dirty="0"/>
          </a:p>
        </p:txBody>
      </p:sp>
      <p:sp>
        <p:nvSpPr>
          <p:cNvPr id="4" name="Text 1"/>
          <p:cNvSpPr txBox="1"/>
          <p:nvPr/>
        </p:nvSpPr>
        <p:spPr>
          <a:xfrm>
            <a:off x="6153768" y="3840480"/>
            <a:ext cx="5489287" cy="1097280"/>
          </a:xfrm>
          <a:prstGeom prst="rect">
            <a:avLst/>
          </a:prstGeom>
          <a:noFill/>
          <a:ln/>
        </p:spPr>
        <p:txBody>
          <a:bodyPr wrap="square" lIns="0" tIns="0" rIns="0" bIns="0" rtlCol="0" anchor="t"/>
          <a:lstStyle/>
          <a:p>
            <a:pPr indent="0" marL="0">
              <a:buNone/>
            </a:pPr>
            <a:r>
              <a:rPr lang="en-US" sz="1800" dirty="0">
                <a:solidFill>
                  <a:srgbClr val="D5DEE6"/>
                </a:solidFill>
              </a:rPr>
              <a:t>Continue o módulo 1 na plataforma ATC: vídeo-aulas, manual completo, exercícios e o seu guia virtual por voz.</a:t>
            </a:r>
            <a:endParaRPr lang="en-US" sz="1800" dirty="0"/>
          </a:p>
        </p:txBody>
      </p:sp>
      <p:sp>
        <p:nvSpPr>
          <p:cNvPr id="5" name="Text 2"/>
          <p:cNvSpPr txBox="1"/>
          <p:nvPr/>
        </p:nvSpPr>
        <p:spPr>
          <a:xfrm>
            <a:off x="6153768" y="5760720"/>
            <a:ext cx="5489287" cy="365760"/>
          </a:xfrm>
          <a:prstGeom prst="rect">
            <a:avLst/>
          </a:prstGeom>
          <a:noFill/>
          <a:ln/>
        </p:spPr>
        <p:txBody>
          <a:bodyPr wrap="square" lIns="0" tIns="0" rIns="0" bIns="0" rtlCol="0" anchor="ctr"/>
          <a:lstStyle/>
          <a:p>
            <a:pPr indent="0" marL="0">
              <a:buNone/>
            </a:pPr>
            <a:r>
              <a:rPr lang="en-US" sz="1200" b="1" dirty="0">
                <a:solidFill>
                  <a:srgbClr val="D5DEE6"/>
                </a:solidFill>
              </a:rPr>
              <a:t>ATC – Angbu Training Centre · Cabinda, Angola</a:t>
            </a:r>
            <a:endParaRPr lang="en-US" sz="1200" dirty="0"/>
          </a:p>
        </p:txBody>
      </p:sp>
    </p:spTree>
  </p:cSld>
  <p:clrMapOvr>
    <a:masterClrMapping/>
  </p:clrMapOvr>
</p:sld>
</file>

<file path=ppt/theme/theme1.xml><?xml version="1.0" encoding="utf-8"?>
<a:theme xmlns:a="http://schemas.openxmlformats.org/drawingml/2006/main" name="ATC Formação">
  <a:themeElements>
    <a:clrScheme name="ATC Formação">
      <a:dk1>
        <a:srgbClr val="1D2733"/>
      </a:dk1>
      <a:lt1>
        <a:srgbClr val="FFFFFF"/>
      </a:lt1>
      <a:dk2>
        <a:srgbClr val="0B2137"/>
      </a:dk2>
      <a:lt2>
        <a:srgbClr val="F2F4F7"/>
      </a:lt2>
      <a:accent1>
        <a:srgbClr val="DA6D24"/>
      </a:accent1>
      <a:accent2>
        <a:srgbClr val="1E6F8A"/>
      </a:accent2>
      <a:accent3>
        <a:srgbClr val="F08A3E"/>
      </a:accent3>
      <a:accent4>
        <a:srgbClr val="5F6B78"/>
      </a:accent4>
      <a:accent5>
        <a:srgbClr val="2E7D4F"/>
      </a:accent5>
      <a:accent6>
        <a:srgbClr val="B3361F"/>
      </a:accent6>
      <a:hlink>
        <a:srgbClr val="DA6D24"/>
      </a:hlink>
      <a:folHlink>
        <a:srgbClr val="8A5A3C"/>
      </a:folHlink>
    </a:clrScheme>
    <a:fontScheme name="ATC Formaçã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ATC – Angbu Training Centre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Informática na Ótica do Utilizador · Módulo 1 · O computador e o Windows 11</dc:title>
  <dc:subject>Apresentação do manual do formando</dc:subject>
  <dc:creator>ATC – Angbu Training Centre</dc:creator>
  <cp:lastModifiedBy>ATC – Angbu Training Centre</cp:lastModifiedBy>
  <cp:revision>1</cp:revision>
  <dcterms:created xsi:type="dcterms:W3CDTF">2026-10-17T07:59:54Z</dcterms:created>
  <dcterms:modified xsi:type="dcterms:W3CDTF">2026-10-17T07:59:54Z</dcterms:modified>
</cp:coreProperties>
</file>