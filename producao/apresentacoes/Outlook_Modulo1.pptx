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ertura" id="{9c94e3cd-f6ab-5521-9591-30b2f186fcdf}">
          <p14:sldIdLst>
            <p14:sldId id="256"/>
            <p14:sldId id="257"/>
            <p14:sldId id="258"/>
            <p14:sldId id="259"/>
          </p14:sldIdLst>
        </p14:section>
        <p14:section name="Conteúdos" id="{ebba4ff7-4dcd-c1b7-7417-6f0fe31da23b}">
          <p14:sldIdLst>
            <p14:sldId id="260"/>
            <p14:sldId id="261"/>
            <p14:sldId id="262"/>
            <p14:sldId id="263"/>
            <p14:sldId id="264"/>
            <p14:sldId id="265"/>
          </p14:sldIdLst>
        </p14:section>
        <p14:section name="Consolidação" id="{5c5b16cf-3109-4ca6-25f0-298ca230dd74}">
          <p14:sldIdLst>
            <p14:sldId id="266"/>
            <p14:sldId id="267"/>
            <p14:sldId id="268"/>
          </p14:sldIdLst>
        </p14:section>
        <p14:section name="Encerramento" id="{eaaebc9a-5e2c-8882-1597-411d33f83a68}">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Apresentação do módulo 1 do curso Microsoft Outlook. Miguel é o guia virtual que acompanha os formandos na plataforma ATC.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Microsoft Outlook serve para gerir o correio eletrónico, os contactos e o calendário. Neste módulo vai escrever uma mensagem profissional, com assunto claro, parágrafos, uma lista e uma assinatura.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Objetivos:
1. Reconhecer o Microsoft Outlook e a janela de nova mensagem.
2. Distinguir os campos Para, Cc, Bcc e Assunto.
3. Escrever um assunto claro e uma mensagem organizada.
4. Usar o separador Formatar texto para negrito, listas e itálico.
5. Rever a mensagem antes de a enviar.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Temas do módulo:
1.1 O que é o Outlook?
1.2 A janela de nova mensagem
1.3 Escrever um assunto claro
1.4 Organizar a mensagem
1.5 Formatar o texto
1.6 Rever antes de enviar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O que é o Outlook?
[Figura] Ícone de identificação do Microsoft Outlook, réplica visual fornecida para este curso.
O Microsoft Outlook é uma aplicação de correio eletrónico. Permite enviar e receber mensagens, guardar contactos e organizar compromissos num calendário.
Termo | Significado | Exemplo
Mensagem | Texto enviado a uma ou mais pessoas. | Convite para uma formação
Assunto | Resumo curto do conteúdo da mensagem. | ATC — Formação Outlook
Destinatário | Pessoa que recebe a mensagem. | Campo Para
Rascunho | Mensagem escrita que ainda não foi enviada. | Mensagem de exemplo
Dica: Os nomes dos separadores e dos botões podem variar ligeiramente conforme a versão do programa e o idioma instalado. Neste manual usamos os termos da interface em português europeu, na versão para a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A janela de nova mensagem
Quando escreve uma mensagem nova, o Outlook mostra os campos de endereço, o assunto e a área de texto.
[Figura] Captura própria de um exemplo fictício ATC no Outlook para a Web: nova mensagem com os campos Para e Cc, o aviso «Adicione um assunto» e o botão Enviar.
Campo | Para que serve
Para | Endereços das pessoas a quem a mensagem é dirigida.
Cc | Pessoas que recebem uma cópia da mensagem.
Bcc | Pessoas que recebem a mensagem sem que os outros destinatários vejam o seu endereço.
Assunto | Resumo curto que o destinatário vê antes de abrir a mensagem.
Enviar | Envia a mensagem. Fica inativo enquanto não houver um destinatário.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Escrever um assunto claro
Um bom assunto diz de que trata a mensagem. Evite assuntos vazios, demasiado longos ou com muitas letras maiúsculas.
1. Clique no campo Adicione um assunto.
2. Escreva um assunto curto e específico, por exemplo ATC — Formação Outlook.
3. Confirme que o assunto continua visível por cima do texto da mensagem.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Organizar a mensagem
Uma mensagem fácil de ler tem uma saudação, um parágrafo curto, uma lista de pontos e uma despedida com a assinatura.
1. Escreva a saudação: Olá,.
2. Escreva uma frase de contexto: A sessão de formação em Microsoft Outlook terá lugar em Luanda.
3. Escreva Objetivos da sessão: e crie uma lista com três pontos.
4. Termine com Com os melhores cumprimentos,, o seu nome e a ATC.
Nota: Use dados fictícios nos exercícios. Não escreva endereços de correio verdadeiros nem informação confidencial.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Formatar o texto
O separador Formatar texto reúne os comandos para negrito, itálico, listas, cores e alinhamento.
[Figura] Captura própria de um exemplo fictício ATC no Outlook para a Web: separador Formatar texto, com o assunto «ATC — Formação Outlook» e a mensagem formatada.
1. Selecione Objetivos da sessão: e aplique negrito.
2. Selecione os três pontos e escolha uma lista com marcas.
3. Selecione a última frase e aplique itálico.
4. Volte ao separador Mensagem para rever o resultado.
Dica: Use a formatação com moderação. Uma mensagem com poucas mudanças de estilo é mais fácil de 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Rever antes de enviar
Depois de enviada, uma mensagem já não se pode corrigir. Reveja sempre os campos antes de carregar em Enviar.
1. Confirme os destinatários nos campos Para, Cc e Bcc.
2. Confirme o assunto.
3. Leia o texto do princípio ao fim e corrija erros.
4. Só então carregue em Enviar.
Atenção: No exercício deste curso, deixe o campo Para vazio. A mensagem fica como rascunho e não é enviada a ninguém.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Resumo:
O Outlook serve para gerir correio, contactos e calendário.
Os campos Para, Cc e Bcc definem quem recebe a mensagem.
Um assunto claro resume o conteúdo da mensagem.
Parágrafos curtos e listas tornam a mensagem fácil de ler.
Reveja sempre os destinatários e o texto antes de enviar.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Exercício prático · Mensagem de convite (15 min)
Crie uma nova mensagem no Microsoft Outlook
1. Abra uma mensagem nova e deixe o campo Para vazio.
2. Escreva o assunto ATC — Formação Outlook.
3. Escreva a saudação, uma frase de contexto e a despedida com o seu nome.
4. Crie uma lista com três objetivos.
5. Aplique negrito ao título da lista e itálico à última frase.
6. Reveja a mensagem e guarde-a como rascunho, sem a enviar.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Assunto: Resumo curto do conteúdo da mensagem.
Bcc: Cópia oculta: os outros destinatários não veem este endereço.
Cc: Cópia: pessoas que recebem a mensagem a título informativo.
Destinatário: Pessoa que recebe a mensagem.
Rascunho: Mensagem guardada que ainda não foi enviada.
Separador: Grupo de comandos da janela de mensagem, como Mensagem ou Formatar 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Encerramento. Lembre os formandos de que o manual, os vídeos e o guia por voz estão disponíveis na plataforma ATC.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ú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77724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r>
              <a:rPr lang="en-US" sz="3000" b="1" dirty="0">
                <a:solidFill>
                  <a:schemeClr val="tx2"/>
                </a:solidFill>
                <a:latin typeface="Cambria" pitchFamily="34" charset="0"/>
                <a:ea typeface="Cambria" pitchFamily="34" charset="-122"/>
                <a:cs typeface="Cambria" pitchFamily="34" charset="-120"/>
              </a:rPr>
              <a:t>Título</a:t>
            </a:r>
            <a:endParaRPr lang="en-US" sz="3000" dirty="0"/>
          </a:p>
        </p:txBody>
      </p:sp>
      <p:pic>
        <p:nvPicPr>
          <p:cNvPr id="3" name="Image 0" descr="/home/user/atc_lms/static/logo-600.png">    </p:cNvPr>
          <p:cNvPicPr>
            <a:picLocks noChangeAspect="1"/>
          </p:cNvPicPr>
          <p:nvPr/>
        </p:nvPicPr>
        <p:blipFill>
          <a:blip r:embed="rId1"/>
          <a:stretch>
            <a:fillRect/>
          </a:stretch>
        </p:blipFill>
        <p:spPr>
          <a:xfrm>
            <a:off x="11109960" y="384048"/>
            <a:ext cx="566928" cy="566928"/>
          </a:xfrm>
          <a:prstGeom prst="rect">
            <a:avLst/>
          </a:prstGeom>
        </p:spPr>
      </p:pic>
      <p:sp>
        <p:nvSpPr>
          <p:cNvPr id="4"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ATC · Angbu Training Centre   |   Microsoft Outlook · Módulo 1</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ena">
    <p:bg>
      <p:bgPr>
        <a:solidFill>
          <a:srgbClr val="E8EAED"/>
        </a:solidFill>
      </p:bgPr>
    </p:bg>
    <p:spTree>
      <p:nvGrpSpPr>
        <p:cNvPr id="1" name=""/>
        <p:cNvGrpSpPr/>
        <p:nvPr/>
      </p:nvGrpSpPr>
      <p:grpSpPr>
        <a:xfrm>
          <a:off x="0" y="0"/>
          <a:ext cx="0" cy="0"/>
          <a:chOff x="0" y="0"/>
          <a:chExt cx="0" cy="0"/>
        </a:xfrm>
      </p:grpSpPr>
      <p:sp>
        <p:nvSpPr>
          <p:cNvPr id="2"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ATC · Angbu Training Centre   |   Microsoft Outlook · Módulo 1</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apa">
    <p:bg>
      <p:bgPr>
        <a:solidFill>
          <a:srgbClr val="0B2137"/>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Logótipo ATC – Angbu Training Centre">    </p:cNvPr>
          <p:cNvPicPr>
            <a:picLocks noChangeAspect="1"/>
          </p:cNvPicPr>
          <p:nvPr/>
        </p:nvPicPr>
        <p:blipFill>
          <a:blip r:embed="rId2"/>
          <a:stretch>
            <a:fillRect/>
          </a:stretch>
        </p:blipFill>
        <p:spPr>
          <a:xfrm>
            <a:off x="548640" y="502920"/>
            <a:ext cx="960120" cy="960120"/>
          </a:xfrm>
          <a:prstGeom prst="rect">
            <a:avLst/>
          </a:prstGeom>
        </p:spPr>
      </p:pic>
      <p:sp>
        <p:nvSpPr>
          <p:cNvPr id="3" name="Text 0"/>
          <p:cNvSpPr txBox="1"/>
          <p:nvPr/>
        </p:nvSpPr>
        <p:spPr>
          <a:xfrm>
            <a:off x="548640" y="1965960"/>
            <a:ext cx="5644732"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MANUAL DO FORMANDO · MÓDULO 1</a:t>
            </a:r>
            <a:endParaRPr lang="en-US" sz="1200" dirty="0"/>
          </a:p>
        </p:txBody>
      </p:sp>
      <p:sp>
        <p:nvSpPr>
          <p:cNvPr id="4" name="Text 1"/>
          <p:cNvSpPr txBox="1"/>
          <p:nvPr/>
        </p:nvSpPr>
        <p:spPr>
          <a:xfrm>
            <a:off x="548640" y="2286000"/>
            <a:ext cx="5644732" cy="1371600"/>
          </a:xfrm>
          <a:prstGeom prst="rect">
            <a:avLst/>
          </a:prstGeom>
          <a:noFill/>
          <a:ln/>
        </p:spPr>
        <p:txBody>
          <a:bodyPr wrap="square" lIns="0" tIns="0" rIns="0" bIns="0" rtlCol="0" anchor="t">
            <a:normAutofit/>
          </a:bodyPr>
          <a:lstStyle/>
          <a:p>
            <a:pPr indent="0" marL="0">
              <a:buNone/>
            </a:pPr>
            <a:r>
              <a:rPr lang="en-US" sz="4400" b="1" dirty="0">
                <a:solidFill>
                  <a:schemeClr val="bg1"/>
                </a:solidFill>
                <a:latin typeface="Cambria" pitchFamily="34" charset="0"/>
                <a:ea typeface="Cambria" pitchFamily="34" charset="-122"/>
                <a:cs typeface="Cambria" pitchFamily="34" charset="-120"/>
              </a:rPr>
              <a:t>Microsoft Outlook</a:t>
            </a:r>
            <a:endParaRPr lang="en-US" sz="4400" dirty="0"/>
          </a:p>
        </p:txBody>
      </p:sp>
      <p:sp>
        <p:nvSpPr>
          <p:cNvPr id="5" name="Text 2"/>
          <p:cNvSpPr txBox="1"/>
          <p:nvPr/>
        </p:nvSpPr>
        <p:spPr>
          <a:xfrm>
            <a:off x="548640" y="3657600"/>
            <a:ext cx="5644732" cy="548640"/>
          </a:xfrm>
          <a:prstGeom prst="rect">
            <a:avLst/>
          </a:prstGeom>
          <a:noFill/>
          <a:ln/>
        </p:spPr>
        <p:txBody>
          <a:bodyPr wrap="square" lIns="0" tIns="0" rIns="0" bIns="0" rtlCol="0" anchor="ctr"/>
          <a:lstStyle/>
          <a:p>
            <a:pPr indent="0" marL="0">
              <a:buNone/>
            </a:pPr>
            <a:r>
              <a:rPr lang="en-US" sz="2400" dirty="0">
                <a:solidFill>
                  <a:schemeClr val="accent3"/>
                </a:solidFill>
              </a:rPr>
              <a:t>Primeiros passos no Outlook</a:t>
            </a:r>
            <a:endParaRPr lang="en-US" sz="2400" dirty="0"/>
          </a:p>
        </p:txBody>
      </p:sp>
      <p:sp>
        <p:nvSpPr>
          <p:cNvPr id="6" name="Text 3"/>
          <p:cNvSpPr txBox="1"/>
          <p:nvPr/>
        </p:nvSpPr>
        <p:spPr>
          <a:xfrm>
            <a:off x="548640" y="4206240"/>
            <a:ext cx="5644732" cy="731520"/>
          </a:xfrm>
          <a:prstGeom prst="rect">
            <a:avLst/>
          </a:prstGeom>
          <a:noFill/>
          <a:ln/>
        </p:spPr>
        <p:txBody>
          <a:bodyPr wrap="square" lIns="0" tIns="0" rIns="0" bIns="0" rtlCol="0" anchor="t"/>
          <a:lstStyle/>
          <a:p>
            <a:pPr indent="0" marL="0">
              <a:buNone/>
            </a:pPr>
            <a:r>
              <a:rPr lang="en-US" sz="1600" dirty="0">
                <a:solidFill>
                  <a:srgbClr val="D5DEE6"/>
                </a:solidFill>
              </a:rPr>
              <a:t>Mensagens de correio eletrónico claras e profissionais</a:t>
            </a:r>
            <a:endParaRPr lang="en-US" sz="1600" dirty="0"/>
          </a:p>
        </p:txBody>
      </p:sp>
      <p:sp>
        <p:nvSpPr>
          <p:cNvPr id="7" name="Text 4"/>
          <p:cNvSpPr txBox="1"/>
          <p:nvPr/>
        </p:nvSpPr>
        <p:spPr>
          <a:xfrm>
            <a:off x="548640" y="5715000"/>
            <a:ext cx="5644732" cy="640080"/>
          </a:xfrm>
          <a:prstGeom prst="rect">
            <a:avLst/>
          </a:prstGeom>
          <a:noFill/>
          <a:ln/>
        </p:spPr>
        <p:txBody>
          <a:bodyPr wrap="square" lIns="0" tIns="0" rIns="0" bIns="0" rtlCol="0" anchor="ctr"/>
          <a:lstStyle/>
          <a:p>
            <a:pPr indent="0" marL="0">
              <a:buNone/>
            </a:pPr>
            <a:r>
              <a:rPr lang="en-US" sz="1200" b="1" dirty="0">
                <a:solidFill>
                  <a:srgbClr val="D5DEE6"/>
                </a:solidFill>
              </a:rPr>
              <a:t>ATC – Angbu Training Centre · Luanda</a:t>
            </a:r>
            <a:endParaRPr lang="en-US" sz="1200" dirty="0"/>
          </a:p>
          <a:p>
            <a:pPr indent="0" marL="0">
              <a:buNone/>
            </a:pPr>
            <a:r>
              <a:rPr lang="en-US" sz="1200" dirty="0">
                <a:solidFill>
                  <a:srgbClr val="D5DEE6"/>
                </a:solidFill>
              </a:rPr>
              <a:t>Versão 1.0 — módulo introdutório ATC · outubro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019660" y="822960"/>
            <a:ext cx="5623395"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OLÁ, SOU A HELENA</a:t>
            </a:r>
            <a:endParaRPr lang="en-US" sz="1200" dirty="0"/>
          </a:p>
        </p:txBody>
      </p:sp>
      <p:sp>
        <p:nvSpPr>
          <p:cNvPr id="3" name="Text 1"/>
          <p:cNvSpPr txBox="1"/>
          <p:nvPr/>
        </p:nvSpPr>
        <p:spPr>
          <a:xfrm>
            <a:off x="6019660" y="1143000"/>
            <a:ext cx="5623395" cy="82296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Bem-vindo ao módulo 1</a:t>
            </a:r>
            <a:endParaRPr lang="en-US" sz="3400" dirty="0"/>
          </a:p>
        </p:txBody>
      </p:sp>
      <p:sp>
        <p:nvSpPr>
          <p:cNvPr id="4" name="Text 2"/>
          <p:cNvSpPr txBox="1"/>
          <p:nvPr/>
        </p:nvSpPr>
        <p:spPr>
          <a:xfrm>
            <a:off x="6019660" y="2103120"/>
            <a:ext cx="5623395" cy="2377440"/>
          </a:xfrm>
          <a:prstGeom prst="rect">
            <a:avLst/>
          </a:prstGeom>
          <a:noFill/>
          <a:ln/>
        </p:spPr>
        <p:txBody>
          <a:bodyPr wrap="square" lIns="0" tIns="0" rIns="0" bIns="0" rtlCol="0" anchor="t"/>
          <a:lstStyle/>
          <a:p>
            <a:pPr indent="0" marL="0">
              <a:buNone/>
            </a:pPr>
            <a:r>
              <a:rPr lang="en-US" sz="1800" dirty="0">
                <a:solidFill>
                  <a:schemeClr val="tx1"/>
                </a:solidFill>
              </a:rPr>
              <a:t>O Microsoft Outlook serve para gerir o correio eletrónico, os contactos e o calendário. Neste módulo vai escrever uma mensagem profissional, com assunto claro, parágrafos, uma lista e uma assinatura.</a:t>
            </a:r>
            <a:endParaRPr lang="en-US" sz="1800" dirty="0"/>
          </a:p>
        </p:txBody>
      </p:sp>
      <p:sp>
        <p:nvSpPr>
          <p:cNvPr id="5" name="Shape 3"/>
          <p:cNvSpPr/>
          <p:nvPr/>
        </p:nvSpPr>
        <p:spPr>
          <a:xfrm>
            <a:off x="6019660" y="4709160"/>
            <a:ext cx="1691585" cy="1325880"/>
          </a:xfrm>
          <a:prstGeom prst="roundRect">
            <a:avLst>
              <a:gd name="adj" fmla="val 6897"/>
            </a:avLst>
          </a:prstGeom>
          <a:solidFill>
            <a:srgbClr val="FFFFFF">
              <a:alpha val="90000"/>
            </a:srgbClr>
          </a:solidFill>
          <a:ln w="12700">
            <a:solidFill>
              <a:srgbClr val="FFFFFF"/>
            </a:solidFill>
            <a:prstDash val="solid"/>
          </a:ln>
          <a:effectLst>
            <a:outerShdw sx="100000" sy="100000" kx="0" ky="0" algn="bl" rotWithShape="0" blurRad="127000" dist="38100" dir="5400000">
              <a:srgbClr val="0B2137">
                <a:alpha val="18000"/>
              </a:srgbClr>
            </a:outerShdw>
          </a:effectLst>
        </p:spPr>
      </p:sp>
      <p:sp>
        <p:nvSpPr>
          <p:cNvPr id="6" name="Text 4"/>
          <p:cNvSpPr txBox="1"/>
          <p:nvPr/>
        </p:nvSpPr>
        <p:spPr>
          <a:xfrm>
            <a:off x="6019660" y="4800600"/>
            <a:ext cx="1691585" cy="68580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1 h</a:t>
            </a:r>
            <a:endParaRPr lang="en-US" sz="3200" dirty="0"/>
          </a:p>
        </p:txBody>
      </p:sp>
      <p:sp>
        <p:nvSpPr>
          <p:cNvPr id="7" name="Text 5"/>
          <p:cNvSpPr txBox="1"/>
          <p:nvPr/>
        </p:nvSpPr>
        <p:spPr>
          <a:xfrm>
            <a:off x="6111100" y="5468112"/>
            <a:ext cx="1508705" cy="457200"/>
          </a:xfrm>
          <a:prstGeom prst="rect">
            <a:avLst/>
          </a:prstGeom>
          <a:noFill/>
          <a:ln/>
        </p:spPr>
        <p:txBody>
          <a:bodyPr wrap="square" lIns="0" tIns="0" rIns="0" bIns="0" rtlCol="0" anchor="ctr"/>
          <a:lstStyle/>
          <a:p>
            <a:pPr algn="ctr" indent="0" marL="0">
              <a:buNone/>
            </a:pPr>
            <a:r>
              <a:rPr lang="en-US" sz="1300" dirty="0">
                <a:solidFill>
                  <a:schemeClr val="tx1"/>
                </a:solidFill>
              </a:rPr>
              <a:t>de sessão presencial</a:t>
            </a:r>
            <a:endParaRPr lang="en-US" sz="1300" dirty="0"/>
          </a:p>
        </p:txBody>
      </p:sp>
      <p:sp>
        <p:nvSpPr>
          <p:cNvPr id="8" name="Shape 6"/>
          <p:cNvSpPr/>
          <p:nvPr/>
        </p:nvSpPr>
        <p:spPr>
          <a:xfrm>
            <a:off x="7985565" y="4709160"/>
            <a:ext cx="1691585" cy="1325880"/>
          </a:xfrm>
          <a:prstGeom prst="roundRect">
            <a:avLst>
              <a:gd name="adj" fmla="val 6897"/>
            </a:avLst>
          </a:prstGeom>
          <a:solidFill>
            <a:srgbClr val="FFFFFF">
              <a:alpha val="90000"/>
            </a:srgbClr>
          </a:solidFill>
          <a:ln w="12700">
            <a:solidFill>
              <a:srgbClr val="FFFFFF"/>
            </a:solidFill>
            <a:prstDash val="solid"/>
          </a:ln>
          <a:effectLst>
            <a:outerShdw sx="100000" sy="100000" kx="0" ky="0" algn="bl" rotWithShape="0" blurRad="127000" dist="38100" dir="5400000">
              <a:srgbClr val="0B2137">
                <a:alpha val="18000"/>
              </a:srgbClr>
            </a:outerShdw>
          </a:effectLst>
        </p:spPr>
      </p:sp>
      <p:sp>
        <p:nvSpPr>
          <p:cNvPr id="9" name="Text 7"/>
          <p:cNvSpPr txBox="1"/>
          <p:nvPr/>
        </p:nvSpPr>
        <p:spPr>
          <a:xfrm>
            <a:off x="7985565" y="4800600"/>
            <a:ext cx="1691585" cy="68580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15 min</a:t>
            </a:r>
            <a:endParaRPr lang="en-US" sz="3200" dirty="0"/>
          </a:p>
        </p:txBody>
      </p:sp>
      <p:sp>
        <p:nvSpPr>
          <p:cNvPr id="10" name="Text 8"/>
          <p:cNvSpPr txBox="1"/>
          <p:nvPr/>
        </p:nvSpPr>
        <p:spPr>
          <a:xfrm>
            <a:off x="8077005" y="5468112"/>
            <a:ext cx="1508705" cy="457200"/>
          </a:xfrm>
          <a:prstGeom prst="rect">
            <a:avLst/>
          </a:prstGeom>
          <a:noFill/>
          <a:ln/>
        </p:spPr>
        <p:txBody>
          <a:bodyPr wrap="square" lIns="0" tIns="0" rIns="0" bIns="0" rtlCol="0" anchor="ctr"/>
          <a:lstStyle/>
          <a:p>
            <a:pPr algn="ctr" indent="0" marL="0">
              <a:buNone/>
            </a:pPr>
            <a:r>
              <a:rPr lang="en-US" sz="1300" dirty="0">
                <a:solidFill>
                  <a:schemeClr val="tx1"/>
                </a:solidFill>
              </a:rPr>
              <a:t>de vídeo-aulas</a:t>
            </a:r>
            <a:endParaRPr lang="en-US" sz="1300" dirty="0"/>
          </a:p>
        </p:txBody>
      </p:sp>
      <p:sp>
        <p:nvSpPr>
          <p:cNvPr id="11" name="Shape 9"/>
          <p:cNvSpPr/>
          <p:nvPr/>
        </p:nvSpPr>
        <p:spPr>
          <a:xfrm>
            <a:off x="9951470" y="4709160"/>
            <a:ext cx="1691585" cy="1325880"/>
          </a:xfrm>
          <a:prstGeom prst="roundRect">
            <a:avLst>
              <a:gd name="adj" fmla="val 6897"/>
            </a:avLst>
          </a:prstGeom>
          <a:solidFill>
            <a:srgbClr val="FFFFFF">
              <a:alpha val="90000"/>
            </a:srgbClr>
          </a:solidFill>
          <a:ln w="12700">
            <a:solidFill>
              <a:srgbClr val="FFFFFF"/>
            </a:solidFill>
            <a:prstDash val="solid"/>
          </a:ln>
          <a:effectLst>
            <a:outerShdw sx="100000" sy="100000" kx="0" ky="0" algn="bl" rotWithShape="0" blurRad="127000" dist="38100" dir="5400000">
              <a:srgbClr val="0B2137">
                <a:alpha val="18000"/>
              </a:srgbClr>
            </a:outerShdw>
          </a:effectLst>
        </p:spPr>
      </p:sp>
      <p:sp>
        <p:nvSpPr>
          <p:cNvPr id="12" name="Text 10"/>
          <p:cNvSpPr txBox="1"/>
          <p:nvPr/>
        </p:nvSpPr>
        <p:spPr>
          <a:xfrm>
            <a:off x="9951470" y="4800600"/>
            <a:ext cx="1691585" cy="68580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6</a:t>
            </a:r>
            <a:endParaRPr lang="en-US" sz="3200" dirty="0"/>
          </a:p>
        </p:txBody>
      </p:sp>
      <p:sp>
        <p:nvSpPr>
          <p:cNvPr id="13" name="Text 11"/>
          <p:cNvSpPr txBox="1"/>
          <p:nvPr/>
        </p:nvSpPr>
        <p:spPr>
          <a:xfrm>
            <a:off x="10042910" y="5468112"/>
            <a:ext cx="1508705" cy="457200"/>
          </a:xfrm>
          <a:prstGeom prst="rect">
            <a:avLst/>
          </a:prstGeom>
          <a:noFill/>
          <a:ln/>
        </p:spPr>
        <p:txBody>
          <a:bodyPr wrap="square" lIns="0" tIns="0" rIns="0" bIns="0" rtlCol="0" anchor="ctr"/>
          <a:lstStyle/>
          <a:p>
            <a:pPr algn="ctr" indent="0" marL="0">
              <a:buNone/>
            </a:pPr>
            <a:r>
              <a:rPr lang="en-US" sz="1300" dirty="0">
                <a:solidFill>
                  <a:schemeClr val="tx1"/>
                </a:solidFill>
              </a:rPr>
              <a:t>temas neste módulo</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Objetivos do módulo</a:t>
            </a:r>
            <a:endParaRPr lang="en-US" sz="3000" dirty="0"/>
          </a:p>
        </p:txBody>
      </p:sp>
      <p:sp>
        <p:nvSpPr>
          <p:cNvPr id="3" name="Shape 1"/>
          <p:cNvSpPr/>
          <p:nvPr/>
        </p:nvSpPr>
        <p:spPr>
          <a:xfrm>
            <a:off x="548640" y="1371600"/>
            <a:ext cx="3291840" cy="4709160"/>
          </a:xfrm>
          <a:prstGeom prst="roundRect">
            <a:avLst>
              <a:gd name="adj" fmla="val 4167"/>
            </a:avLst>
          </a:prstGeom>
          <a:solidFill>
            <a:schemeClr val="tx2"/>
          </a:solidFill>
          <a:ln w="12700">
            <a:solidFill>
              <a:srgbClr val="0B2137"/>
            </a:solidFill>
            <a:prstDash val="solid"/>
          </a:ln>
        </p:spPr>
      </p:sp>
      <p:pic>
        <p:nvPicPr>
          <p:cNvPr id="4" name="Image 0" descr="Miguel, guia virtual ATC">    </p:cNvPr>
          <p:cNvPicPr>
            <a:picLocks noChangeAspect="1"/>
          </p:cNvPicPr>
          <p:nvPr/>
        </p:nvPicPr>
        <p:blipFill>
          <a:blip r:embed="rId1"/>
          <a:stretch>
            <a:fillRect/>
          </a:stretch>
        </p:blipFill>
        <p:spPr>
          <a:xfrm>
            <a:off x="1234440" y="1737360"/>
            <a:ext cx="1920240" cy="1920240"/>
          </a:xfrm>
          <a:prstGeom prst="rect">
            <a:avLst/>
          </a:prstGeom>
        </p:spPr>
      </p:pic>
      <p:sp>
        <p:nvSpPr>
          <p:cNvPr id="5" name="Text 2"/>
          <p:cNvSpPr txBox="1"/>
          <p:nvPr/>
        </p:nvSpPr>
        <p:spPr>
          <a:xfrm>
            <a:off x="777240" y="3931920"/>
            <a:ext cx="2834640" cy="91440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No final deste módulo,</a:t>
            </a:r>
            <a:endParaRPr lang="en-US" sz="2000" dirty="0"/>
          </a:p>
          <a:p>
            <a:pPr algn="ctr" indent="0" marL="0">
              <a:buNone/>
            </a:pPr>
            <a:r>
              <a:rPr lang="en-US" sz="2000" b="1" dirty="0">
                <a:solidFill>
                  <a:schemeClr val="bg1"/>
                </a:solidFill>
                <a:latin typeface="Cambria" pitchFamily="34" charset="0"/>
                <a:ea typeface="Cambria" pitchFamily="34" charset="-122"/>
                <a:cs typeface="Cambria" pitchFamily="34" charset="-120"/>
              </a:rPr>
              <a:t>vai ser capaz de:</a:t>
            </a:r>
            <a:endParaRPr lang="en-US" sz="2000" dirty="0"/>
          </a:p>
        </p:txBody>
      </p:sp>
      <p:sp>
        <p:nvSpPr>
          <p:cNvPr id="6" name="Text 3"/>
          <p:cNvSpPr txBox="1"/>
          <p:nvPr/>
        </p:nvSpPr>
        <p:spPr>
          <a:xfrm>
            <a:off x="777240" y="5120640"/>
            <a:ext cx="2834640" cy="365760"/>
          </a:xfrm>
          <a:prstGeom prst="rect">
            <a:avLst/>
          </a:prstGeom>
          <a:noFill/>
          <a:ln/>
        </p:spPr>
        <p:txBody>
          <a:bodyPr wrap="square" lIns="0" tIns="0" rIns="0" bIns="0" rtlCol="0" anchor="ctr"/>
          <a:lstStyle/>
          <a:p>
            <a:pPr algn="ctr" indent="0" marL="0">
              <a:buNone/>
            </a:pPr>
            <a:r>
              <a:rPr lang="en-US" sz="1200" dirty="0">
                <a:solidFill>
                  <a:schemeClr val="accent3"/>
                </a:solidFill>
              </a:rPr>
              <a:t>Miguel · guia virtual ATC</a:t>
            </a:r>
            <a:endParaRPr lang="en-US" sz="1200" dirty="0"/>
          </a:p>
        </p:txBody>
      </p:sp>
      <p:sp>
        <p:nvSpPr>
          <p:cNvPr id="7" name="Shape 4"/>
          <p:cNvSpPr/>
          <p:nvPr/>
        </p:nvSpPr>
        <p:spPr>
          <a:xfrm>
            <a:off x="4206240" y="1426464"/>
            <a:ext cx="7406640" cy="786384"/>
          </a:xfrm>
          <a:prstGeom prst="roundRect">
            <a:avLst>
              <a:gd name="adj" fmla="val 9302"/>
            </a:avLst>
          </a:prstGeom>
          <a:solidFill>
            <a:srgbClr val="F2F4F7"/>
          </a:solidFill>
          <a:ln w="12700">
            <a:solidFill>
              <a:srgbClr val="F2F4F7"/>
            </a:solidFill>
            <a:prstDash val="solid"/>
          </a:ln>
        </p:spPr>
      </p:sp>
      <p:sp>
        <p:nvSpPr>
          <p:cNvPr id="8" name="Shape 5"/>
          <p:cNvSpPr/>
          <p:nvPr/>
        </p:nvSpPr>
        <p:spPr>
          <a:xfrm>
            <a:off x="4407408" y="1600200"/>
            <a:ext cx="457200" cy="457200"/>
          </a:xfrm>
          <a:prstGeom prst="ellipse">
            <a:avLst/>
          </a:prstGeom>
          <a:solidFill>
            <a:schemeClr val="accent1"/>
          </a:solidFill>
          <a:ln w="12700">
            <a:solidFill>
              <a:srgbClr val="DA6D24"/>
            </a:solidFill>
            <a:prstDash val="solid"/>
          </a:ln>
        </p:spPr>
      </p:sp>
      <p:sp>
        <p:nvSpPr>
          <p:cNvPr id="9" name="Text 6"/>
          <p:cNvSpPr txBox="1"/>
          <p:nvPr/>
        </p:nvSpPr>
        <p:spPr>
          <a:xfrm>
            <a:off x="4407408"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0" name="Text 7"/>
          <p:cNvSpPr txBox="1"/>
          <p:nvPr/>
        </p:nvSpPr>
        <p:spPr>
          <a:xfrm>
            <a:off x="5074920" y="1426464"/>
            <a:ext cx="6355080" cy="786384"/>
          </a:xfrm>
          <a:prstGeom prst="rect">
            <a:avLst/>
          </a:prstGeom>
          <a:noFill/>
          <a:ln/>
        </p:spPr>
        <p:txBody>
          <a:bodyPr wrap="square" lIns="0" tIns="0" rIns="0" bIns="0" rtlCol="0" anchor="ctr"/>
          <a:lstStyle/>
          <a:p>
            <a:pPr indent="0" marL="0">
              <a:buNone/>
            </a:pPr>
            <a:r>
              <a:rPr lang="en-US" sz="1600" dirty="0">
                <a:solidFill>
                  <a:schemeClr val="tx1"/>
                </a:solidFill>
              </a:rPr>
              <a:t>Reconhecer o Microsoft Outlook e a janela de nova mensagem.</a:t>
            </a:r>
            <a:endParaRPr lang="en-US" sz="1600" dirty="0"/>
          </a:p>
        </p:txBody>
      </p:sp>
      <p:sp>
        <p:nvSpPr>
          <p:cNvPr id="11" name="Shape 8"/>
          <p:cNvSpPr/>
          <p:nvPr/>
        </p:nvSpPr>
        <p:spPr>
          <a:xfrm>
            <a:off x="4206240" y="2340864"/>
            <a:ext cx="7406640" cy="786384"/>
          </a:xfrm>
          <a:prstGeom prst="roundRect">
            <a:avLst>
              <a:gd name="adj" fmla="val 9302"/>
            </a:avLst>
          </a:prstGeom>
          <a:solidFill>
            <a:srgbClr val="F2F4F7"/>
          </a:solidFill>
          <a:ln w="12700">
            <a:solidFill>
              <a:srgbClr val="F2F4F7"/>
            </a:solidFill>
            <a:prstDash val="solid"/>
          </a:ln>
        </p:spPr>
      </p:sp>
      <p:sp>
        <p:nvSpPr>
          <p:cNvPr id="12" name="Shape 9"/>
          <p:cNvSpPr/>
          <p:nvPr/>
        </p:nvSpPr>
        <p:spPr>
          <a:xfrm>
            <a:off x="4407408" y="2514600"/>
            <a:ext cx="457200" cy="457200"/>
          </a:xfrm>
          <a:prstGeom prst="ellipse">
            <a:avLst/>
          </a:prstGeom>
          <a:solidFill>
            <a:schemeClr val="accent1"/>
          </a:solidFill>
          <a:ln w="12700">
            <a:solidFill>
              <a:srgbClr val="DA6D24"/>
            </a:solidFill>
            <a:prstDash val="solid"/>
          </a:ln>
        </p:spPr>
      </p:sp>
      <p:sp>
        <p:nvSpPr>
          <p:cNvPr id="13" name="Text 10"/>
          <p:cNvSpPr txBox="1"/>
          <p:nvPr/>
        </p:nvSpPr>
        <p:spPr>
          <a:xfrm>
            <a:off x="4407408" y="2514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1"/>
          <p:cNvSpPr txBox="1"/>
          <p:nvPr/>
        </p:nvSpPr>
        <p:spPr>
          <a:xfrm>
            <a:off x="5074920" y="2340864"/>
            <a:ext cx="6355080" cy="786384"/>
          </a:xfrm>
          <a:prstGeom prst="rect">
            <a:avLst/>
          </a:prstGeom>
          <a:noFill/>
          <a:ln/>
        </p:spPr>
        <p:txBody>
          <a:bodyPr wrap="square" lIns="0" tIns="0" rIns="0" bIns="0" rtlCol="0" anchor="ctr"/>
          <a:lstStyle/>
          <a:p>
            <a:pPr indent="0" marL="0">
              <a:buNone/>
            </a:pPr>
            <a:r>
              <a:rPr lang="en-US" sz="1600" dirty="0">
                <a:solidFill>
                  <a:schemeClr val="tx1"/>
                </a:solidFill>
              </a:rPr>
              <a:t>Distinguir os campos Para, Cc, Bcc e Assunto.</a:t>
            </a:r>
            <a:endParaRPr lang="en-US" sz="1600" dirty="0"/>
          </a:p>
        </p:txBody>
      </p:sp>
      <p:sp>
        <p:nvSpPr>
          <p:cNvPr id="15" name="Shape 12"/>
          <p:cNvSpPr/>
          <p:nvPr/>
        </p:nvSpPr>
        <p:spPr>
          <a:xfrm>
            <a:off x="4206240" y="3255264"/>
            <a:ext cx="7406640" cy="786384"/>
          </a:xfrm>
          <a:prstGeom prst="roundRect">
            <a:avLst>
              <a:gd name="adj" fmla="val 9302"/>
            </a:avLst>
          </a:prstGeom>
          <a:solidFill>
            <a:srgbClr val="F2F4F7"/>
          </a:solidFill>
          <a:ln w="12700">
            <a:solidFill>
              <a:srgbClr val="F2F4F7"/>
            </a:solidFill>
            <a:prstDash val="solid"/>
          </a:ln>
        </p:spPr>
      </p:sp>
      <p:sp>
        <p:nvSpPr>
          <p:cNvPr id="16" name="Shape 13"/>
          <p:cNvSpPr/>
          <p:nvPr/>
        </p:nvSpPr>
        <p:spPr>
          <a:xfrm>
            <a:off x="4407408" y="3429000"/>
            <a:ext cx="457200" cy="457200"/>
          </a:xfrm>
          <a:prstGeom prst="ellipse">
            <a:avLst/>
          </a:prstGeom>
          <a:solidFill>
            <a:schemeClr val="accent1"/>
          </a:solidFill>
          <a:ln w="12700">
            <a:solidFill>
              <a:srgbClr val="DA6D24"/>
            </a:solidFill>
            <a:prstDash val="solid"/>
          </a:ln>
        </p:spPr>
      </p:sp>
      <p:sp>
        <p:nvSpPr>
          <p:cNvPr id="17" name="Text 14"/>
          <p:cNvSpPr txBox="1"/>
          <p:nvPr/>
        </p:nvSpPr>
        <p:spPr>
          <a:xfrm>
            <a:off x="4407408" y="3429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5074920" y="3255264"/>
            <a:ext cx="6355080" cy="786384"/>
          </a:xfrm>
          <a:prstGeom prst="rect">
            <a:avLst/>
          </a:prstGeom>
          <a:noFill/>
          <a:ln/>
        </p:spPr>
        <p:txBody>
          <a:bodyPr wrap="square" lIns="0" tIns="0" rIns="0" bIns="0" rtlCol="0" anchor="ctr"/>
          <a:lstStyle/>
          <a:p>
            <a:pPr indent="0" marL="0">
              <a:buNone/>
            </a:pPr>
            <a:r>
              <a:rPr lang="en-US" sz="1600" dirty="0">
                <a:solidFill>
                  <a:schemeClr val="tx1"/>
                </a:solidFill>
              </a:rPr>
              <a:t>Escrever um assunto claro e uma mensagem organizada.</a:t>
            </a:r>
            <a:endParaRPr lang="en-US" sz="1600" dirty="0"/>
          </a:p>
        </p:txBody>
      </p:sp>
      <p:sp>
        <p:nvSpPr>
          <p:cNvPr id="19" name="Shape 16"/>
          <p:cNvSpPr/>
          <p:nvPr/>
        </p:nvSpPr>
        <p:spPr>
          <a:xfrm>
            <a:off x="4206240" y="4169664"/>
            <a:ext cx="7406640" cy="786384"/>
          </a:xfrm>
          <a:prstGeom prst="roundRect">
            <a:avLst>
              <a:gd name="adj" fmla="val 9302"/>
            </a:avLst>
          </a:prstGeom>
          <a:solidFill>
            <a:srgbClr val="F2F4F7"/>
          </a:solidFill>
          <a:ln w="12700">
            <a:solidFill>
              <a:srgbClr val="F2F4F7"/>
            </a:solidFill>
            <a:prstDash val="solid"/>
          </a:ln>
        </p:spPr>
      </p:sp>
      <p:sp>
        <p:nvSpPr>
          <p:cNvPr id="20" name="Shape 17"/>
          <p:cNvSpPr/>
          <p:nvPr/>
        </p:nvSpPr>
        <p:spPr>
          <a:xfrm>
            <a:off x="4407408" y="4343400"/>
            <a:ext cx="457200" cy="457200"/>
          </a:xfrm>
          <a:prstGeom prst="ellipse">
            <a:avLst/>
          </a:prstGeom>
          <a:solidFill>
            <a:schemeClr val="accent1"/>
          </a:solidFill>
          <a:ln w="12700">
            <a:solidFill>
              <a:srgbClr val="DA6D24"/>
            </a:solidFill>
            <a:prstDash val="solid"/>
          </a:ln>
        </p:spPr>
      </p:sp>
      <p:sp>
        <p:nvSpPr>
          <p:cNvPr id="21" name="Text 18"/>
          <p:cNvSpPr txBox="1"/>
          <p:nvPr/>
        </p:nvSpPr>
        <p:spPr>
          <a:xfrm>
            <a:off x="4407408" y="4343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19"/>
          <p:cNvSpPr txBox="1"/>
          <p:nvPr/>
        </p:nvSpPr>
        <p:spPr>
          <a:xfrm>
            <a:off x="5074920" y="4169664"/>
            <a:ext cx="6355080" cy="786384"/>
          </a:xfrm>
          <a:prstGeom prst="rect">
            <a:avLst/>
          </a:prstGeom>
          <a:noFill/>
          <a:ln/>
        </p:spPr>
        <p:txBody>
          <a:bodyPr wrap="square" lIns="0" tIns="0" rIns="0" bIns="0" rtlCol="0" anchor="ctr"/>
          <a:lstStyle/>
          <a:p>
            <a:pPr indent="0" marL="0">
              <a:buNone/>
            </a:pPr>
            <a:r>
              <a:rPr lang="en-US" sz="1600" dirty="0">
                <a:solidFill>
                  <a:schemeClr val="tx1"/>
                </a:solidFill>
              </a:rPr>
              <a:t>Usar o separador Formatar texto para negrito, listas e itálico.</a:t>
            </a:r>
            <a:endParaRPr lang="en-US" sz="1600" dirty="0"/>
          </a:p>
        </p:txBody>
      </p:sp>
      <p:sp>
        <p:nvSpPr>
          <p:cNvPr id="23" name="Shape 20"/>
          <p:cNvSpPr/>
          <p:nvPr/>
        </p:nvSpPr>
        <p:spPr>
          <a:xfrm>
            <a:off x="4206240" y="5084064"/>
            <a:ext cx="7406640" cy="786384"/>
          </a:xfrm>
          <a:prstGeom prst="roundRect">
            <a:avLst>
              <a:gd name="adj" fmla="val 9302"/>
            </a:avLst>
          </a:prstGeom>
          <a:solidFill>
            <a:srgbClr val="F2F4F7"/>
          </a:solidFill>
          <a:ln w="12700">
            <a:solidFill>
              <a:srgbClr val="F2F4F7"/>
            </a:solidFill>
            <a:prstDash val="solid"/>
          </a:ln>
        </p:spPr>
      </p:sp>
      <p:sp>
        <p:nvSpPr>
          <p:cNvPr id="24" name="Shape 21"/>
          <p:cNvSpPr/>
          <p:nvPr/>
        </p:nvSpPr>
        <p:spPr>
          <a:xfrm>
            <a:off x="4407408" y="5257800"/>
            <a:ext cx="457200" cy="457200"/>
          </a:xfrm>
          <a:prstGeom prst="ellipse">
            <a:avLst/>
          </a:prstGeom>
          <a:solidFill>
            <a:schemeClr val="accent1"/>
          </a:solidFill>
          <a:ln w="12700">
            <a:solidFill>
              <a:srgbClr val="DA6D24"/>
            </a:solidFill>
            <a:prstDash val="solid"/>
          </a:ln>
        </p:spPr>
      </p:sp>
      <p:sp>
        <p:nvSpPr>
          <p:cNvPr id="25" name="Text 22"/>
          <p:cNvSpPr txBox="1"/>
          <p:nvPr/>
        </p:nvSpPr>
        <p:spPr>
          <a:xfrm>
            <a:off x="4407408" y="5257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3"/>
          <p:cNvSpPr txBox="1"/>
          <p:nvPr/>
        </p:nvSpPr>
        <p:spPr>
          <a:xfrm>
            <a:off x="5074920" y="5084064"/>
            <a:ext cx="6355080" cy="786384"/>
          </a:xfrm>
          <a:prstGeom prst="rect">
            <a:avLst/>
          </a:prstGeom>
          <a:noFill/>
          <a:ln/>
        </p:spPr>
        <p:txBody>
          <a:bodyPr wrap="square" lIns="0" tIns="0" rIns="0" bIns="0" rtlCol="0" anchor="ctr"/>
          <a:lstStyle/>
          <a:p>
            <a:pPr indent="0" marL="0">
              <a:buNone/>
            </a:pPr>
            <a:r>
              <a:rPr lang="en-US" sz="1600" dirty="0">
                <a:solidFill>
                  <a:schemeClr val="tx1"/>
                </a:solidFill>
              </a:rPr>
              <a:t>Rever a mensagem antes de a enviar.</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5644732"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MÓDULO 1 · PRIMEIROS PASSOS NO OUTLOOK</a:t>
            </a:r>
            <a:endParaRPr lang="en-US" sz="1200" dirty="0"/>
          </a:p>
        </p:txBody>
      </p:sp>
      <p:sp>
        <p:nvSpPr>
          <p:cNvPr id="3" name="Text 1"/>
          <p:cNvSpPr txBox="1"/>
          <p:nvPr/>
        </p:nvSpPr>
        <p:spPr>
          <a:xfrm>
            <a:off x="548640" y="1143000"/>
            <a:ext cx="5644732" cy="82296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O que vamos aprender</a:t>
            </a:r>
            <a:endParaRPr lang="en-US" sz="3400" dirty="0"/>
          </a:p>
        </p:txBody>
      </p:sp>
      <p:sp>
        <p:nvSpPr>
          <p:cNvPr id="4" name="Text 2"/>
          <p:cNvSpPr txBox="1"/>
          <p:nvPr/>
        </p:nvSpPr>
        <p:spPr>
          <a:xfrm>
            <a:off x="548640" y="2148840"/>
            <a:ext cx="548640" cy="566928"/>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01</a:t>
            </a:r>
            <a:endParaRPr lang="en-US" sz="1800" dirty="0"/>
          </a:p>
        </p:txBody>
      </p:sp>
      <p:sp>
        <p:nvSpPr>
          <p:cNvPr id="5" name="Text 3"/>
          <p:cNvSpPr txBox="1"/>
          <p:nvPr/>
        </p:nvSpPr>
        <p:spPr>
          <a:xfrm>
            <a:off x="1188720" y="2148840"/>
            <a:ext cx="5004652" cy="566928"/>
          </a:xfrm>
          <a:prstGeom prst="rect">
            <a:avLst/>
          </a:prstGeom>
          <a:noFill/>
          <a:ln/>
        </p:spPr>
        <p:txBody>
          <a:bodyPr wrap="square" lIns="0" tIns="0" rIns="0" bIns="0" rtlCol="0" anchor="ctr"/>
          <a:lstStyle/>
          <a:p>
            <a:pPr indent="0" marL="0">
              <a:buNone/>
            </a:pPr>
            <a:r>
              <a:rPr lang="en-US" sz="1800" dirty="0">
                <a:solidFill>
                  <a:schemeClr val="tx1"/>
                </a:solidFill>
              </a:rPr>
              <a:t>O que é o Outlook?</a:t>
            </a:r>
            <a:endParaRPr lang="en-US" sz="1800" dirty="0"/>
          </a:p>
        </p:txBody>
      </p:sp>
      <p:sp>
        <p:nvSpPr>
          <p:cNvPr id="6" name="Text 4"/>
          <p:cNvSpPr txBox="1"/>
          <p:nvPr/>
        </p:nvSpPr>
        <p:spPr>
          <a:xfrm>
            <a:off x="548640" y="2715768"/>
            <a:ext cx="548640" cy="566928"/>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02</a:t>
            </a:r>
            <a:endParaRPr lang="en-US" sz="1800" dirty="0"/>
          </a:p>
        </p:txBody>
      </p:sp>
      <p:sp>
        <p:nvSpPr>
          <p:cNvPr id="7" name="Text 5"/>
          <p:cNvSpPr txBox="1"/>
          <p:nvPr/>
        </p:nvSpPr>
        <p:spPr>
          <a:xfrm>
            <a:off x="1188720" y="2715768"/>
            <a:ext cx="5004652" cy="566928"/>
          </a:xfrm>
          <a:prstGeom prst="rect">
            <a:avLst/>
          </a:prstGeom>
          <a:noFill/>
          <a:ln/>
        </p:spPr>
        <p:txBody>
          <a:bodyPr wrap="square" lIns="0" tIns="0" rIns="0" bIns="0" rtlCol="0" anchor="ctr"/>
          <a:lstStyle/>
          <a:p>
            <a:pPr indent="0" marL="0">
              <a:buNone/>
            </a:pPr>
            <a:r>
              <a:rPr lang="en-US" sz="1800" dirty="0">
                <a:solidFill>
                  <a:schemeClr val="tx1"/>
                </a:solidFill>
              </a:rPr>
              <a:t>A janela de nova mensagem</a:t>
            </a:r>
            <a:endParaRPr lang="en-US" sz="1800" dirty="0"/>
          </a:p>
        </p:txBody>
      </p:sp>
      <p:sp>
        <p:nvSpPr>
          <p:cNvPr id="8" name="Text 6"/>
          <p:cNvSpPr txBox="1"/>
          <p:nvPr/>
        </p:nvSpPr>
        <p:spPr>
          <a:xfrm>
            <a:off x="548640" y="3282696"/>
            <a:ext cx="548640" cy="566928"/>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03</a:t>
            </a:r>
            <a:endParaRPr lang="en-US" sz="1800" dirty="0"/>
          </a:p>
        </p:txBody>
      </p:sp>
      <p:sp>
        <p:nvSpPr>
          <p:cNvPr id="9" name="Text 7"/>
          <p:cNvSpPr txBox="1"/>
          <p:nvPr/>
        </p:nvSpPr>
        <p:spPr>
          <a:xfrm>
            <a:off x="1188720" y="3282696"/>
            <a:ext cx="5004652" cy="566928"/>
          </a:xfrm>
          <a:prstGeom prst="rect">
            <a:avLst/>
          </a:prstGeom>
          <a:noFill/>
          <a:ln/>
        </p:spPr>
        <p:txBody>
          <a:bodyPr wrap="square" lIns="0" tIns="0" rIns="0" bIns="0" rtlCol="0" anchor="ctr"/>
          <a:lstStyle/>
          <a:p>
            <a:pPr indent="0" marL="0">
              <a:buNone/>
            </a:pPr>
            <a:r>
              <a:rPr lang="en-US" sz="1800" dirty="0">
                <a:solidFill>
                  <a:schemeClr val="tx1"/>
                </a:solidFill>
              </a:rPr>
              <a:t>Escrever um assunto claro</a:t>
            </a:r>
            <a:endParaRPr lang="en-US" sz="1800" dirty="0"/>
          </a:p>
        </p:txBody>
      </p:sp>
      <p:sp>
        <p:nvSpPr>
          <p:cNvPr id="10" name="Text 8"/>
          <p:cNvSpPr txBox="1"/>
          <p:nvPr/>
        </p:nvSpPr>
        <p:spPr>
          <a:xfrm>
            <a:off x="548640" y="3849624"/>
            <a:ext cx="548640" cy="566928"/>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04</a:t>
            </a:r>
            <a:endParaRPr lang="en-US" sz="1800" dirty="0"/>
          </a:p>
        </p:txBody>
      </p:sp>
      <p:sp>
        <p:nvSpPr>
          <p:cNvPr id="11" name="Text 9"/>
          <p:cNvSpPr txBox="1"/>
          <p:nvPr/>
        </p:nvSpPr>
        <p:spPr>
          <a:xfrm>
            <a:off x="1188720" y="3849624"/>
            <a:ext cx="5004652" cy="566928"/>
          </a:xfrm>
          <a:prstGeom prst="rect">
            <a:avLst/>
          </a:prstGeom>
          <a:noFill/>
          <a:ln/>
        </p:spPr>
        <p:txBody>
          <a:bodyPr wrap="square" lIns="0" tIns="0" rIns="0" bIns="0" rtlCol="0" anchor="ctr"/>
          <a:lstStyle/>
          <a:p>
            <a:pPr indent="0" marL="0">
              <a:buNone/>
            </a:pPr>
            <a:r>
              <a:rPr lang="en-US" sz="1800" dirty="0">
                <a:solidFill>
                  <a:schemeClr val="tx1"/>
                </a:solidFill>
              </a:rPr>
              <a:t>Organizar a mensagem</a:t>
            </a:r>
            <a:endParaRPr lang="en-US" sz="1800" dirty="0"/>
          </a:p>
        </p:txBody>
      </p:sp>
      <p:sp>
        <p:nvSpPr>
          <p:cNvPr id="12" name="Text 10"/>
          <p:cNvSpPr txBox="1"/>
          <p:nvPr/>
        </p:nvSpPr>
        <p:spPr>
          <a:xfrm>
            <a:off x="548640" y="4416552"/>
            <a:ext cx="548640" cy="566928"/>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05</a:t>
            </a:r>
            <a:endParaRPr lang="en-US" sz="1800" dirty="0"/>
          </a:p>
        </p:txBody>
      </p:sp>
      <p:sp>
        <p:nvSpPr>
          <p:cNvPr id="13" name="Text 11"/>
          <p:cNvSpPr txBox="1"/>
          <p:nvPr/>
        </p:nvSpPr>
        <p:spPr>
          <a:xfrm>
            <a:off x="1188720" y="4416552"/>
            <a:ext cx="5004652" cy="566928"/>
          </a:xfrm>
          <a:prstGeom prst="rect">
            <a:avLst/>
          </a:prstGeom>
          <a:noFill/>
          <a:ln/>
        </p:spPr>
        <p:txBody>
          <a:bodyPr wrap="square" lIns="0" tIns="0" rIns="0" bIns="0" rtlCol="0" anchor="ctr"/>
          <a:lstStyle/>
          <a:p>
            <a:pPr indent="0" marL="0">
              <a:buNone/>
            </a:pPr>
            <a:r>
              <a:rPr lang="en-US" sz="1800" dirty="0">
                <a:solidFill>
                  <a:schemeClr val="tx1"/>
                </a:solidFill>
              </a:rPr>
              <a:t>Formatar o texto</a:t>
            </a:r>
            <a:endParaRPr lang="en-US" sz="1800" dirty="0"/>
          </a:p>
        </p:txBody>
      </p:sp>
      <p:sp>
        <p:nvSpPr>
          <p:cNvPr id="14" name="Text 12"/>
          <p:cNvSpPr txBox="1"/>
          <p:nvPr/>
        </p:nvSpPr>
        <p:spPr>
          <a:xfrm>
            <a:off x="548640" y="4983480"/>
            <a:ext cx="548640" cy="566928"/>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06</a:t>
            </a:r>
            <a:endParaRPr lang="en-US" sz="1800" dirty="0"/>
          </a:p>
        </p:txBody>
      </p:sp>
      <p:sp>
        <p:nvSpPr>
          <p:cNvPr id="15" name="Text 13"/>
          <p:cNvSpPr txBox="1"/>
          <p:nvPr/>
        </p:nvSpPr>
        <p:spPr>
          <a:xfrm>
            <a:off x="1188720" y="4983480"/>
            <a:ext cx="5004652" cy="566928"/>
          </a:xfrm>
          <a:prstGeom prst="rect">
            <a:avLst/>
          </a:prstGeom>
          <a:noFill/>
          <a:ln/>
        </p:spPr>
        <p:txBody>
          <a:bodyPr wrap="square" lIns="0" tIns="0" rIns="0" bIns="0" rtlCol="0" anchor="ctr"/>
          <a:lstStyle/>
          <a:p>
            <a:pPr indent="0" marL="0">
              <a:buNone/>
            </a:pPr>
            <a:r>
              <a:rPr lang="en-US" sz="1800" dirty="0">
                <a:solidFill>
                  <a:schemeClr val="tx1"/>
                </a:solidFill>
              </a:rPr>
              <a:t>Rever antes de enviar</a:t>
            </a:r>
            <a:endParaRPr lang="en-US" sz="18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1.1 O que é o Outlook?</a:t>
            </a:r>
            <a:endParaRPr lang="en-US" sz="3000" dirty="0"/>
          </a:p>
        </p:txBody>
      </p:sp>
      <p:pic>
        <p:nvPicPr>
          <p:cNvPr id="3" name="Image 0" descr="Ícone de identificação do Microsoft Outlook, réplica visual fornecida para este curso.">    </p:cNvPr>
          <p:cNvPicPr>
            <a:picLocks noChangeAspect="1"/>
          </p:cNvPicPr>
          <p:nvPr/>
        </p:nvPicPr>
        <p:blipFill>
          <a:blip r:embed="rId1"/>
          <a:stretch>
            <a:fillRect/>
          </a:stretch>
        </p:blipFill>
        <p:spPr>
          <a:xfrm>
            <a:off x="10378440" y="429768"/>
            <a:ext cx="566928" cy="566928"/>
          </a:xfrm>
          <a:prstGeom prst="rect">
            <a:avLst/>
          </a:prstGeom>
        </p:spPr>
      </p:pic>
      <p:sp>
        <p:nvSpPr>
          <p:cNvPr id="4" name="Text 1"/>
          <p:cNvSpPr txBox="1"/>
          <p:nvPr/>
        </p:nvSpPr>
        <p:spPr>
          <a:xfrm>
            <a:off x="548640" y="1325880"/>
            <a:ext cx="11064240" cy="589280"/>
          </a:xfrm>
          <a:prstGeom prst="rect">
            <a:avLst/>
          </a:prstGeom>
          <a:noFill/>
          <a:ln/>
        </p:spPr>
        <p:txBody>
          <a:bodyPr wrap="square" lIns="0" tIns="0" rIns="0" bIns="0" rtlCol="0" anchor="t"/>
          <a:lstStyle/>
          <a:p>
            <a:pPr indent="0" marL="0">
              <a:buNone/>
            </a:pPr>
            <a:r>
              <a:rPr lang="en-US" sz="1600" dirty="0">
                <a:solidFill>
                  <a:schemeClr val="tx1"/>
                </a:solidFill>
              </a:rPr>
              <a:t>O </a:t>
            </a:r>
            <a:pPr indent="0" marL="0">
              <a:buNone/>
            </a:pPr>
            <a:r>
              <a:rPr lang="en-US" sz="1600" b="1" dirty="0">
                <a:solidFill>
                  <a:schemeClr val="tx1"/>
                </a:solidFill>
              </a:rPr>
              <a:t>Microsoft Outlook</a:t>
            </a:r>
            <a:pPr indent="0" marL="0">
              <a:buNone/>
            </a:pPr>
            <a:r>
              <a:rPr lang="en-US" sz="1600" dirty="0">
                <a:solidFill>
                  <a:schemeClr val="tx1"/>
                </a:solidFill>
              </a:rPr>
              <a:t> é uma aplicação de correio eletrónico. Permite enviar e receber mensagens, guardar contactos e organizar compromissos num calendário.</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116328"/>
          <a:ext cx="11064240" cy="914400"/>
        </p:xfrm>
        <a:graphic>
          <a:graphicData uri="http://schemas.openxmlformats.org/drawingml/2006/table">
            <a:tbl>
              <a:tblPr/>
              <a:tblGrid>
                <a:gridCol w="2434133"/>
                <a:gridCol w="5089550"/>
                <a:gridCol w="3540557"/>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Termo</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B2137"/>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Significado</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B2137"/>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Exemplo</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B2137"/>
                    </a:solidFill>
                  </a:tcPr>
                </a:tc>
              </a:tr>
              <a:tr h="0">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Mensagem</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Texto enviado a uma ou mais pessoas.</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Convite para uma formação</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Assunto</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2F4F7"/>
                    </a:solidFill>
                  </a:tcPr>
                </a:tc>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Resumo curto do conteúdo da mensagem.</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2F4F7"/>
                    </a:solidFill>
                  </a:tcPr>
                </a:tc>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ATC — Formação Outlook</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2F4F7"/>
                    </a:solidFill>
                  </a:tcPr>
                </a:tc>
              </a:tr>
              <a:tr h="0">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Destinatário</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Pessoa que recebe a mensagem.</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Campo Para</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Rascunho</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2F4F7"/>
                    </a:solidFill>
                  </a:tcPr>
                </a:tc>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Mensagem escrita que ainda não foi enviada.</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2F4F7"/>
                    </a:solidFill>
                  </a:tcPr>
                </a:tc>
                <a:tc>
                  <a:txBody>
                    <a:bodyPr/>
                    <a:lstStyle/>
                    <a:p>
                      <a:pPr indent="0" marL="0">
                        <a:buNone/>
                      </a:pPr>
                      <a:r>
                        <a:rPr lang="en-US" sz="1400" dirty="0">
                          <a:solidFill>
                            <a:srgbClr val="1D2733"/>
                          </a:solidFill>
                          <a:latin typeface="Calibri" pitchFamily="34" charset="0"/>
                          <a:ea typeface="Calibri" pitchFamily="34" charset="-122"/>
                          <a:cs typeface="Calibri" pitchFamily="34" charset="-120"/>
                        </a:rPr>
                        <a:t>Mensagem de exemplo</a:t>
                      </a:r>
                      <a:endParaRPr lang="en-US" sz="14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2F4F7"/>
                    </a:solidFill>
                  </a:tcPr>
                </a:tc>
              </a:tr>
            </a:tbl>
          </a:graphicData>
        </a:graphic>
      </p:graphicFrame>
      <p:sp>
        <p:nvSpPr>
          <p:cNvPr id="6" name="Cartão de dica"/>
          <p:cNvSpPr/>
          <p:nvPr/>
        </p:nvSpPr>
        <p:spPr>
          <a:xfrm>
            <a:off x="548640" y="5158740"/>
            <a:ext cx="11064240" cy="1013460"/>
          </a:xfrm>
          <a:prstGeom prst="roundRect">
            <a:avLst>
              <a:gd name="adj" fmla="val 10827"/>
            </a:avLst>
          </a:prstGeom>
          <a:solidFill>
            <a:srgbClr val="F2F4F7"/>
          </a:solidFill>
          <a:ln w="12700">
            <a:solidFill>
              <a:srgbClr val="F2F4F7"/>
            </a:solidFill>
            <a:prstDash val="solid"/>
          </a:ln>
        </p:spPr>
      </p:sp>
      <p:pic>
        <p:nvPicPr>
          <p:cNvPr id="7" name="Image 1" descr="Helena, guia virtual ATC">    </p:cNvPr>
          <p:cNvPicPr>
            <a:picLocks noChangeAspect="1"/>
          </p:cNvPicPr>
          <p:nvPr/>
        </p:nvPicPr>
        <p:blipFill>
          <a:blip r:embed="rId2"/>
          <a:stretch>
            <a:fillRect/>
          </a:stretch>
        </p:blipFill>
        <p:spPr>
          <a:xfrm>
            <a:off x="731520" y="5295900"/>
            <a:ext cx="739140" cy="739140"/>
          </a:xfrm>
          <a:prstGeom prst="rect">
            <a:avLst/>
          </a:prstGeom>
        </p:spPr>
      </p:pic>
      <p:sp>
        <p:nvSpPr>
          <p:cNvPr id="8" name="Text 3"/>
          <p:cNvSpPr txBox="1"/>
          <p:nvPr/>
        </p:nvSpPr>
        <p:spPr>
          <a:xfrm>
            <a:off x="1635252" y="5231892"/>
            <a:ext cx="9822180" cy="867156"/>
          </a:xfrm>
          <a:prstGeom prst="rect">
            <a:avLst/>
          </a:prstGeom>
          <a:noFill/>
          <a:ln/>
        </p:spPr>
        <p:txBody>
          <a:bodyPr wrap="square" lIns="0" tIns="0" rIns="0" bIns="0" rtlCol="0" anchor="ctr"/>
          <a:lstStyle/>
          <a:p>
            <a:pPr indent="0" marL="0">
              <a:spcAft>
                <a:spcPts val="200"/>
              </a:spcAft>
              <a:buNone/>
            </a:pPr>
            <a:r>
              <a:rPr lang="en-US" sz="1400" b="1" dirty="0">
                <a:solidFill>
                  <a:schemeClr val="accent1"/>
                </a:solidFill>
              </a:rPr>
              <a:t>Dica da Helena</a:t>
            </a:r>
            <a:endParaRPr lang="en-US" sz="1400" dirty="0"/>
          </a:p>
          <a:p>
            <a:pPr indent="0" marL="0">
              <a:spcAft>
                <a:spcPts val="200"/>
              </a:spcAft>
              <a:buNone/>
            </a:pPr>
            <a:r>
              <a:rPr lang="en-US" sz="1400" dirty="0">
                <a:solidFill>
                  <a:schemeClr val="tx1"/>
                </a:solidFill>
              </a:rPr>
              <a:t>Os nomes dos separadores e dos botões podem variar ligeiramente conforme a versão do programa e o idioma instalado. Neste manual usamos os termos da interface em português europeu, na versão para a Web.</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1.2 A janela de nova mensagem</a:t>
            </a:r>
            <a:endParaRPr lang="en-US" sz="3000" dirty="0"/>
          </a:p>
        </p:txBody>
      </p:sp>
      <p:sp>
        <p:nvSpPr>
          <p:cNvPr id="3" name="Shape 1"/>
          <p:cNvSpPr/>
          <p:nvPr/>
        </p:nvSpPr>
        <p:spPr>
          <a:xfrm>
            <a:off x="484632" y="1579054"/>
            <a:ext cx="6803136" cy="3882771"/>
          </a:xfrm>
          <a:prstGeom prst="roundRect">
            <a:avLst>
              <a:gd name="adj" fmla="val 1413"/>
            </a:avLst>
          </a:prstGeom>
          <a:solidFill>
            <a:srgbClr val="FFFFFF"/>
          </a:solidFill>
          <a:ln w="9525">
            <a:solidFill>
              <a:srgbClr val="DCE3E9"/>
            </a:solidFill>
            <a:prstDash val="solid"/>
          </a:ln>
          <a:effectLst>
            <a:outerShdw sx="100000" sy="100000" kx="0" ky="0" algn="bl" rotWithShape="0" blurRad="127000" dist="38100" dir="5400000">
              <a:srgbClr val="0B2137">
                <a:alpha val="18000"/>
              </a:srgbClr>
            </a:outerShdw>
          </a:effectLst>
        </p:spPr>
      </p:sp>
      <p:pic>
        <p:nvPicPr>
          <p:cNvPr id="4" name="Image 0" descr="Captura própria de um exemplo fictício ATC no Outlook para a Web: nova mensagem com os campos Para e Cc, o aviso «Adicione um assunto» e o botão Enviar.">    </p:cNvPr>
          <p:cNvPicPr>
            <a:picLocks noChangeAspect="1"/>
          </p:cNvPicPr>
          <p:nvPr/>
        </p:nvPicPr>
        <p:blipFill>
          <a:blip r:embed="rId1"/>
          <a:stretch>
            <a:fillRect/>
          </a:stretch>
        </p:blipFill>
        <p:spPr>
          <a:xfrm>
            <a:off x="548640" y="1643062"/>
            <a:ext cx="6675120" cy="3754755"/>
          </a:xfrm>
          <a:prstGeom prst="rect">
            <a:avLst/>
          </a:prstGeom>
        </p:spPr>
      </p:pic>
      <p:sp>
        <p:nvSpPr>
          <p:cNvPr id="5" name="Text 2"/>
          <p:cNvSpPr txBox="1"/>
          <p:nvPr/>
        </p:nvSpPr>
        <p:spPr>
          <a:xfrm>
            <a:off x="548640" y="5806440"/>
            <a:ext cx="6675120" cy="384048"/>
          </a:xfrm>
          <a:prstGeom prst="rect">
            <a:avLst/>
          </a:prstGeom>
          <a:noFill/>
          <a:ln/>
        </p:spPr>
        <p:txBody>
          <a:bodyPr wrap="square" lIns="0" tIns="0" rIns="0" bIns="0" rtlCol="0" anchor="t"/>
          <a:lstStyle/>
          <a:p>
            <a:pPr indent="0" marL="0">
              <a:buNone/>
            </a:pPr>
            <a:r>
              <a:rPr lang="en-US" sz="1000" i="1" dirty="0">
                <a:solidFill>
                  <a:schemeClr val="accent4"/>
                </a:solidFill>
              </a:rPr>
              <a:t>Captura própria de um exemplo fictício ATC no Outlook para a Web: nova mensagem com os campos Para e Cc, o aviso «Adicione um assunto» e o botão…</a:t>
            </a:r>
            <a:endParaRPr lang="en-US" sz="1000" dirty="0"/>
          </a:p>
        </p:txBody>
      </p:sp>
      <p:sp>
        <p:nvSpPr>
          <p:cNvPr id="6" name="Text 3"/>
          <p:cNvSpPr txBox="1"/>
          <p:nvPr/>
        </p:nvSpPr>
        <p:spPr>
          <a:xfrm>
            <a:off x="7589520" y="1325880"/>
            <a:ext cx="4069080" cy="829056"/>
          </a:xfrm>
          <a:prstGeom prst="rect">
            <a:avLst/>
          </a:prstGeom>
          <a:noFill/>
          <a:ln/>
        </p:spPr>
        <p:txBody>
          <a:bodyPr wrap="square" lIns="0" tIns="0" rIns="0" bIns="0" rtlCol="0" anchor="t"/>
          <a:lstStyle/>
          <a:p>
            <a:pPr indent="0" marL="0">
              <a:buNone/>
            </a:pPr>
            <a:r>
              <a:rPr lang="en-US" sz="1600" dirty="0">
                <a:solidFill>
                  <a:schemeClr val="tx1"/>
                </a:solidFill>
              </a:rPr>
              <a:t>Quando escreve uma mensagem nova, o Outlook mostra os campos de endereço, o assunto e a área de texto.</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589520" y="2337816"/>
          <a:ext cx="4069080" cy="914400"/>
        </p:xfrm>
        <a:graphic>
          <a:graphicData uri="http://schemas.openxmlformats.org/drawingml/2006/table">
            <a:tbl>
              <a:tblPr/>
              <a:tblGrid>
                <a:gridCol w="1383487"/>
                <a:gridCol w="2685593"/>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Campo</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B213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Para que serve</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0B2137"/>
                    </a:solidFill>
                  </a:tcPr>
                </a:tc>
              </a:tr>
              <a:tr h="0">
                <a:tc>
                  <a:txBody>
                    <a:bodyPr/>
                    <a:lstStyle/>
                    <a:p>
                      <a:pPr indent="0" marL="0">
                        <a:buNone/>
                      </a:pPr>
                      <a:r>
                        <a:rPr lang="en-US" sz="1200" dirty="0">
                          <a:solidFill>
                            <a:srgbClr val="1D2733"/>
                          </a:solidFill>
                          <a:latin typeface="Calibri" pitchFamily="34" charset="0"/>
                          <a:ea typeface="Calibri" pitchFamily="34" charset="-122"/>
                          <a:cs typeface="Calibri" pitchFamily="34" charset="-120"/>
                        </a:rPr>
                        <a:t>Para</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200" dirty="0">
                          <a:solidFill>
                            <a:srgbClr val="1D2733"/>
                          </a:solidFill>
                          <a:latin typeface="Calibri" pitchFamily="34" charset="0"/>
                          <a:ea typeface="Calibri" pitchFamily="34" charset="-122"/>
                          <a:cs typeface="Calibri" pitchFamily="34" charset="-120"/>
                        </a:rPr>
                        <a:t>Endereços das pessoas a quem a mensagem é dirigida.</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D2733"/>
                          </a:solidFill>
                          <a:latin typeface="Calibri" pitchFamily="34" charset="0"/>
                          <a:ea typeface="Calibri" pitchFamily="34" charset="-122"/>
                          <a:cs typeface="Calibri" pitchFamily="34" charset="-120"/>
                        </a:rPr>
                        <a:t>Cc</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2F4F7"/>
                    </a:solidFill>
                  </a:tcPr>
                </a:tc>
                <a:tc>
                  <a:txBody>
                    <a:bodyPr/>
                    <a:lstStyle/>
                    <a:p>
                      <a:pPr indent="0" marL="0">
                        <a:buNone/>
                      </a:pPr>
                      <a:r>
                        <a:rPr lang="en-US" sz="1200" dirty="0">
                          <a:solidFill>
                            <a:srgbClr val="1D2733"/>
                          </a:solidFill>
                          <a:latin typeface="Calibri" pitchFamily="34" charset="0"/>
                          <a:ea typeface="Calibri" pitchFamily="34" charset="-122"/>
                          <a:cs typeface="Calibri" pitchFamily="34" charset="-120"/>
                        </a:rPr>
                        <a:t>Pessoas que recebem uma cópia da mensagem.</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2F4F7"/>
                    </a:solidFill>
                  </a:tcPr>
                </a:tc>
              </a:tr>
              <a:tr h="0">
                <a:tc>
                  <a:txBody>
                    <a:bodyPr/>
                    <a:lstStyle/>
                    <a:p>
                      <a:pPr indent="0" marL="0">
                        <a:buNone/>
                      </a:pPr>
                      <a:r>
                        <a:rPr lang="en-US" sz="1200" dirty="0">
                          <a:solidFill>
                            <a:srgbClr val="1D2733"/>
                          </a:solidFill>
                          <a:latin typeface="Calibri" pitchFamily="34" charset="0"/>
                          <a:ea typeface="Calibri" pitchFamily="34" charset="-122"/>
                          <a:cs typeface="Calibri" pitchFamily="34" charset="-120"/>
                        </a:rPr>
                        <a:t>Bcc</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200" dirty="0">
                          <a:solidFill>
                            <a:srgbClr val="1D2733"/>
                          </a:solidFill>
                          <a:latin typeface="Calibri" pitchFamily="34" charset="0"/>
                          <a:ea typeface="Calibri" pitchFamily="34" charset="-122"/>
                          <a:cs typeface="Calibri" pitchFamily="34" charset="-120"/>
                        </a:rPr>
                        <a:t>Pessoas que recebem a mensagem sem que os outros destinatários vejam o seu endereço.</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D2733"/>
                          </a:solidFill>
                          <a:latin typeface="Calibri" pitchFamily="34" charset="0"/>
                          <a:ea typeface="Calibri" pitchFamily="34" charset="-122"/>
                          <a:cs typeface="Calibri" pitchFamily="34" charset="-120"/>
                        </a:rPr>
                        <a:t>Assunto</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2F4F7"/>
                    </a:solidFill>
                  </a:tcPr>
                </a:tc>
                <a:tc>
                  <a:txBody>
                    <a:bodyPr/>
                    <a:lstStyle/>
                    <a:p>
                      <a:pPr indent="0" marL="0">
                        <a:buNone/>
                      </a:pPr>
                      <a:r>
                        <a:rPr lang="en-US" sz="1200" dirty="0">
                          <a:solidFill>
                            <a:srgbClr val="1D2733"/>
                          </a:solidFill>
                          <a:latin typeface="Calibri" pitchFamily="34" charset="0"/>
                          <a:ea typeface="Calibri" pitchFamily="34" charset="-122"/>
                          <a:cs typeface="Calibri" pitchFamily="34" charset="-120"/>
                        </a:rPr>
                        <a:t>Resumo curto que o destinatário vê antes de abrir a mensagem.</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2F4F7"/>
                    </a:solidFill>
                  </a:tcPr>
                </a:tc>
              </a:tr>
              <a:tr h="0">
                <a:tc>
                  <a:txBody>
                    <a:bodyPr/>
                    <a:lstStyle/>
                    <a:p>
                      <a:pPr indent="0" marL="0">
                        <a:buNone/>
                      </a:pPr>
                      <a:r>
                        <a:rPr lang="en-US" sz="1200" dirty="0">
                          <a:solidFill>
                            <a:srgbClr val="1D2733"/>
                          </a:solidFill>
                          <a:latin typeface="Calibri" pitchFamily="34" charset="0"/>
                          <a:ea typeface="Calibri" pitchFamily="34" charset="-122"/>
                          <a:cs typeface="Calibri" pitchFamily="34" charset="-120"/>
                        </a:rPr>
                        <a:t>Enviar</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c>
                  <a:txBody>
                    <a:bodyPr/>
                    <a:lstStyle/>
                    <a:p>
                      <a:pPr indent="0" marL="0">
                        <a:buNone/>
                      </a:pPr>
                      <a:r>
                        <a:rPr lang="en-US" sz="1200" dirty="0">
                          <a:solidFill>
                            <a:srgbClr val="1D2733"/>
                          </a:solidFill>
                          <a:latin typeface="Calibri" pitchFamily="34" charset="0"/>
                          <a:ea typeface="Calibri" pitchFamily="34" charset="-122"/>
                          <a:cs typeface="Calibri" pitchFamily="34" charset="-120"/>
                        </a:rPr>
                        <a:t>Envia a mensagem. Fica inativo enquanto não houver um destinatário.</a:t>
                      </a:r>
                      <a:endParaRPr lang="en-US" sz="1200" dirty="0">
                        <a:latin typeface="Calibri" charset="0"/>
                        <a:ea typeface="Calibri" charset="0"/>
                        <a:cs typeface="Calibri" charset="0"/>
                      </a:endParaRPr>
                    </a:p>
                  </a:txBody>
                  <a:tcPr marL="101600" marR="101600" marT="63500" marB="6350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019660" y="822960"/>
            <a:ext cx="5623395"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TEMA 3</a:t>
            </a:r>
            <a:endParaRPr lang="en-US" sz="1200" dirty="0"/>
          </a:p>
        </p:txBody>
      </p:sp>
      <p:sp>
        <p:nvSpPr>
          <p:cNvPr id="3" name="Text 1"/>
          <p:cNvSpPr txBox="1"/>
          <p:nvPr/>
        </p:nvSpPr>
        <p:spPr>
          <a:xfrm>
            <a:off x="6019660" y="1143000"/>
            <a:ext cx="5623395" cy="82296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Escrever um assunto claro</a:t>
            </a:r>
            <a:endParaRPr lang="en-US" sz="3000" dirty="0"/>
          </a:p>
        </p:txBody>
      </p:sp>
      <p:sp>
        <p:nvSpPr>
          <p:cNvPr id="4" name="Text 2"/>
          <p:cNvSpPr txBox="1"/>
          <p:nvPr/>
        </p:nvSpPr>
        <p:spPr>
          <a:xfrm>
            <a:off x="6019660" y="2103120"/>
            <a:ext cx="5623395" cy="784098"/>
          </a:xfrm>
          <a:prstGeom prst="rect">
            <a:avLst/>
          </a:prstGeom>
          <a:noFill/>
          <a:ln/>
        </p:spPr>
        <p:txBody>
          <a:bodyPr wrap="square" lIns="0" tIns="0" rIns="0" bIns="0" rtlCol="0" anchor="t"/>
          <a:lstStyle/>
          <a:p>
            <a:pPr indent="0" marL="0">
              <a:buNone/>
            </a:pPr>
            <a:r>
              <a:rPr lang="en-US" sz="1500" dirty="0">
                <a:solidFill>
                  <a:schemeClr val="tx1"/>
                </a:solidFill>
              </a:rPr>
              <a:t>Um bom assunto diz de que trata a mensagem. Evite assuntos vazios, demasiado longos ou com muitas letras maiúsculas.</a:t>
            </a:r>
            <a:endParaRPr lang="en-US" sz="1500" dirty="0"/>
          </a:p>
        </p:txBody>
      </p:sp>
      <p:sp>
        <p:nvSpPr>
          <p:cNvPr id="5" name="Shape 3"/>
          <p:cNvSpPr/>
          <p:nvPr/>
        </p:nvSpPr>
        <p:spPr>
          <a:xfrm>
            <a:off x="6019660" y="3088386"/>
            <a:ext cx="347472" cy="347472"/>
          </a:xfrm>
          <a:prstGeom prst="ellipse">
            <a:avLst/>
          </a:prstGeom>
          <a:solidFill>
            <a:schemeClr val="accent1"/>
          </a:solidFill>
          <a:ln w="12700">
            <a:solidFill>
              <a:schemeClr val="accent1"/>
            </a:solidFill>
            <a:prstDash val="solid"/>
          </a:ln>
        </p:spPr>
      </p:sp>
      <p:sp>
        <p:nvSpPr>
          <p:cNvPr id="6" name="Text 4"/>
          <p:cNvSpPr txBox="1"/>
          <p:nvPr/>
        </p:nvSpPr>
        <p:spPr>
          <a:xfrm>
            <a:off x="6019660" y="3088386"/>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5"/>
          <p:cNvSpPr txBox="1"/>
          <p:nvPr/>
        </p:nvSpPr>
        <p:spPr>
          <a:xfrm>
            <a:off x="6522580" y="3070098"/>
            <a:ext cx="5120475" cy="384048"/>
          </a:xfrm>
          <a:prstGeom prst="rect">
            <a:avLst/>
          </a:prstGeom>
          <a:noFill/>
          <a:ln/>
        </p:spPr>
        <p:txBody>
          <a:bodyPr wrap="square" lIns="0" tIns="0" rIns="0" bIns="0" rtlCol="0" anchor="t"/>
          <a:lstStyle/>
          <a:p>
            <a:pPr indent="0" marL="0">
              <a:buNone/>
            </a:pPr>
            <a:r>
              <a:rPr lang="en-US" sz="1500" dirty="0">
                <a:solidFill>
                  <a:schemeClr val="tx1"/>
                </a:solidFill>
              </a:rPr>
              <a:t>Clique no campo </a:t>
            </a:r>
            <a:pPr indent="0" marL="0">
              <a:buNone/>
            </a:pPr>
            <a:r>
              <a:rPr lang="en-US" sz="1500" b="1" dirty="0">
                <a:solidFill>
                  <a:schemeClr val="tx1"/>
                </a:solidFill>
              </a:rPr>
              <a:t>Adicione um assunto</a:t>
            </a:r>
            <a:pPr indent="0" marL="0">
              <a:buNone/>
            </a:pPr>
            <a:r>
              <a:rPr lang="en-US" sz="1500" dirty="0">
                <a:solidFill>
                  <a:schemeClr val="tx1"/>
                </a:solidFill>
              </a:rPr>
              <a:t>.</a:t>
            </a:r>
            <a:endParaRPr lang="en-US" sz="1500" dirty="0"/>
          </a:p>
        </p:txBody>
      </p:sp>
      <p:sp>
        <p:nvSpPr>
          <p:cNvPr id="8" name="Shape 6"/>
          <p:cNvSpPr/>
          <p:nvPr/>
        </p:nvSpPr>
        <p:spPr>
          <a:xfrm>
            <a:off x="6019660" y="3600450"/>
            <a:ext cx="347472" cy="347472"/>
          </a:xfrm>
          <a:prstGeom prst="ellipse">
            <a:avLst/>
          </a:prstGeom>
          <a:solidFill>
            <a:schemeClr val="accent1"/>
          </a:solidFill>
          <a:ln w="12700">
            <a:solidFill>
              <a:schemeClr val="accent1"/>
            </a:solidFill>
            <a:prstDash val="solid"/>
          </a:ln>
        </p:spPr>
      </p:sp>
      <p:sp>
        <p:nvSpPr>
          <p:cNvPr id="9" name="Text 7"/>
          <p:cNvSpPr txBox="1"/>
          <p:nvPr/>
        </p:nvSpPr>
        <p:spPr>
          <a:xfrm>
            <a:off x="6019660" y="3600450"/>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 8"/>
          <p:cNvSpPr txBox="1"/>
          <p:nvPr/>
        </p:nvSpPr>
        <p:spPr>
          <a:xfrm>
            <a:off x="6522580" y="3582162"/>
            <a:ext cx="5120475" cy="504444"/>
          </a:xfrm>
          <a:prstGeom prst="rect">
            <a:avLst/>
          </a:prstGeom>
          <a:noFill/>
          <a:ln/>
        </p:spPr>
        <p:txBody>
          <a:bodyPr wrap="square" lIns="0" tIns="0" rIns="0" bIns="0" rtlCol="0" anchor="t"/>
          <a:lstStyle/>
          <a:p>
            <a:pPr indent="0" marL="0">
              <a:buNone/>
            </a:pPr>
            <a:r>
              <a:rPr lang="en-US" sz="1500" dirty="0">
                <a:solidFill>
                  <a:schemeClr val="tx1"/>
                </a:solidFill>
              </a:rPr>
              <a:t>Escreva um assunto curto e específico, por exemplo </a:t>
            </a:r>
            <a:pPr indent="0" marL="0">
              <a:buNone/>
            </a:pPr>
            <a:r>
              <a:rPr lang="en-US" sz="1500" b="1" dirty="0">
                <a:solidFill>
                  <a:schemeClr val="tx1"/>
                </a:solidFill>
              </a:rPr>
              <a:t>ATC — Formação Outlook</a:t>
            </a:r>
            <a:pPr indent="0" marL="0">
              <a:buNone/>
            </a:pPr>
            <a:r>
              <a:rPr lang="en-US" sz="1500" dirty="0">
                <a:solidFill>
                  <a:schemeClr val="tx1"/>
                </a:solidFill>
              </a:rPr>
              <a:t>.</a:t>
            </a:r>
            <a:endParaRPr lang="en-US" sz="1500" dirty="0"/>
          </a:p>
        </p:txBody>
      </p:sp>
      <p:sp>
        <p:nvSpPr>
          <p:cNvPr id="11" name="Shape 9"/>
          <p:cNvSpPr/>
          <p:nvPr/>
        </p:nvSpPr>
        <p:spPr>
          <a:xfrm>
            <a:off x="6019660" y="4232910"/>
            <a:ext cx="347472" cy="347472"/>
          </a:xfrm>
          <a:prstGeom prst="ellipse">
            <a:avLst/>
          </a:prstGeom>
          <a:solidFill>
            <a:schemeClr val="accent1"/>
          </a:solidFill>
          <a:ln w="12700">
            <a:solidFill>
              <a:schemeClr val="accent1"/>
            </a:solidFill>
            <a:prstDash val="solid"/>
          </a:ln>
        </p:spPr>
      </p:sp>
      <p:sp>
        <p:nvSpPr>
          <p:cNvPr id="12" name="Text 10"/>
          <p:cNvSpPr txBox="1"/>
          <p:nvPr/>
        </p:nvSpPr>
        <p:spPr>
          <a:xfrm>
            <a:off x="6019660" y="4232910"/>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 11"/>
          <p:cNvSpPr txBox="1"/>
          <p:nvPr/>
        </p:nvSpPr>
        <p:spPr>
          <a:xfrm>
            <a:off x="6522580" y="4214622"/>
            <a:ext cx="5120475" cy="504444"/>
          </a:xfrm>
          <a:prstGeom prst="rect">
            <a:avLst/>
          </a:prstGeom>
          <a:noFill/>
          <a:ln/>
        </p:spPr>
        <p:txBody>
          <a:bodyPr wrap="square" lIns="0" tIns="0" rIns="0" bIns="0" rtlCol="0" anchor="t"/>
          <a:lstStyle/>
          <a:p>
            <a:pPr indent="0" marL="0">
              <a:buNone/>
            </a:pPr>
            <a:r>
              <a:rPr lang="en-US" sz="1500" dirty="0">
                <a:solidFill>
                  <a:schemeClr val="tx1"/>
                </a:solidFill>
              </a:rPr>
              <a:t>Confirme que o assunto continua visível por cima do texto da mensagem.</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361027" y="822960"/>
            <a:ext cx="5282028"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TEMA 4</a:t>
            </a:r>
            <a:endParaRPr lang="en-US" sz="1200" dirty="0"/>
          </a:p>
        </p:txBody>
      </p:sp>
      <p:sp>
        <p:nvSpPr>
          <p:cNvPr id="3" name="Text 1"/>
          <p:cNvSpPr txBox="1"/>
          <p:nvPr/>
        </p:nvSpPr>
        <p:spPr>
          <a:xfrm>
            <a:off x="6361027" y="1143000"/>
            <a:ext cx="5282028" cy="82296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Organizar a mensagem</a:t>
            </a:r>
            <a:endParaRPr lang="en-US" sz="3000" dirty="0"/>
          </a:p>
        </p:txBody>
      </p:sp>
      <p:sp>
        <p:nvSpPr>
          <p:cNvPr id="4" name="Shape 2"/>
          <p:cNvSpPr/>
          <p:nvPr/>
        </p:nvSpPr>
        <p:spPr>
          <a:xfrm>
            <a:off x="6361027" y="2121408"/>
            <a:ext cx="347472" cy="347472"/>
          </a:xfrm>
          <a:prstGeom prst="ellipse">
            <a:avLst/>
          </a:prstGeom>
          <a:solidFill>
            <a:schemeClr val="accent1"/>
          </a:solidFill>
          <a:ln w="12700">
            <a:solidFill>
              <a:schemeClr val="accent1"/>
            </a:solidFill>
            <a:prstDash val="solid"/>
          </a:ln>
        </p:spPr>
      </p:sp>
      <p:sp>
        <p:nvSpPr>
          <p:cNvPr id="5" name="Text 3"/>
          <p:cNvSpPr txBox="1"/>
          <p:nvPr/>
        </p:nvSpPr>
        <p:spPr>
          <a:xfrm>
            <a:off x="6361027" y="21214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6863947" y="2103120"/>
            <a:ext cx="4779108" cy="384048"/>
          </a:xfrm>
          <a:prstGeom prst="rect">
            <a:avLst/>
          </a:prstGeom>
          <a:noFill/>
          <a:ln/>
        </p:spPr>
        <p:txBody>
          <a:bodyPr wrap="square" lIns="0" tIns="0" rIns="0" bIns="0" rtlCol="0" anchor="t"/>
          <a:lstStyle/>
          <a:p>
            <a:pPr indent="0" marL="0">
              <a:buNone/>
            </a:pPr>
            <a:r>
              <a:rPr lang="en-US" sz="1400" dirty="0">
                <a:solidFill>
                  <a:schemeClr val="tx1"/>
                </a:solidFill>
              </a:rPr>
              <a:t>Escreva a saudação: </a:t>
            </a:r>
            <a:pPr indent="0" marL="0">
              <a:buNone/>
            </a:pPr>
            <a:r>
              <a:rPr lang="en-US" sz="1400" b="1" dirty="0">
                <a:solidFill>
                  <a:schemeClr val="tx1"/>
                </a:solidFill>
              </a:rPr>
              <a:t>Olá,</a:t>
            </a:r>
            <a:pPr indent="0" marL="0">
              <a:buNone/>
            </a:pPr>
            <a:r>
              <a:rPr lang="en-US" sz="1400" dirty="0">
                <a:solidFill>
                  <a:schemeClr val="tx1"/>
                </a:solidFill>
              </a:rPr>
              <a:t>.</a:t>
            </a:r>
            <a:endParaRPr lang="en-US" sz="1400" dirty="0"/>
          </a:p>
        </p:txBody>
      </p:sp>
      <p:sp>
        <p:nvSpPr>
          <p:cNvPr id="7" name="Shape 5"/>
          <p:cNvSpPr/>
          <p:nvPr/>
        </p:nvSpPr>
        <p:spPr>
          <a:xfrm>
            <a:off x="6361027" y="2633472"/>
            <a:ext cx="347472" cy="347472"/>
          </a:xfrm>
          <a:prstGeom prst="ellipse">
            <a:avLst/>
          </a:prstGeom>
          <a:solidFill>
            <a:schemeClr val="accent1"/>
          </a:solidFill>
          <a:ln w="12700">
            <a:solidFill>
              <a:schemeClr val="accent1"/>
            </a:solidFill>
            <a:prstDash val="solid"/>
          </a:ln>
        </p:spPr>
      </p:sp>
      <p:sp>
        <p:nvSpPr>
          <p:cNvPr id="8" name="Text 6"/>
          <p:cNvSpPr txBox="1"/>
          <p:nvPr/>
        </p:nvSpPr>
        <p:spPr>
          <a:xfrm>
            <a:off x="6361027" y="263347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6863947" y="2615184"/>
            <a:ext cx="4779108" cy="684276"/>
          </a:xfrm>
          <a:prstGeom prst="rect">
            <a:avLst/>
          </a:prstGeom>
          <a:noFill/>
          <a:ln/>
        </p:spPr>
        <p:txBody>
          <a:bodyPr wrap="square" lIns="0" tIns="0" rIns="0" bIns="0" rtlCol="0" anchor="t"/>
          <a:lstStyle/>
          <a:p>
            <a:pPr indent="0" marL="0">
              <a:buNone/>
            </a:pPr>
            <a:r>
              <a:rPr lang="en-US" sz="1400" dirty="0">
                <a:solidFill>
                  <a:schemeClr val="tx1"/>
                </a:solidFill>
              </a:rPr>
              <a:t>Escreva uma frase de contexto: </a:t>
            </a:r>
            <a:pPr indent="0" marL="0">
              <a:buNone/>
            </a:pPr>
            <a:r>
              <a:rPr lang="en-US" sz="1400" b="1" dirty="0">
                <a:solidFill>
                  <a:schemeClr val="tx1"/>
                </a:solidFill>
              </a:rPr>
              <a:t>A sessão de formação em Microsoft Outlook terá lugar em Luanda.</a:t>
            </a:r>
            <a:endParaRPr lang="en-US" sz="1400" dirty="0"/>
          </a:p>
        </p:txBody>
      </p:sp>
      <p:sp>
        <p:nvSpPr>
          <p:cNvPr id="10" name="Shape 8"/>
          <p:cNvSpPr/>
          <p:nvPr/>
        </p:nvSpPr>
        <p:spPr>
          <a:xfrm>
            <a:off x="6361027" y="3445764"/>
            <a:ext cx="347472" cy="347472"/>
          </a:xfrm>
          <a:prstGeom prst="ellipse">
            <a:avLst/>
          </a:prstGeom>
          <a:solidFill>
            <a:schemeClr val="accent1"/>
          </a:solidFill>
          <a:ln w="12700">
            <a:solidFill>
              <a:schemeClr val="accent1"/>
            </a:solidFill>
            <a:prstDash val="solid"/>
          </a:ln>
        </p:spPr>
      </p:sp>
      <p:sp>
        <p:nvSpPr>
          <p:cNvPr id="11" name="Text 9"/>
          <p:cNvSpPr txBox="1"/>
          <p:nvPr/>
        </p:nvSpPr>
        <p:spPr>
          <a:xfrm>
            <a:off x="6361027" y="3445764"/>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10"/>
          <p:cNvSpPr txBox="1"/>
          <p:nvPr/>
        </p:nvSpPr>
        <p:spPr>
          <a:xfrm>
            <a:off x="6863947" y="3427476"/>
            <a:ext cx="4779108" cy="474472"/>
          </a:xfrm>
          <a:prstGeom prst="rect">
            <a:avLst/>
          </a:prstGeom>
          <a:noFill/>
          <a:ln/>
        </p:spPr>
        <p:txBody>
          <a:bodyPr wrap="square" lIns="0" tIns="0" rIns="0" bIns="0" rtlCol="0" anchor="t"/>
          <a:lstStyle/>
          <a:p>
            <a:pPr indent="0" marL="0">
              <a:buNone/>
            </a:pPr>
            <a:r>
              <a:rPr lang="en-US" sz="1400" dirty="0">
                <a:solidFill>
                  <a:schemeClr val="tx1"/>
                </a:solidFill>
              </a:rPr>
              <a:t>Escreva </a:t>
            </a:r>
            <a:pPr indent="0" marL="0">
              <a:buNone/>
            </a:pPr>
            <a:r>
              <a:rPr lang="en-US" sz="1400" b="1" dirty="0">
                <a:solidFill>
                  <a:schemeClr val="tx1"/>
                </a:solidFill>
              </a:rPr>
              <a:t>Objetivos da sessão:</a:t>
            </a:r>
            <a:pPr indent="0" marL="0">
              <a:buNone/>
            </a:pPr>
            <a:r>
              <a:rPr lang="en-US" sz="1400" dirty="0">
                <a:solidFill>
                  <a:schemeClr val="tx1"/>
                </a:solidFill>
              </a:rPr>
              <a:t> e crie uma lista com três pontos.</a:t>
            </a:r>
            <a:endParaRPr lang="en-US" sz="1400" dirty="0"/>
          </a:p>
        </p:txBody>
      </p:sp>
      <p:sp>
        <p:nvSpPr>
          <p:cNvPr id="13" name="Shape 11"/>
          <p:cNvSpPr/>
          <p:nvPr/>
        </p:nvSpPr>
        <p:spPr>
          <a:xfrm>
            <a:off x="6361027" y="4048252"/>
            <a:ext cx="347472" cy="347472"/>
          </a:xfrm>
          <a:prstGeom prst="ellipse">
            <a:avLst/>
          </a:prstGeom>
          <a:solidFill>
            <a:schemeClr val="accent1"/>
          </a:solidFill>
          <a:ln w="12700">
            <a:solidFill>
              <a:schemeClr val="accent1"/>
            </a:solidFill>
            <a:prstDash val="solid"/>
          </a:ln>
        </p:spPr>
      </p:sp>
      <p:sp>
        <p:nvSpPr>
          <p:cNvPr id="14" name="Text 12"/>
          <p:cNvSpPr txBox="1"/>
          <p:nvPr/>
        </p:nvSpPr>
        <p:spPr>
          <a:xfrm>
            <a:off x="6361027" y="404825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Text 13"/>
          <p:cNvSpPr txBox="1"/>
          <p:nvPr/>
        </p:nvSpPr>
        <p:spPr>
          <a:xfrm>
            <a:off x="6863947" y="4029964"/>
            <a:ext cx="4779108" cy="474472"/>
          </a:xfrm>
          <a:prstGeom prst="rect">
            <a:avLst/>
          </a:prstGeom>
          <a:noFill/>
          <a:ln/>
        </p:spPr>
        <p:txBody>
          <a:bodyPr wrap="square" lIns="0" tIns="0" rIns="0" bIns="0" rtlCol="0" anchor="t"/>
          <a:lstStyle/>
          <a:p>
            <a:pPr indent="0" marL="0">
              <a:buNone/>
            </a:pPr>
            <a:r>
              <a:rPr lang="en-US" sz="1400" dirty="0">
                <a:solidFill>
                  <a:schemeClr val="tx1"/>
                </a:solidFill>
              </a:rPr>
              <a:t>Termine com </a:t>
            </a:r>
            <a:pPr indent="0" marL="0">
              <a:buNone/>
            </a:pPr>
            <a:r>
              <a:rPr lang="en-US" sz="1400" b="1" dirty="0">
                <a:solidFill>
                  <a:schemeClr val="tx1"/>
                </a:solidFill>
              </a:rPr>
              <a:t>Com os melhores cumprimentos,</a:t>
            </a:r>
            <a:pPr indent="0" marL="0">
              <a:buNone/>
            </a:pPr>
            <a:r>
              <a:rPr lang="en-US" sz="1400" dirty="0">
                <a:solidFill>
                  <a:schemeClr val="tx1"/>
                </a:solidFill>
              </a:rPr>
              <a:t>, o seu nome e a ATC.</a:t>
            </a:r>
            <a:endParaRPr lang="en-US" sz="1400" dirty="0"/>
          </a:p>
        </p:txBody>
      </p:sp>
      <p:sp>
        <p:nvSpPr>
          <p:cNvPr id="16" name="Cartão de dica"/>
          <p:cNvSpPr/>
          <p:nvPr/>
        </p:nvSpPr>
        <p:spPr>
          <a:xfrm>
            <a:off x="6361027" y="5158740"/>
            <a:ext cx="5282028" cy="1013460"/>
          </a:xfrm>
          <a:prstGeom prst="roundRect">
            <a:avLst>
              <a:gd name="adj" fmla="val 10827"/>
            </a:avLst>
          </a:prstGeom>
          <a:solidFill>
            <a:srgbClr val="F2F4F7"/>
          </a:solidFill>
          <a:ln w="12700">
            <a:solidFill>
              <a:srgbClr val="F2F4F7"/>
            </a:solidFill>
            <a:prstDash val="solid"/>
          </a:ln>
        </p:spPr>
      </p:sp>
      <p:pic>
        <p:nvPicPr>
          <p:cNvPr id="17" name="Image 0" descr="Miguel, guia virtual ATC">    </p:cNvPr>
          <p:cNvPicPr>
            <a:picLocks noChangeAspect="1"/>
          </p:cNvPicPr>
          <p:nvPr/>
        </p:nvPicPr>
        <p:blipFill>
          <a:blip r:embed="rId2"/>
          <a:stretch>
            <a:fillRect/>
          </a:stretch>
        </p:blipFill>
        <p:spPr>
          <a:xfrm>
            <a:off x="6543907" y="5295900"/>
            <a:ext cx="739140" cy="739140"/>
          </a:xfrm>
          <a:prstGeom prst="rect">
            <a:avLst/>
          </a:prstGeom>
        </p:spPr>
      </p:pic>
      <p:sp>
        <p:nvSpPr>
          <p:cNvPr id="18" name="Text 15"/>
          <p:cNvSpPr txBox="1"/>
          <p:nvPr/>
        </p:nvSpPr>
        <p:spPr>
          <a:xfrm>
            <a:off x="7447639" y="5231892"/>
            <a:ext cx="4039968" cy="867156"/>
          </a:xfrm>
          <a:prstGeom prst="rect">
            <a:avLst/>
          </a:prstGeom>
          <a:noFill/>
          <a:ln/>
        </p:spPr>
        <p:txBody>
          <a:bodyPr wrap="square" lIns="0" tIns="0" rIns="0" bIns="0" rtlCol="0" anchor="ctr"/>
          <a:lstStyle/>
          <a:p>
            <a:pPr indent="0" marL="0">
              <a:spcAft>
                <a:spcPts val="200"/>
              </a:spcAft>
              <a:buNone/>
            </a:pPr>
            <a:r>
              <a:rPr lang="en-US" sz="1400" b="1" dirty="0">
                <a:solidFill>
                  <a:schemeClr val="accent1"/>
                </a:solidFill>
              </a:rPr>
              <a:t>Nota</a:t>
            </a:r>
            <a:endParaRPr lang="en-US" sz="1400" dirty="0"/>
          </a:p>
          <a:p>
            <a:pPr indent="0" marL="0">
              <a:spcAft>
                <a:spcPts val="200"/>
              </a:spcAft>
              <a:buNone/>
            </a:pPr>
            <a:r>
              <a:rPr lang="en-US" sz="1400" dirty="0">
                <a:solidFill>
                  <a:schemeClr val="tx1"/>
                </a:solidFill>
              </a:rPr>
              <a:t>Use dados fictícios nos exercícios. Não escreva endereços de correio verdadeiros nem informação confidencial.</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1.5 Formatar o texto</a:t>
            </a:r>
            <a:endParaRPr lang="en-US" sz="3000" dirty="0"/>
          </a:p>
        </p:txBody>
      </p:sp>
      <p:sp>
        <p:nvSpPr>
          <p:cNvPr id="3" name="Shape 1"/>
          <p:cNvSpPr/>
          <p:nvPr/>
        </p:nvSpPr>
        <p:spPr>
          <a:xfrm>
            <a:off x="484632" y="1579054"/>
            <a:ext cx="6803136" cy="3882771"/>
          </a:xfrm>
          <a:prstGeom prst="roundRect">
            <a:avLst>
              <a:gd name="adj" fmla="val 1413"/>
            </a:avLst>
          </a:prstGeom>
          <a:solidFill>
            <a:srgbClr val="FFFFFF"/>
          </a:solidFill>
          <a:ln w="9525">
            <a:solidFill>
              <a:srgbClr val="DCE3E9"/>
            </a:solidFill>
            <a:prstDash val="solid"/>
          </a:ln>
          <a:effectLst>
            <a:outerShdw sx="100000" sy="100000" kx="0" ky="0" algn="bl" rotWithShape="0" blurRad="127000" dist="38100" dir="5400000">
              <a:srgbClr val="0B2137">
                <a:alpha val="18000"/>
              </a:srgbClr>
            </a:outerShdw>
          </a:effectLst>
        </p:spPr>
      </p:sp>
      <p:pic>
        <p:nvPicPr>
          <p:cNvPr id="4" name="Image 0" descr="Captura própria de um exemplo fictício ATC no Outlook para a Web: separador Formatar texto, com o assunto «ATC — Formação Outlook» e a mensagem formatada.">    </p:cNvPr>
          <p:cNvPicPr>
            <a:picLocks noChangeAspect="1"/>
          </p:cNvPicPr>
          <p:nvPr/>
        </p:nvPicPr>
        <p:blipFill>
          <a:blip r:embed="rId1"/>
          <a:stretch>
            <a:fillRect/>
          </a:stretch>
        </p:blipFill>
        <p:spPr>
          <a:xfrm>
            <a:off x="548640" y="1643062"/>
            <a:ext cx="6675120" cy="3754755"/>
          </a:xfrm>
          <a:prstGeom prst="rect">
            <a:avLst/>
          </a:prstGeom>
        </p:spPr>
      </p:pic>
      <p:sp>
        <p:nvSpPr>
          <p:cNvPr id="5" name="Text 2"/>
          <p:cNvSpPr txBox="1"/>
          <p:nvPr/>
        </p:nvSpPr>
        <p:spPr>
          <a:xfrm>
            <a:off x="548640" y="5806440"/>
            <a:ext cx="6675120" cy="384048"/>
          </a:xfrm>
          <a:prstGeom prst="rect">
            <a:avLst/>
          </a:prstGeom>
          <a:noFill/>
          <a:ln/>
        </p:spPr>
        <p:txBody>
          <a:bodyPr wrap="square" lIns="0" tIns="0" rIns="0" bIns="0" rtlCol="0" anchor="t"/>
          <a:lstStyle/>
          <a:p>
            <a:pPr indent="0" marL="0">
              <a:buNone/>
            </a:pPr>
            <a:r>
              <a:rPr lang="en-US" sz="1000" i="1" dirty="0">
                <a:solidFill>
                  <a:schemeClr val="accent4"/>
                </a:solidFill>
              </a:rPr>
              <a:t>Captura própria de um exemplo fictício ATC no Outlook para a Web: separador Formatar texto, com o assunto «ATC — Formação Outlook» e a mensagem…</a:t>
            </a:r>
            <a:endParaRPr lang="en-US" sz="1000" dirty="0"/>
          </a:p>
        </p:txBody>
      </p:sp>
      <p:sp>
        <p:nvSpPr>
          <p:cNvPr id="6" name="Text 3"/>
          <p:cNvSpPr txBox="1"/>
          <p:nvPr/>
        </p:nvSpPr>
        <p:spPr>
          <a:xfrm>
            <a:off x="7589520" y="1325880"/>
            <a:ext cx="4069080" cy="829056"/>
          </a:xfrm>
          <a:prstGeom prst="rect">
            <a:avLst/>
          </a:prstGeom>
          <a:noFill/>
          <a:ln/>
        </p:spPr>
        <p:txBody>
          <a:bodyPr wrap="square" lIns="0" tIns="0" rIns="0" bIns="0" rtlCol="0" anchor="t"/>
          <a:lstStyle/>
          <a:p>
            <a:pPr indent="0" marL="0">
              <a:buNone/>
            </a:pPr>
            <a:r>
              <a:rPr lang="en-US" sz="1600" dirty="0">
                <a:solidFill>
                  <a:schemeClr val="tx1"/>
                </a:solidFill>
              </a:rPr>
              <a:t>O separador </a:t>
            </a:r>
            <a:pPr indent="0" marL="0">
              <a:buNone/>
            </a:pPr>
            <a:r>
              <a:rPr lang="en-US" sz="1600" b="1" dirty="0">
                <a:solidFill>
                  <a:schemeClr val="tx1"/>
                </a:solidFill>
              </a:rPr>
              <a:t>Formatar texto</a:t>
            </a:r>
            <a:pPr indent="0" marL="0">
              <a:buNone/>
            </a:pPr>
            <a:r>
              <a:rPr lang="en-US" sz="1600" dirty="0">
                <a:solidFill>
                  <a:schemeClr val="tx1"/>
                </a:solidFill>
              </a:rPr>
              <a:t> reúne os comandos para negrito, itálico, listas, cores e alinhamento.</a:t>
            </a:r>
            <a:endParaRPr lang="en-US" sz="1600" dirty="0"/>
          </a:p>
        </p:txBody>
      </p:sp>
      <p:sp>
        <p:nvSpPr>
          <p:cNvPr id="7" name="Shape 4"/>
          <p:cNvSpPr/>
          <p:nvPr/>
        </p:nvSpPr>
        <p:spPr>
          <a:xfrm>
            <a:off x="7589520" y="2356104"/>
            <a:ext cx="347472" cy="347472"/>
          </a:xfrm>
          <a:prstGeom prst="ellipse">
            <a:avLst/>
          </a:prstGeom>
          <a:solidFill>
            <a:schemeClr val="accent1"/>
          </a:solidFill>
          <a:ln w="12700">
            <a:solidFill>
              <a:schemeClr val="accent1"/>
            </a:solidFill>
            <a:prstDash val="solid"/>
          </a:ln>
        </p:spPr>
      </p:sp>
      <p:sp>
        <p:nvSpPr>
          <p:cNvPr id="8" name="Text 5"/>
          <p:cNvSpPr txBox="1"/>
          <p:nvPr/>
        </p:nvSpPr>
        <p:spPr>
          <a:xfrm>
            <a:off x="7589520" y="2356104"/>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6"/>
          <p:cNvSpPr txBox="1"/>
          <p:nvPr/>
        </p:nvSpPr>
        <p:spPr>
          <a:xfrm>
            <a:off x="8092440" y="2337816"/>
            <a:ext cx="3566160" cy="474472"/>
          </a:xfrm>
          <a:prstGeom prst="rect">
            <a:avLst/>
          </a:prstGeom>
          <a:noFill/>
          <a:ln/>
        </p:spPr>
        <p:txBody>
          <a:bodyPr wrap="square" lIns="0" tIns="0" rIns="0" bIns="0" rtlCol="0" anchor="t"/>
          <a:lstStyle/>
          <a:p>
            <a:pPr indent="0" marL="0">
              <a:buNone/>
            </a:pPr>
            <a:r>
              <a:rPr lang="en-US" sz="1400" dirty="0">
                <a:solidFill>
                  <a:schemeClr val="tx1"/>
                </a:solidFill>
              </a:rPr>
              <a:t>Selecione </a:t>
            </a:r>
            <a:pPr indent="0" marL="0">
              <a:buNone/>
            </a:pPr>
            <a:r>
              <a:rPr lang="en-US" sz="1400" b="1" dirty="0">
                <a:solidFill>
                  <a:schemeClr val="tx1"/>
                </a:solidFill>
              </a:rPr>
              <a:t>Objetivos da sessão:</a:t>
            </a:r>
            <a:pPr indent="0" marL="0">
              <a:buNone/>
            </a:pPr>
            <a:r>
              <a:rPr lang="en-US" sz="1400" dirty="0">
                <a:solidFill>
                  <a:schemeClr val="tx1"/>
                </a:solidFill>
              </a:rPr>
              <a:t> e aplique negrito.</a:t>
            </a:r>
            <a:endParaRPr lang="en-US" sz="1400" dirty="0"/>
          </a:p>
        </p:txBody>
      </p:sp>
      <p:sp>
        <p:nvSpPr>
          <p:cNvPr id="10" name="Shape 7"/>
          <p:cNvSpPr/>
          <p:nvPr/>
        </p:nvSpPr>
        <p:spPr>
          <a:xfrm>
            <a:off x="7589520" y="2958592"/>
            <a:ext cx="347472" cy="347472"/>
          </a:xfrm>
          <a:prstGeom prst="ellipse">
            <a:avLst/>
          </a:prstGeom>
          <a:solidFill>
            <a:schemeClr val="accent1"/>
          </a:solidFill>
          <a:ln w="12700">
            <a:solidFill>
              <a:schemeClr val="accent1"/>
            </a:solidFill>
            <a:prstDash val="solid"/>
          </a:ln>
        </p:spPr>
      </p:sp>
      <p:sp>
        <p:nvSpPr>
          <p:cNvPr id="11" name="Text 8"/>
          <p:cNvSpPr txBox="1"/>
          <p:nvPr/>
        </p:nvSpPr>
        <p:spPr>
          <a:xfrm>
            <a:off x="7589520" y="295859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9"/>
          <p:cNvSpPr txBox="1"/>
          <p:nvPr/>
        </p:nvSpPr>
        <p:spPr>
          <a:xfrm>
            <a:off x="8092440" y="2940304"/>
            <a:ext cx="3566160" cy="474472"/>
          </a:xfrm>
          <a:prstGeom prst="rect">
            <a:avLst/>
          </a:prstGeom>
          <a:noFill/>
          <a:ln/>
        </p:spPr>
        <p:txBody>
          <a:bodyPr wrap="square" lIns="0" tIns="0" rIns="0" bIns="0" rtlCol="0" anchor="t"/>
          <a:lstStyle/>
          <a:p>
            <a:pPr indent="0" marL="0">
              <a:buNone/>
            </a:pPr>
            <a:r>
              <a:rPr lang="en-US" sz="1400" dirty="0">
                <a:solidFill>
                  <a:schemeClr val="tx1"/>
                </a:solidFill>
              </a:rPr>
              <a:t>Selecione os três pontos e escolha uma lista com marcas.</a:t>
            </a:r>
            <a:endParaRPr lang="en-US" sz="1400" dirty="0"/>
          </a:p>
        </p:txBody>
      </p:sp>
      <p:sp>
        <p:nvSpPr>
          <p:cNvPr id="13" name="Shape 10"/>
          <p:cNvSpPr/>
          <p:nvPr/>
        </p:nvSpPr>
        <p:spPr>
          <a:xfrm>
            <a:off x="7589520" y="3561080"/>
            <a:ext cx="347472" cy="347472"/>
          </a:xfrm>
          <a:prstGeom prst="ellipse">
            <a:avLst/>
          </a:prstGeom>
          <a:solidFill>
            <a:schemeClr val="accent1"/>
          </a:solidFill>
          <a:ln w="12700">
            <a:solidFill>
              <a:schemeClr val="accent1"/>
            </a:solidFill>
            <a:prstDash val="solid"/>
          </a:ln>
        </p:spPr>
      </p:sp>
      <p:sp>
        <p:nvSpPr>
          <p:cNvPr id="14" name="Text 11"/>
          <p:cNvSpPr txBox="1"/>
          <p:nvPr/>
        </p:nvSpPr>
        <p:spPr>
          <a:xfrm>
            <a:off x="7589520" y="3561080"/>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Text 12"/>
          <p:cNvSpPr txBox="1"/>
          <p:nvPr/>
        </p:nvSpPr>
        <p:spPr>
          <a:xfrm>
            <a:off x="8092440" y="3542792"/>
            <a:ext cx="3566160" cy="474472"/>
          </a:xfrm>
          <a:prstGeom prst="rect">
            <a:avLst/>
          </a:prstGeom>
          <a:noFill/>
          <a:ln/>
        </p:spPr>
        <p:txBody>
          <a:bodyPr wrap="square" lIns="0" tIns="0" rIns="0" bIns="0" rtlCol="0" anchor="t"/>
          <a:lstStyle/>
          <a:p>
            <a:pPr indent="0" marL="0">
              <a:buNone/>
            </a:pPr>
            <a:r>
              <a:rPr lang="en-US" sz="1400" dirty="0">
                <a:solidFill>
                  <a:schemeClr val="tx1"/>
                </a:solidFill>
              </a:rPr>
              <a:t>Selecione a última frase e aplique itálico.</a:t>
            </a:r>
            <a:endParaRPr lang="en-US" sz="1400" dirty="0"/>
          </a:p>
        </p:txBody>
      </p:sp>
      <p:sp>
        <p:nvSpPr>
          <p:cNvPr id="16" name="Shape 13"/>
          <p:cNvSpPr/>
          <p:nvPr/>
        </p:nvSpPr>
        <p:spPr>
          <a:xfrm>
            <a:off x="7589520" y="4163568"/>
            <a:ext cx="347472" cy="347472"/>
          </a:xfrm>
          <a:prstGeom prst="ellipse">
            <a:avLst/>
          </a:prstGeom>
          <a:solidFill>
            <a:schemeClr val="accent1"/>
          </a:solidFill>
          <a:ln w="12700">
            <a:solidFill>
              <a:schemeClr val="accent1"/>
            </a:solidFill>
            <a:prstDash val="solid"/>
          </a:ln>
        </p:spPr>
      </p:sp>
      <p:sp>
        <p:nvSpPr>
          <p:cNvPr id="17" name="Text 14"/>
          <p:cNvSpPr txBox="1"/>
          <p:nvPr/>
        </p:nvSpPr>
        <p:spPr>
          <a:xfrm>
            <a:off x="7589520" y="416356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5"/>
          <p:cNvSpPr txBox="1"/>
          <p:nvPr/>
        </p:nvSpPr>
        <p:spPr>
          <a:xfrm>
            <a:off x="8092440" y="4145280"/>
            <a:ext cx="3566160" cy="474472"/>
          </a:xfrm>
          <a:prstGeom prst="rect">
            <a:avLst/>
          </a:prstGeom>
          <a:noFill/>
          <a:ln/>
        </p:spPr>
        <p:txBody>
          <a:bodyPr wrap="square" lIns="0" tIns="0" rIns="0" bIns="0" rtlCol="0" anchor="t"/>
          <a:lstStyle/>
          <a:p>
            <a:pPr indent="0" marL="0">
              <a:buNone/>
            </a:pPr>
            <a:r>
              <a:rPr lang="en-US" sz="1400" dirty="0">
                <a:solidFill>
                  <a:schemeClr val="tx1"/>
                </a:solidFill>
              </a:rPr>
              <a:t>Volte ao separador </a:t>
            </a:r>
            <a:pPr indent="0" marL="0">
              <a:buNone/>
            </a:pPr>
            <a:r>
              <a:rPr lang="en-US" sz="1400" b="1" dirty="0">
                <a:solidFill>
                  <a:schemeClr val="tx1"/>
                </a:solidFill>
              </a:rPr>
              <a:t>Mensagem</a:t>
            </a:r>
            <a:pPr indent="0" marL="0">
              <a:buNone/>
            </a:pPr>
            <a:r>
              <a:rPr lang="en-US" sz="1400" dirty="0">
                <a:solidFill>
                  <a:schemeClr val="tx1"/>
                </a:solidFill>
              </a:rPr>
              <a:t> para rever o resultado.</a:t>
            </a:r>
            <a:endParaRPr lang="en-US" sz="1400" dirty="0"/>
          </a:p>
        </p:txBody>
      </p:sp>
      <p:sp>
        <p:nvSpPr>
          <p:cNvPr id="19" name="Cartão de dica"/>
          <p:cNvSpPr/>
          <p:nvPr/>
        </p:nvSpPr>
        <p:spPr>
          <a:xfrm>
            <a:off x="7589520" y="4963160"/>
            <a:ext cx="4069080" cy="1209040"/>
          </a:xfrm>
          <a:prstGeom prst="roundRect">
            <a:avLst>
              <a:gd name="adj" fmla="val 9076"/>
            </a:avLst>
          </a:prstGeom>
          <a:solidFill>
            <a:srgbClr val="F2F4F7"/>
          </a:solidFill>
          <a:ln w="12700">
            <a:solidFill>
              <a:srgbClr val="F2F4F7"/>
            </a:solidFill>
            <a:prstDash val="solid"/>
          </a:ln>
        </p:spPr>
      </p:sp>
      <p:pic>
        <p:nvPicPr>
          <p:cNvPr id="20" name="Image 1" descr="Helena, guia virtual ATC">    </p:cNvPr>
          <p:cNvPicPr>
            <a:picLocks noChangeAspect="1"/>
          </p:cNvPicPr>
          <p:nvPr/>
        </p:nvPicPr>
        <p:blipFill>
          <a:blip r:embed="rId2"/>
          <a:stretch>
            <a:fillRect/>
          </a:stretch>
        </p:blipFill>
        <p:spPr>
          <a:xfrm>
            <a:off x="7772400" y="5179060"/>
            <a:ext cx="777240" cy="777240"/>
          </a:xfrm>
          <a:prstGeom prst="rect">
            <a:avLst/>
          </a:prstGeom>
        </p:spPr>
      </p:pic>
      <p:sp>
        <p:nvSpPr>
          <p:cNvPr id="21" name="Text 17"/>
          <p:cNvSpPr txBox="1"/>
          <p:nvPr/>
        </p:nvSpPr>
        <p:spPr>
          <a:xfrm>
            <a:off x="8714232" y="5036312"/>
            <a:ext cx="2788920" cy="1062736"/>
          </a:xfrm>
          <a:prstGeom prst="rect">
            <a:avLst/>
          </a:prstGeom>
          <a:noFill/>
          <a:ln/>
        </p:spPr>
        <p:txBody>
          <a:bodyPr wrap="square" lIns="0" tIns="0" rIns="0" bIns="0" rtlCol="0" anchor="ctr"/>
          <a:lstStyle/>
          <a:p>
            <a:pPr indent="0" marL="0">
              <a:spcAft>
                <a:spcPts val="200"/>
              </a:spcAft>
              <a:buNone/>
            </a:pPr>
            <a:r>
              <a:rPr lang="en-US" sz="1300" b="1" dirty="0">
                <a:solidFill>
                  <a:schemeClr val="accent1"/>
                </a:solidFill>
              </a:rPr>
              <a:t>Dica da Helena</a:t>
            </a:r>
            <a:endParaRPr lang="en-US" sz="1300" dirty="0"/>
          </a:p>
          <a:p>
            <a:pPr indent="0" marL="0">
              <a:spcAft>
                <a:spcPts val="200"/>
              </a:spcAft>
              <a:buNone/>
            </a:pPr>
            <a:r>
              <a:rPr lang="en-US" sz="1300" dirty="0">
                <a:solidFill>
                  <a:schemeClr val="tx1"/>
                </a:solidFill>
              </a:rPr>
              <a:t>Use a formatação com moderação. Uma mensagem com poucas mudanças de estilo é mais fácil de ler.</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5644732"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TEMA 6</a:t>
            </a:r>
            <a:endParaRPr lang="en-US" sz="1200" dirty="0"/>
          </a:p>
        </p:txBody>
      </p:sp>
      <p:sp>
        <p:nvSpPr>
          <p:cNvPr id="3" name="Text 1"/>
          <p:cNvSpPr txBox="1"/>
          <p:nvPr/>
        </p:nvSpPr>
        <p:spPr>
          <a:xfrm>
            <a:off x="548640" y="1143000"/>
            <a:ext cx="5644732" cy="82296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Rever antes de enviar</a:t>
            </a:r>
            <a:endParaRPr lang="en-US" sz="3000" dirty="0"/>
          </a:p>
        </p:txBody>
      </p:sp>
      <p:sp>
        <p:nvSpPr>
          <p:cNvPr id="4" name="Text 2"/>
          <p:cNvSpPr txBox="1"/>
          <p:nvPr/>
        </p:nvSpPr>
        <p:spPr>
          <a:xfrm>
            <a:off x="548640" y="2103120"/>
            <a:ext cx="5644732" cy="529336"/>
          </a:xfrm>
          <a:prstGeom prst="rect">
            <a:avLst/>
          </a:prstGeom>
          <a:noFill/>
          <a:ln/>
        </p:spPr>
        <p:txBody>
          <a:bodyPr wrap="square" lIns="0" tIns="0" rIns="0" bIns="0" rtlCol="0" anchor="t"/>
          <a:lstStyle/>
          <a:p>
            <a:pPr indent="0" marL="0">
              <a:buNone/>
            </a:pPr>
            <a:r>
              <a:rPr lang="en-US" sz="1400" dirty="0">
                <a:solidFill>
                  <a:schemeClr val="tx1"/>
                </a:solidFill>
              </a:rPr>
              <a:t>Depois de enviada, uma mensagem já não se pode corrigir. Reveja sempre os campos antes de carregar em </a:t>
            </a:r>
            <a:pPr indent="0" marL="0">
              <a:buNone/>
            </a:pPr>
            <a:r>
              <a:rPr lang="en-US" sz="1400" b="1" dirty="0">
                <a:solidFill>
                  <a:schemeClr val="tx1"/>
                </a:solidFill>
              </a:rPr>
              <a:t>Enviar</a:t>
            </a:r>
            <a:pPr indent="0" marL="0">
              <a:buNone/>
            </a:pPr>
            <a:r>
              <a:rPr lang="en-US" sz="1400" dirty="0">
                <a:solidFill>
                  <a:schemeClr val="tx1"/>
                </a:solidFill>
              </a:rPr>
              <a:t>.</a:t>
            </a:r>
            <a:endParaRPr lang="en-US" sz="1400" dirty="0"/>
          </a:p>
        </p:txBody>
      </p:sp>
      <p:sp>
        <p:nvSpPr>
          <p:cNvPr id="5" name="Shape 3"/>
          <p:cNvSpPr/>
          <p:nvPr/>
        </p:nvSpPr>
        <p:spPr>
          <a:xfrm>
            <a:off x="548640" y="2833624"/>
            <a:ext cx="347472" cy="347472"/>
          </a:xfrm>
          <a:prstGeom prst="ellipse">
            <a:avLst/>
          </a:prstGeom>
          <a:solidFill>
            <a:schemeClr val="accent1"/>
          </a:solidFill>
          <a:ln w="12700">
            <a:solidFill>
              <a:schemeClr val="accent1"/>
            </a:solidFill>
            <a:prstDash val="solid"/>
          </a:ln>
        </p:spPr>
      </p:sp>
      <p:sp>
        <p:nvSpPr>
          <p:cNvPr id="6" name="Text 4"/>
          <p:cNvSpPr txBox="1"/>
          <p:nvPr/>
        </p:nvSpPr>
        <p:spPr>
          <a:xfrm>
            <a:off x="548640" y="2833624"/>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5"/>
          <p:cNvSpPr txBox="1"/>
          <p:nvPr/>
        </p:nvSpPr>
        <p:spPr>
          <a:xfrm>
            <a:off x="1051560" y="2815336"/>
            <a:ext cx="5141812" cy="474472"/>
          </a:xfrm>
          <a:prstGeom prst="rect">
            <a:avLst/>
          </a:prstGeom>
          <a:noFill/>
          <a:ln/>
        </p:spPr>
        <p:txBody>
          <a:bodyPr wrap="square" lIns="0" tIns="0" rIns="0" bIns="0" rtlCol="0" anchor="t"/>
          <a:lstStyle/>
          <a:p>
            <a:pPr indent="0" marL="0">
              <a:buNone/>
            </a:pPr>
            <a:r>
              <a:rPr lang="en-US" sz="1400" dirty="0">
                <a:solidFill>
                  <a:schemeClr val="tx1"/>
                </a:solidFill>
              </a:rPr>
              <a:t>Confirme os destinatários nos campos </a:t>
            </a:r>
            <a:pPr indent="0" marL="0">
              <a:buNone/>
            </a:pPr>
            <a:r>
              <a:rPr lang="en-US" sz="1400" b="1" dirty="0">
                <a:solidFill>
                  <a:schemeClr val="tx1"/>
                </a:solidFill>
              </a:rPr>
              <a:t>Para</a:t>
            </a:r>
            <a:pPr indent="0" marL="0">
              <a:buNone/>
            </a:pPr>
            <a:r>
              <a:rPr lang="en-US" sz="1400" dirty="0">
                <a:solidFill>
                  <a:schemeClr val="tx1"/>
                </a:solidFill>
              </a:rPr>
              <a:t>, </a:t>
            </a:r>
            <a:pPr indent="0" marL="0">
              <a:buNone/>
            </a:pPr>
            <a:r>
              <a:rPr lang="en-US" sz="1400" b="1" dirty="0">
                <a:solidFill>
                  <a:schemeClr val="tx1"/>
                </a:solidFill>
              </a:rPr>
              <a:t>Cc</a:t>
            </a:r>
            <a:pPr indent="0" marL="0">
              <a:buNone/>
            </a:pPr>
            <a:r>
              <a:rPr lang="en-US" sz="1400" dirty="0">
                <a:solidFill>
                  <a:schemeClr val="tx1"/>
                </a:solidFill>
              </a:rPr>
              <a:t> e </a:t>
            </a:r>
            <a:pPr indent="0" marL="0">
              <a:buNone/>
            </a:pPr>
            <a:r>
              <a:rPr lang="en-US" sz="1400" b="1" dirty="0">
                <a:solidFill>
                  <a:schemeClr val="tx1"/>
                </a:solidFill>
              </a:rPr>
              <a:t>Bcc</a:t>
            </a:r>
            <a:pPr indent="0" marL="0">
              <a:buNone/>
            </a:pPr>
            <a:r>
              <a:rPr lang="en-US" sz="1400" dirty="0">
                <a:solidFill>
                  <a:schemeClr val="tx1"/>
                </a:solidFill>
              </a:rPr>
              <a:t>.</a:t>
            </a:r>
            <a:endParaRPr lang="en-US" sz="1400" dirty="0"/>
          </a:p>
        </p:txBody>
      </p:sp>
      <p:sp>
        <p:nvSpPr>
          <p:cNvPr id="8" name="Shape 6"/>
          <p:cNvSpPr/>
          <p:nvPr/>
        </p:nvSpPr>
        <p:spPr>
          <a:xfrm>
            <a:off x="548640" y="3436112"/>
            <a:ext cx="347472" cy="347472"/>
          </a:xfrm>
          <a:prstGeom prst="ellipse">
            <a:avLst/>
          </a:prstGeom>
          <a:solidFill>
            <a:schemeClr val="accent1"/>
          </a:solidFill>
          <a:ln w="12700">
            <a:solidFill>
              <a:schemeClr val="accent1"/>
            </a:solidFill>
            <a:prstDash val="solid"/>
          </a:ln>
        </p:spPr>
      </p:sp>
      <p:sp>
        <p:nvSpPr>
          <p:cNvPr id="9" name="Text 7"/>
          <p:cNvSpPr txBox="1"/>
          <p:nvPr/>
        </p:nvSpPr>
        <p:spPr>
          <a:xfrm>
            <a:off x="548640" y="343611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 8"/>
          <p:cNvSpPr txBox="1"/>
          <p:nvPr/>
        </p:nvSpPr>
        <p:spPr>
          <a:xfrm>
            <a:off x="1051560" y="3417824"/>
            <a:ext cx="5141812" cy="384048"/>
          </a:xfrm>
          <a:prstGeom prst="rect">
            <a:avLst/>
          </a:prstGeom>
          <a:noFill/>
          <a:ln/>
        </p:spPr>
        <p:txBody>
          <a:bodyPr wrap="square" lIns="0" tIns="0" rIns="0" bIns="0" rtlCol="0" anchor="t"/>
          <a:lstStyle/>
          <a:p>
            <a:pPr indent="0" marL="0">
              <a:buNone/>
            </a:pPr>
            <a:r>
              <a:rPr lang="en-US" sz="1400" dirty="0">
                <a:solidFill>
                  <a:schemeClr val="tx1"/>
                </a:solidFill>
              </a:rPr>
              <a:t>Confirme o assunto.</a:t>
            </a:r>
            <a:endParaRPr lang="en-US" sz="1400" dirty="0"/>
          </a:p>
        </p:txBody>
      </p:sp>
      <p:sp>
        <p:nvSpPr>
          <p:cNvPr id="11" name="Shape 9"/>
          <p:cNvSpPr/>
          <p:nvPr/>
        </p:nvSpPr>
        <p:spPr>
          <a:xfrm>
            <a:off x="548640" y="3948176"/>
            <a:ext cx="347472" cy="347472"/>
          </a:xfrm>
          <a:prstGeom prst="ellipse">
            <a:avLst/>
          </a:prstGeom>
          <a:solidFill>
            <a:schemeClr val="accent1"/>
          </a:solidFill>
          <a:ln w="12700">
            <a:solidFill>
              <a:schemeClr val="accent1"/>
            </a:solidFill>
            <a:prstDash val="solid"/>
          </a:ln>
        </p:spPr>
      </p:sp>
      <p:sp>
        <p:nvSpPr>
          <p:cNvPr id="12" name="Text 10"/>
          <p:cNvSpPr txBox="1"/>
          <p:nvPr/>
        </p:nvSpPr>
        <p:spPr>
          <a:xfrm>
            <a:off x="548640" y="3948176"/>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 11"/>
          <p:cNvSpPr txBox="1"/>
          <p:nvPr/>
        </p:nvSpPr>
        <p:spPr>
          <a:xfrm>
            <a:off x="1051560" y="3929888"/>
            <a:ext cx="5141812" cy="384048"/>
          </a:xfrm>
          <a:prstGeom prst="rect">
            <a:avLst/>
          </a:prstGeom>
          <a:noFill/>
          <a:ln/>
        </p:spPr>
        <p:txBody>
          <a:bodyPr wrap="square" lIns="0" tIns="0" rIns="0" bIns="0" rtlCol="0" anchor="t"/>
          <a:lstStyle/>
          <a:p>
            <a:pPr indent="0" marL="0">
              <a:buNone/>
            </a:pPr>
            <a:r>
              <a:rPr lang="en-US" sz="1400" dirty="0">
                <a:solidFill>
                  <a:schemeClr val="tx1"/>
                </a:solidFill>
              </a:rPr>
              <a:t>Leia o texto do princípio ao fim e corrija erros.</a:t>
            </a:r>
            <a:endParaRPr lang="en-US" sz="1400" dirty="0"/>
          </a:p>
        </p:txBody>
      </p:sp>
      <p:sp>
        <p:nvSpPr>
          <p:cNvPr id="14" name="Shape 12"/>
          <p:cNvSpPr/>
          <p:nvPr/>
        </p:nvSpPr>
        <p:spPr>
          <a:xfrm>
            <a:off x="548640" y="4460240"/>
            <a:ext cx="347472" cy="347472"/>
          </a:xfrm>
          <a:prstGeom prst="ellipse">
            <a:avLst/>
          </a:prstGeom>
          <a:solidFill>
            <a:schemeClr val="accent1"/>
          </a:solidFill>
          <a:ln w="12700">
            <a:solidFill>
              <a:schemeClr val="accent1"/>
            </a:solidFill>
            <a:prstDash val="solid"/>
          </a:ln>
        </p:spPr>
      </p:sp>
      <p:sp>
        <p:nvSpPr>
          <p:cNvPr id="15" name="Text 13"/>
          <p:cNvSpPr txBox="1"/>
          <p:nvPr/>
        </p:nvSpPr>
        <p:spPr>
          <a:xfrm>
            <a:off x="548640" y="4460240"/>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Text 14"/>
          <p:cNvSpPr txBox="1"/>
          <p:nvPr/>
        </p:nvSpPr>
        <p:spPr>
          <a:xfrm>
            <a:off x="1051560" y="4441952"/>
            <a:ext cx="5141812" cy="384048"/>
          </a:xfrm>
          <a:prstGeom prst="rect">
            <a:avLst/>
          </a:prstGeom>
          <a:noFill/>
          <a:ln/>
        </p:spPr>
        <p:txBody>
          <a:bodyPr wrap="square" lIns="0" tIns="0" rIns="0" bIns="0" rtlCol="0" anchor="t"/>
          <a:lstStyle/>
          <a:p>
            <a:pPr indent="0" marL="0">
              <a:buNone/>
            </a:pPr>
            <a:r>
              <a:rPr lang="en-US" sz="1400" dirty="0">
                <a:solidFill>
                  <a:schemeClr val="tx1"/>
                </a:solidFill>
              </a:rPr>
              <a:t>Só então carregue em </a:t>
            </a:r>
            <a:pPr indent="0" marL="0">
              <a:buNone/>
            </a:pPr>
            <a:r>
              <a:rPr lang="en-US" sz="1400" b="1" dirty="0">
                <a:solidFill>
                  <a:schemeClr val="tx1"/>
                </a:solidFill>
              </a:rPr>
              <a:t>Enviar</a:t>
            </a:r>
            <a:pPr indent="0" marL="0">
              <a:buNone/>
            </a:pPr>
            <a:r>
              <a:rPr lang="en-US" sz="1400" dirty="0">
                <a:solidFill>
                  <a:schemeClr val="tx1"/>
                </a:solidFill>
              </a:rPr>
              <a:t>.</a:t>
            </a:r>
            <a:endParaRPr lang="en-US" sz="1400" dirty="0"/>
          </a:p>
        </p:txBody>
      </p:sp>
      <p:sp>
        <p:nvSpPr>
          <p:cNvPr id="17" name="Cartão de dica"/>
          <p:cNvSpPr/>
          <p:nvPr/>
        </p:nvSpPr>
        <p:spPr>
          <a:xfrm>
            <a:off x="548640" y="5158740"/>
            <a:ext cx="5644732" cy="1013460"/>
          </a:xfrm>
          <a:prstGeom prst="roundRect">
            <a:avLst>
              <a:gd name="adj" fmla="val 10827"/>
            </a:avLst>
          </a:prstGeom>
          <a:solidFill>
            <a:srgbClr val="FBEDE6"/>
          </a:solidFill>
          <a:ln w="12700">
            <a:solidFill>
              <a:srgbClr val="FBEDE6"/>
            </a:solidFill>
            <a:prstDash val="solid"/>
          </a:ln>
        </p:spPr>
      </p:sp>
      <p:pic>
        <p:nvPicPr>
          <p:cNvPr id="18" name="Image 0" descr="Miguel, guia virtual ATC">    </p:cNvPr>
          <p:cNvPicPr>
            <a:picLocks noChangeAspect="1"/>
          </p:cNvPicPr>
          <p:nvPr/>
        </p:nvPicPr>
        <p:blipFill>
          <a:blip r:embed="rId2"/>
          <a:stretch>
            <a:fillRect/>
          </a:stretch>
        </p:blipFill>
        <p:spPr>
          <a:xfrm>
            <a:off x="731520" y="5295900"/>
            <a:ext cx="739140" cy="739140"/>
          </a:xfrm>
          <a:prstGeom prst="rect">
            <a:avLst/>
          </a:prstGeom>
        </p:spPr>
      </p:pic>
      <p:sp>
        <p:nvSpPr>
          <p:cNvPr id="19" name="Text 16"/>
          <p:cNvSpPr txBox="1"/>
          <p:nvPr/>
        </p:nvSpPr>
        <p:spPr>
          <a:xfrm>
            <a:off x="1635252" y="5231892"/>
            <a:ext cx="4402672" cy="867156"/>
          </a:xfrm>
          <a:prstGeom prst="rect">
            <a:avLst/>
          </a:prstGeom>
          <a:noFill/>
          <a:ln/>
        </p:spPr>
        <p:txBody>
          <a:bodyPr wrap="square" lIns="0" tIns="0" rIns="0" bIns="0" rtlCol="0" anchor="ctr"/>
          <a:lstStyle/>
          <a:p>
            <a:pPr indent="0" marL="0">
              <a:spcAft>
                <a:spcPts val="200"/>
              </a:spcAft>
              <a:buNone/>
            </a:pPr>
            <a:r>
              <a:rPr lang="en-US" sz="1400" b="1" dirty="0">
                <a:solidFill>
                  <a:schemeClr val="accent6"/>
                </a:solidFill>
              </a:rPr>
              <a:t>Atenção</a:t>
            </a:r>
            <a:endParaRPr lang="en-US" sz="1400" dirty="0"/>
          </a:p>
          <a:p>
            <a:pPr indent="0" marL="0">
              <a:spcAft>
                <a:spcPts val="200"/>
              </a:spcAft>
              <a:buNone/>
            </a:pPr>
            <a:r>
              <a:rPr lang="en-US" sz="1400" dirty="0">
                <a:solidFill>
                  <a:schemeClr val="tx1"/>
                </a:solidFill>
              </a:rPr>
              <a:t>No exercício deste curso, deixe o campo Para vazio. A mensagem fica como rascunho e não é enviada a ninguém.</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5693499"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PARA RECORDAR</a:t>
            </a:r>
            <a:endParaRPr lang="en-US" sz="1200" dirty="0"/>
          </a:p>
        </p:txBody>
      </p:sp>
      <p:sp>
        <p:nvSpPr>
          <p:cNvPr id="3" name="Text 1"/>
          <p:cNvSpPr txBox="1"/>
          <p:nvPr/>
        </p:nvSpPr>
        <p:spPr>
          <a:xfrm>
            <a:off x="548640" y="1143000"/>
            <a:ext cx="5693499" cy="82296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Resumo do módulo</a:t>
            </a:r>
            <a:endParaRPr lang="en-US" sz="3400" dirty="0"/>
          </a:p>
        </p:txBody>
      </p:sp>
      <p:sp>
        <p:nvSpPr>
          <p:cNvPr id="4" name="Shape 2"/>
          <p:cNvSpPr/>
          <p:nvPr/>
        </p:nvSpPr>
        <p:spPr>
          <a:xfrm>
            <a:off x="548640" y="2194560"/>
            <a:ext cx="329184" cy="329184"/>
          </a:xfrm>
          <a:prstGeom prst="ellipse">
            <a:avLst/>
          </a:prstGeom>
          <a:solidFill>
            <a:schemeClr val="accent5"/>
          </a:solidFill>
          <a:ln w="12700">
            <a:solidFill>
              <a:srgbClr val="2E7D4F"/>
            </a:solidFill>
            <a:prstDash val="solid"/>
          </a:ln>
        </p:spPr>
      </p:sp>
      <p:sp>
        <p:nvSpPr>
          <p:cNvPr id="5" name="Text 3"/>
          <p:cNvSpPr txBox="1"/>
          <p:nvPr/>
        </p:nvSpPr>
        <p:spPr>
          <a:xfrm>
            <a:off x="548640" y="2194560"/>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6" name="Text 4"/>
          <p:cNvSpPr txBox="1"/>
          <p:nvPr/>
        </p:nvSpPr>
        <p:spPr>
          <a:xfrm>
            <a:off x="1051560" y="2148840"/>
            <a:ext cx="5190579" cy="589280"/>
          </a:xfrm>
          <a:prstGeom prst="rect">
            <a:avLst/>
          </a:prstGeom>
          <a:noFill/>
          <a:ln/>
        </p:spPr>
        <p:txBody>
          <a:bodyPr wrap="square" lIns="0" tIns="0" rIns="0" bIns="0" rtlCol="0" anchor="t"/>
          <a:lstStyle/>
          <a:p>
            <a:pPr indent="0" marL="0">
              <a:buNone/>
            </a:pPr>
            <a:r>
              <a:rPr lang="en-US" sz="1600" dirty="0">
                <a:solidFill>
                  <a:schemeClr val="tx1"/>
                </a:solidFill>
              </a:rPr>
              <a:t>O Outlook serve para gerir correio, contactos e calendário.</a:t>
            </a:r>
            <a:endParaRPr lang="en-US" sz="1600" dirty="0"/>
          </a:p>
        </p:txBody>
      </p:sp>
      <p:sp>
        <p:nvSpPr>
          <p:cNvPr id="7" name="Shape 5"/>
          <p:cNvSpPr/>
          <p:nvPr/>
        </p:nvSpPr>
        <p:spPr>
          <a:xfrm>
            <a:off x="548640" y="2948432"/>
            <a:ext cx="329184" cy="329184"/>
          </a:xfrm>
          <a:prstGeom prst="ellipse">
            <a:avLst/>
          </a:prstGeom>
          <a:solidFill>
            <a:schemeClr val="accent5"/>
          </a:solidFill>
          <a:ln w="12700">
            <a:solidFill>
              <a:srgbClr val="2E7D4F"/>
            </a:solidFill>
            <a:prstDash val="solid"/>
          </a:ln>
        </p:spPr>
      </p:sp>
      <p:sp>
        <p:nvSpPr>
          <p:cNvPr id="8" name="Text 6"/>
          <p:cNvSpPr txBox="1"/>
          <p:nvPr/>
        </p:nvSpPr>
        <p:spPr>
          <a:xfrm>
            <a:off x="548640" y="294843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9" name="Text 7"/>
          <p:cNvSpPr txBox="1"/>
          <p:nvPr/>
        </p:nvSpPr>
        <p:spPr>
          <a:xfrm>
            <a:off x="1051560" y="2902712"/>
            <a:ext cx="5190579" cy="589280"/>
          </a:xfrm>
          <a:prstGeom prst="rect">
            <a:avLst/>
          </a:prstGeom>
          <a:noFill/>
          <a:ln/>
        </p:spPr>
        <p:txBody>
          <a:bodyPr wrap="square" lIns="0" tIns="0" rIns="0" bIns="0" rtlCol="0" anchor="t"/>
          <a:lstStyle/>
          <a:p>
            <a:pPr indent="0" marL="0">
              <a:buNone/>
            </a:pPr>
            <a:r>
              <a:rPr lang="en-US" sz="1600" dirty="0">
                <a:solidFill>
                  <a:schemeClr val="tx1"/>
                </a:solidFill>
              </a:rPr>
              <a:t>Os campos Para, Cc e Bcc definem quem recebe a mensagem.</a:t>
            </a:r>
            <a:endParaRPr lang="en-US" sz="1600" dirty="0"/>
          </a:p>
        </p:txBody>
      </p:sp>
      <p:sp>
        <p:nvSpPr>
          <p:cNvPr id="10" name="Shape 8"/>
          <p:cNvSpPr/>
          <p:nvPr/>
        </p:nvSpPr>
        <p:spPr>
          <a:xfrm>
            <a:off x="548640" y="3702304"/>
            <a:ext cx="329184" cy="329184"/>
          </a:xfrm>
          <a:prstGeom prst="ellipse">
            <a:avLst/>
          </a:prstGeom>
          <a:solidFill>
            <a:schemeClr val="accent5"/>
          </a:solidFill>
          <a:ln w="12700">
            <a:solidFill>
              <a:srgbClr val="2E7D4F"/>
            </a:solidFill>
            <a:prstDash val="solid"/>
          </a:ln>
        </p:spPr>
      </p:sp>
      <p:sp>
        <p:nvSpPr>
          <p:cNvPr id="11" name="Text 9"/>
          <p:cNvSpPr txBox="1"/>
          <p:nvPr/>
        </p:nvSpPr>
        <p:spPr>
          <a:xfrm>
            <a:off x="548640" y="3702304"/>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2" name="Text 10"/>
          <p:cNvSpPr txBox="1"/>
          <p:nvPr/>
        </p:nvSpPr>
        <p:spPr>
          <a:xfrm>
            <a:off x="1051560" y="3656584"/>
            <a:ext cx="5190579" cy="589280"/>
          </a:xfrm>
          <a:prstGeom prst="rect">
            <a:avLst/>
          </a:prstGeom>
          <a:noFill/>
          <a:ln/>
        </p:spPr>
        <p:txBody>
          <a:bodyPr wrap="square" lIns="0" tIns="0" rIns="0" bIns="0" rtlCol="0" anchor="t"/>
          <a:lstStyle/>
          <a:p>
            <a:pPr indent="0" marL="0">
              <a:buNone/>
            </a:pPr>
            <a:r>
              <a:rPr lang="en-US" sz="1600" dirty="0">
                <a:solidFill>
                  <a:schemeClr val="tx1"/>
                </a:solidFill>
              </a:rPr>
              <a:t>Um assunto claro resume o conteúdo da mensagem.</a:t>
            </a:r>
            <a:endParaRPr lang="en-US" sz="1600" dirty="0"/>
          </a:p>
        </p:txBody>
      </p:sp>
      <p:sp>
        <p:nvSpPr>
          <p:cNvPr id="13" name="Shape 11"/>
          <p:cNvSpPr/>
          <p:nvPr/>
        </p:nvSpPr>
        <p:spPr>
          <a:xfrm>
            <a:off x="548640" y="4456176"/>
            <a:ext cx="329184" cy="329184"/>
          </a:xfrm>
          <a:prstGeom prst="ellipse">
            <a:avLst/>
          </a:prstGeom>
          <a:solidFill>
            <a:schemeClr val="accent5"/>
          </a:solidFill>
          <a:ln w="12700">
            <a:solidFill>
              <a:srgbClr val="2E7D4F"/>
            </a:solidFill>
            <a:prstDash val="solid"/>
          </a:ln>
        </p:spPr>
      </p:sp>
      <p:sp>
        <p:nvSpPr>
          <p:cNvPr id="14" name="Text 12"/>
          <p:cNvSpPr txBox="1"/>
          <p:nvPr/>
        </p:nvSpPr>
        <p:spPr>
          <a:xfrm>
            <a:off x="548640" y="4456176"/>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5" name="Text 13"/>
          <p:cNvSpPr txBox="1"/>
          <p:nvPr/>
        </p:nvSpPr>
        <p:spPr>
          <a:xfrm>
            <a:off x="1051560" y="4410456"/>
            <a:ext cx="5190579" cy="589280"/>
          </a:xfrm>
          <a:prstGeom prst="rect">
            <a:avLst/>
          </a:prstGeom>
          <a:noFill/>
          <a:ln/>
        </p:spPr>
        <p:txBody>
          <a:bodyPr wrap="square" lIns="0" tIns="0" rIns="0" bIns="0" rtlCol="0" anchor="t"/>
          <a:lstStyle/>
          <a:p>
            <a:pPr indent="0" marL="0">
              <a:buNone/>
            </a:pPr>
            <a:r>
              <a:rPr lang="en-US" sz="1600" dirty="0">
                <a:solidFill>
                  <a:schemeClr val="tx1"/>
                </a:solidFill>
              </a:rPr>
              <a:t>Parágrafos curtos e listas tornam a mensagem fácil de ler.</a:t>
            </a:r>
            <a:endParaRPr lang="en-US" sz="1600" dirty="0"/>
          </a:p>
        </p:txBody>
      </p:sp>
      <p:sp>
        <p:nvSpPr>
          <p:cNvPr id="16" name="Shape 14"/>
          <p:cNvSpPr/>
          <p:nvPr/>
        </p:nvSpPr>
        <p:spPr>
          <a:xfrm>
            <a:off x="548640" y="5210048"/>
            <a:ext cx="329184" cy="329184"/>
          </a:xfrm>
          <a:prstGeom prst="ellipse">
            <a:avLst/>
          </a:prstGeom>
          <a:solidFill>
            <a:schemeClr val="accent5"/>
          </a:solidFill>
          <a:ln w="12700">
            <a:solidFill>
              <a:srgbClr val="2E7D4F"/>
            </a:solidFill>
            <a:prstDash val="solid"/>
          </a:ln>
        </p:spPr>
      </p:sp>
      <p:sp>
        <p:nvSpPr>
          <p:cNvPr id="17" name="Text 15"/>
          <p:cNvSpPr txBox="1"/>
          <p:nvPr/>
        </p:nvSpPr>
        <p:spPr>
          <a:xfrm>
            <a:off x="548640" y="521004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8" name="Text 16"/>
          <p:cNvSpPr txBox="1"/>
          <p:nvPr/>
        </p:nvSpPr>
        <p:spPr>
          <a:xfrm>
            <a:off x="1051560" y="5164328"/>
            <a:ext cx="5190579" cy="589280"/>
          </a:xfrm>
          <a:prstGeom prst="rect">
            <a:avLst/>
          </a:prstGeom>
          <a:noFill/>
          <a:ln/>
        </p:spPr>
        <p:txBody>
          <a:bodyPr wrap="square" lIns="0" tIns="0" rIns="0" bIns="0" rtlCol="0" anchor="t"/>
          <a:lstStyle/>
          <a:p>
            <a:pPr indent="0" marL="0">
              <a:buNone/>
            </a:pPr>
            <a:r>
              <a:rPr lang="en-US" sz="1600" dirty="0">
                <a:solidFill>
                  <a:schemeClr val="tx1"/>
                </a:solidFill>
              </a:rPr>
              <a:t>Reveja sempre os destinatários e o texto antes de enviar.</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Exercício prático: Mensagem de convite</a:t>
            </a:r>
            <a:endParaRPr lang="en-US" sz="3000" dirty="0"/>
          </a:p>
        </p:txBody>
      </p:sp>
      <p:sp>
        <p:nvSpPr>
          <p:cNvPr id="3" name="Shape 1"/>
          <p:cNvSpPr/>
          <p:nvPr/>
        </p:nvSpPr>
        <p:spPr>
          <a:xfrm>
            <a:off x="548640" y="1371600"/>
            <a:ext cx="3108960" cy="4754880"/>
          </a:xfrm>
          <a:prstGeom prst="roundRect">
            <a:avLst>
              <a:gd name="adj" fmla="val 4412"/>
            </a:avLst>
          </a:prstGeom>
          <a:solidFill>
            <a:srgbClr val="F2F4F7"/>
          </a:solidFill>
          <a:ln w="12700">
            <a:solidFill>
              <a:srgbClr val="F2F4F7"/>
            </a:solidFill>
            <a:prstDash val="solid"/>
          </a:ln>
        </p:spPr>
      </p:sp>
      <p:sp>
        <p:nvSpPr>
          <p:cNvPr id="4" name="Text 2"/>
          <p:cNvSpPr txBox="1"/>
          <p:nvPr/>
        </p:nvSpPr>
        <p:spPr>
          <a:xfrm>
            <a:off x="548640" y="1600200"/>
            <a:ext cx="3108960" cy="1005840"/>
          </a:xfrm>
          <a:prstGeom prst="rect">
            <a:avLst/>
          </a:prstGeom>
          <a:noFill/>
          <a:ln/>
        </p:spPr>
        <p:txBody>
          <a:bodyPr wrap="square" lIns="0" tIns="0" rIns="0" bIns="0" rtlCol="0" anchor="ctr"/>
          <a:lstStyle/>
          <a:p>
            <a:pPr algn="ctr" indent="0" marL="0">
              <a:buNone/>
            </a:pPr>
            <a:r>
              <a:rPr lang="en-US" sz="6000" b="1" dirty="0">
                <a:solidFill>
                  <a:schemeClr val="accent1"/>
                </a:solidFill>
                <a:latin typeface="Cambria" pitchFamily="34" charset="0"/>
                <a:ea typeface="Cambria" pitchFamily="34" charset="-122"/>
                <a:cs typeface="Cambria" pitchFamily="34" charset="-120"/>
              </a:rPr>
              <a:t>15</a:t>
            </a:r>
            <a:endParaRPr lang="en-US" sz="6000" dirty="0"/>
          </a:p>
        </p:txBody>
      </p:sp>
      <p:sp>
        <p:nvSpPr>
          <p:cNvPr id="5" name="Text 3"/>
          <p:cNvSpPr txBox="1"/>
          <p:nvPr/>
        </p:nvSpPr>
        <p:spPr>
          <a:xfrm>
            <a:off x="548640" y="2606040"/>
            <a:ext cx="3108960" cy="365760"/>
          </a:xfrm>
          <a:prstGeom prst="rect">
            <a:avLst/>
          </a:prstGeom>
          <a:noFill/>
          <a:ln/>
        </p:spPr>
        <p:txBody>
          <a:bodyPr wrap="square" lIns="0" tIns="0" rIns="0" bIns="0" rtlCol="0" anchor="ctr"/>
          <a:lstStyle/>
          <a:p>
            <a:pPr algn="ctr" indent="0" marL="0">
              <a:buNone/>
            </a:pPr>
            <a:r>
              <a:rPr lang="en-US" sz="1600" dirty="0">
                <a:solidFill>
                  <a:schemeClr val="tx1"/>
                </a:solidFill>
              </a:rPr>
              <a:t>minutos</a:t>
            </a:r>
            <a:endParaRPr lang="en-US" sz="1600" dirty="0"/>
          </a:p>
        </p:txBody>
      </p:sp>
      <p:sp>
        <p:nvSpPr>
          <p:cNvPr id="6" name="Text 4"/>
          <p:cNvSpPr txBox="1"/>
          <p:nvPr/>
        </p:nvSpPr>
        <p:spPr>
          <a:xfrm>
            <a:off x="777240" y="3154680"/>
            <a:ext cx="2651760" cy="914400"/>
          </a:xfrm>
          <a:prstGeom prst="rect">
            <a:avLst/>
          </a:prstGeom>
          <a:noFill/>
          <a:ln/>
        </p:spPr>
        <p:txBody>
          <a:bodyPr wrap="square" lIns="0" tIns="0" rIns="0" bIns="0" rtlCol="0" anchor="t"/>
          <a:lstStyle/>
          <a:p>
            <a:pPr algn="ctr" indent="0" marL="0">
              <a:buNone/>
            </a:pPr>
            <a:r>
              <a:rPr lang="en-US" sz="1400" dirty="0">
                <a:solidFill>
                  <a:schemeClr val="tx1"/>
                </a:solidFill>
              </a:rPr>
              <a:t>Crie uma nova mensagem no Microsoft Outlook</a:t>
            </a:r>
            <a:endParaRPr lang="en-US" sz="1400" dirty="0"/>
          </a:p>
        </p:txBody>
      </p:sp>
      <p:pic>
        <p:nvPicPr>
          <p:cNvPr id="7" name="Image 0" descr="Miguel, guia virtual ATC">    </p:cNvPr>
          <p:cNvPicPr>
            <a:picLocks noChangeAspect="1"/>
          </p:cNvPicPr>
          <p:nvPr/>
        </p:nvPicPr>
        <p:blipFill>
          <a:blip r:embed="rId1"/>
          <a:stretch>
            <a:fillRect/>
          </a:stretch>
        </p:blipFill>
        <p:spPr>
          <a:xfrm>
            <a:off x="1417320" y="4251960"/>
            <a:ext cx="1371600" cy="1371600"/>
          </a:xfrm>
          <a:prstGeom prst="rect">
            <a:avLst/>
          </a:prstGeom>
        </p:spPr>
      </p:pic>
      <p:sp>
        <p:nvSpPr>
          <p:cNvPr id="8" name="Text 5"/>
          <p:cNvSpPr txBox="1"/>
          <p:nvPr/>
        </p:nvSpPr>
        <p:spPr>
          <a:xfrm>
            <a:off x="548640" y="5669280"/>
            <a:ext cx="3108960" cy="320040"/>
          </a:xfrm>
          <a:prstGeom prst="rect">
            <a:avLst/>
          </a:prstGeom>
          <a:noFill/>
          <a:ln/>
        </p:spPr>
        <p:txBody>
          <a:bodyPr wrap="square" lIns="0" tIns="0" rIns="0" bIns="0" rtlCol="0" anchor="ctr"/>
          <a:lstStyle/>
          <a:p>
            <a:pPr algn="ctr" indent="0" marL="0">
              <a:buNone/>
            </a:pPr>
            <a:r>
              <a:rPr lang="en-US" sz="1200" dirty="0">
                <a:solidFill>
                  <a:schemeClr val="accent4"/>
                </a:solidFill>
              </a:rPr>
              <a:t>Prática com o Miguel</a:t>
            </a:r>
            <a:endParaRPr lang="en-US" sz="1200" dirty="0"/>
          </a:p>
        </p:txBody>
      </p:sp>
      <p:sp>
        <p:nvSpPr>
          <p:cNvPr id="9" name="Shape 6"/>
          <p:cNvSpPr/>
          <p:nvPr/>
        </p:nvSpPr>
        <p:spPr>
          <a:xfrm>
            <a:off x="4069080" y="1435608"/>
            <a:ext cx="347472" cy="347472"/>
          </a:xfrm>
          <a:prstGeom prst="ellipse">
            <a:avLst/>
          </a:prstGeom>
          <a:solidFill>
            <a:schemeClr val="accent2"/>
          </a:solidFill>
          <a:ln w="12700">
            <a:solidFill>
              <a:schemeClr val="accent2"/>
            </a:solidFill>
            <a:prstDash val="solid"/>
          </a:ln>
        </p:spPr>
      </p:sp>
      <p:sp>
        <p:nvSpPr>
          <p:cNvPr id="10" name="Text 7"/>
          <p:cNvSpPr txBox="1"/>
          <p:nvPr/>
        </p:nvSpPr>
        <p:spPr>
          <a:xfrm>
            <a:off x="4069080" y="14356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1" name="Text 8"/>
          <p:cNvSpPr txBox="1"/>
          <p:nvPr/>
        </p:nvSpPr>
        <p:spPr>
          <a:xfrm>
            <a:off x="4572000" y="1417320"/>
            <a:ext cx="7086600" cy="384048"/>
          </a:xfrm>
          <a:prstGeom prst="rect">
            <a:avLst/>
          </a:prstGeom>
          <a:noFill/>
          <a:ln/>
        </p:spPr>
        <p:txBody>
          <a:bodyPr wrap="square" lIns="0" tIns="0" rIns="0" bIns="0" rtlCol="0" anchor="t"/>
          <a:lstStyle/>
          <a:p>
            <a:pPr indent="0" marL="0">
              <a:buNone/>
            </a:pPr>
            <a:r>
              <a:rPr lang="en-US" sz="1600" dirty="0">
                <a:solidFill>
                  <a:schemeClr val="tx1"/>
                </a:solidFill>
              </a:rPr>
              <a:t>Abra uma mensagem nova e deixe o campo </a:t>
            </a:r>
            <a:pPr indent="0" marL="0">
              <a:buNone/>
            </a:pPr>
            <a:r>
              <a:rPr lang="en-US" sz="1600" b="1" dirty="0">
                <a:solidFill>
                  <a:schemeClr val="tx1"/>
                </a:solidFill>
              </a:rPr>
              <a:t>Para</a:t>
            </a:r>
            <a:pPr indent="0" marL="0">
              <a:buNone/>
            </a:pPr>
            <a:r>
              <a:rPr lang="en-US" sz="1600" dirty="0">
                <a:solidFill>
                  <a:schemeClr val="tx1"/>
                </a:solidFill>
              </a:rPr>
              <a:t> vazio.</a:t>
            </a:r>
            <a:endParaRPr lang="en-US" sz="1600" dirty="0"/>
          </a:p>
        </p:txBody>
      </p:sp>
      <p:sp>
        <p:nvSpPr>
          <p:cNvPr id="12" name="Shape 9"/>
          <p:cNvSpPr/>
          <p:nvPr/>
        </p:nvSpPr>
        <p:spPr>
          <a:xfrm>
            <a:off x="4069080" y="1947672"/>
            <a:ext cx="347472" cy="347472"/>
          </a:xfrm>
          <a:prstGeom prst="ellipse">
            <a:avLst/>
          </a:prstGeom>
          <a:solidFill>
            <a:schemeClr val="accent2"/>
          </a:solidFill>
          <a:ln w="12700">
            <a:solidFill>
              <a:schemeClr val="accent2"/>
            </a:solidFill>
            <a:prstDash val="solid"/>
          </a:ln>
        </p:spPr>
      </p:sp>
      <p:sp>
        <p:nvSpPr>
          <p:cNvPr id="13" name="Text 10"/>
          <p:cNvSpPr txBox="1"/>
          <p:nvPr/>
        </p:nvSpPr>
        <p:spPr>
          <a:xfrm>
            <a:off x="4069080" y="194767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Text 11"/>
          <p:cNvSpPr txBox="1"/>
          <p:nvPr/>
        </p:nvSpPr>
        <p:spPr>
          <a:xfrm>
            <a:off x="4572000" y="1929384"/>
            <a:ext cx="7086600" cy="384048"/>
          </a:xfrm>
          <a:prstGeom prst="rect">
            <a:avLst/>
          </a:prstGeom>
          <a:noFill/>
          <a:ln/>
        </p:spPr>
        <p:txBody>
          <a:bodyPr wrap="square" lIns="0" tIns="0" rIns="0" bIns="0" rtlCol="0" anchor="t"/>
          <a:lstStyle/>
          <a:p>
            <a:pPr indent="0" marL="0">
              <a:buNone/>
            </a:pPr>
            <a:r>
              <a:rPr lang="en-US" sz="1600" dirty="0">
                <a:solidFill>
                  <a:schemeClr val="tx1"/>
                </a:solidFill>
              </a:rPr>
              <a:t>Escreva o assunto </a:t>
            </a:r>
            <a:pPr indent="0" marL="0">
              <a:buNone/>
            </a:pPr>
            <a:r>
              <a:rPr lang="en-US" sz="1600" b="1" dirty="0">
                <a:solidFill>
                  <a:schemeClr val="tx1"/>
                </a:solidFill>
              </a:rPr>
              <a:t>ATC — Formação Outlook</a:t>
            </a:r>
            <a:pPr indent="0" marL="0">
              <a:buNone/>
            </a:pPr>
            <a:r>
              <a:rPr lang="en-US" sz="1600" dirty="0">
                <a:solidFill>
                  <a:schemeClr val="tx1"/>
                </a:solidFill>
              </a:rPr>
              <a:t>.</a:t>
            </a:r>
            <a:endParaRPr lang="en-US" sz="1600" dirty="0"/>
          </a:p>
        </p:txBody>
      </p:sp>
      <p:sp>
        <p:nvSpPr>
          <p:cNvPr id="15" name="Shape 12"/>
          <p:cNvSpPr/>
          <p:nvPr/>
        </p:nvSpPr>
        <p:spPr>
          <a:xfrm>
            <a:off x="4069080" y="2459736"/>
            <a:ext cx="347472" cy="347472"/>
          </a:xfrm>
          <a:prstGeom prst="ellipse">
            <a:avLst/>
          </a:prstGeom>
          <a:solidFill>
            <a:schemeClr val="accent2"/>
          </a:solidFill>
          <a:ln w="12700">
            <a:solidFill>
              <a:schemeClr val="accent2"/>
            </a:solidFill>
            <a:prstDash val="solid"/>
          </a:ln>
        </p:spPr>
      </p:sp>
      <p:sp>
        <p:nvSpPr>
          <p:cNvPr id="16" name="Text 13"/>
          <p:cNvSpPr txBox="1"/>
          <p:nvPr/>
        </p:nvSpPr>
        <p:spPr>
          <a:xfrm>
            <a:off x="4069080" y="2459736"/>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7" name="Text 14"/>
          <p:cNvSpPr txBox="1"/>
          <p:nvPr/>
        </p:nvSpPr>
        <p:spPr>
          <a:xfrm>
            <a:off x="4572000" y="2441448"/>
            <a:ext cx="7086600" cy="534416"/>
          </a:xfrm>
          <a:prstGeom prst="rect">
            <a:avLst/>
          </a:prstGeom>
          <a:noFill/>
          <a:ln/>
        </p:spPr>
        <p:txBody>
          <a:bodyPr wrap="square" lIns="0" tIns="0" rIns="0" bIns="0" rtlCol="0" anchor="t"/>
          <a:lstStyle/>
          <a:p>
            <a:pPr indent="0" marL="0">
              <a:buNone/>
            </a:pPr>
            <a:r>
              <a:rPr lang="en-US" sz="1600" dirty="0">
                <a:solidFill>
                  <a:schemeClr val="tx1"/>
                </a:solidFill>
              </a:rPr>
              <a:t>Escreva a saudação, uma frase de contexto e a despedida com o seu nome.</a:t>
            </a:r>
            <a:endParaRPr lang="en-US" sz="1600" dirty="0"/>
          </a:p>
        </p:txBody>
      </p:sp>
      <p:sp>
        <p:nvSpPr>
          <p:cNvPr id="18" name="Shape 15"/>
          <p:cNvSpPr/>
          <p:nvPr/>
        </p:nvSpPr>
        <p:spPr>
          <a:xfrm>
            <a:off x="4069080" y="3122168"/>
            <a:ext cx="347472" cy="347472"/>
          </a:xfrm>
          <a:prstGeom prst="ellipse">
            <a:avLst/>
          </a:prstGeom>
          <a:solidFill>
            <a:schemeClr val="accent2"/>
          </a:solidFill>
          <a:ln w="12700">
            <a:solidFill>
              <a:schemeClr val="accent2"/>
            </a:solidFill>
            <a:prstDash val="solid"/>
          </a:ln>
        </p:spPr>
      </p:sp>
      <p:sp>
        <p:nvSpPr>
          <p:cNvPr id="19" name="Text 16"/>
          <p:cNvSpPr txBox="1"/>
          <p:nvPr/>
        </p:nvSpPr>
        <p:spPr>
          <a:xfrm>
            <a:off x="4069080" y="312216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Text 17"/>
          <p:cNvSpPr txBox="1"/>
          <p:nvPr/>
        </p:nvSpPr>
        <p:spPr>
          <a:xfrm>
            <a:off x="4572000" y="3103880"/>
            <a:ext cx="7086600" cy="384048"/>
          </a:xfrm>
          <a:prstGeom prst="rect">
            <a:avLst/>
          </a:prstGeom>
          <a:noFill/>
          <a:ln/>
        </p:spPr>
        <p:txBody>
          <a:bodyPr wrap="square" lIns="0" tIns="0" rIns="0" bIns="0" rtlCol="0" anchor="t"/>
          <a:lstStyle/>
          <a:p>
            <a:pPr indent="0" marL="0">
              <a:buNone/>
            </a:pPr>
            <a:r>
              <a:rPr lang="en-US" sz="1600" dirty="0">
                <a:solidFill>
                  <a:schemeClr val="tx1"/>
                </a:solidFill>
              </a:rPr>
              <a:t>Crie uma lista com três objetivos.</a:t>
            </a:r>
            <a:endParaRPr lang="en-US" sz="1600" dirty="0"/>
          </a:p>
        </p:txBody>
      </p:sp>
      <p:sp>
        <p:nvSpPr>
          <p:cNvPr id="21" name="Shape 18"/>
          <p:cNvSpPr/>
          <p:nvPr/>
        </p:nvSpPr>
        <p:spPr>
          <a:xfrm>
            <a:off x="4069080" y="3634232"/>
            <a:ext cx="347472" cy="347472"/>
          </a:xfrm>
          <a:prstGeom prst="ellipse">
            <a:avLst/>
          </a:prstGeom>
          <a:solidFill>
            <a:schemeClr val="accent2"/>
          </a:solidFill>
          <a:ln w="12700">
            <a:solidFill>
              <a:schemeClr val="accent2"/>
            </a:solidFill>
            <a:prstDash val="solid"/>
          </a:ln>
        </p:spPr>
      </p:sp>
      <p:sp>
        <p:nvSpPr>
          <p:cNvPr id="22" name="Text 19"/>
          <p:cNvSpPr txBox="1"/>
          <p:nvPr/>
        </p:nvSpPr>
        <p:spPr>
          <a:xfrm>
            <a:off x="4069080" y="363423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3" name="Text 20"/>
          <p:cNvSpPr txBox="1"/>
          <p:nvPr/>
        </p:nvSpPr>
        <p:spPr>
          <a:xfrm>
            <a:off x="4572000" y="3615944"/>
            <a:ext cx="7086600" cy="384048"/>
          </a:xfrm>
          <a:prstGeom prst="rect">
            <a:avLst/>
          </a:prstGeom>
          <a:noFill/>
          <a:ln/>
        </p:spPr>
        <p:txBody>
          <a:bodyPr wrap="square" lIns="0" tIns="0" rIns="0" bIns="0" rtlCol="0" anchor="t"/>
          <a:lstStyle/>
          <a:p>
            <a:pPr indent="0" marL="0">
              <a:buNone/>
            </a:pPr>
            <a:r>
              <a:rPr lang="en-US" sz="1600" dirty="0">
                <a:solidFill>
                  <a:schemeClr val="tx1"/>
                </a:solidFill>
              </a:rPr>
              <a:t>Aplique negrito ao título da lista e itálico à última frase.</a:t>
            </a:r>
            <a:endParaRPr lang="en-US" sz="1600" dirty="0"/>
          </a:p>
        </p:txBody>
      </p:sp>
      <p:sp>
        <p:nvSpPr>
          <p:cNvPr id="24" name="Shape 21"/>
          <p:cNvSpPr/>
          <p:nvPr/>
        </p:nvSpPr>
        <p:spPr>
          <a:xfrm>
            <a:off x="4069080" y="4146296"/>
            <a:ext cx="347472" cy="347472"/>
          </a:xfrm>
          <a:prstGeom prst="ellipse">
            <a:avLst/>
          </a:prstGeom>
          <a:solidFill>
            <a:schemeClr val="accent2"/>
          </a:solidFill>
          <a:ln w="12700">
            <a:solidFill>
              <a:schemeClr val="accent2"/>
            </a:solidFill>
            <a:prstDash val="solid"/>
          </a:ln>
        </p:spPr>
      </p:sp>
      <p:sp>
        <p:nvSpPr>
          <p:cNvPr id="25" name="Text 22"/>
          <p:cNvSpPr txBox="1"/>
          <p:nvPr/>
        </p:nvSpPr>
        <p:spPr>
          <a:xfrm>
            <a:off x="4069080" y="4146296"/>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6" name="Text 23"/>
          <p:cNvSpPr txBox="1"/>
          <p:nvPr/>
        </p:nvSpPr>
        <p:spPr>
          <a:xfrm>
            <a:off x="4572000" y="4128008"/>
            <a:ext cx="7086600" cy="384048"/>
          </a:xfrm>
          <a:prstGeom prst="rect">
            <a:avLst/>
          </a:prstGeom>
          <a:noFill/>
          <a:ln/>
        </p:spPr>
        <p:txBody>
          <a:bodyPr wrap="square" lIns="0" tIns="0" rIns="0" bIns="0" rtlCol="0" anchor="t"/>
          <a:lstStyle/>
          <a:p>
            <a:pPr indent="0" marL="0">
              <a:buNone/>
            </a:pPr>
            <a:r>
              <a:rPr lang="en-US" sz="1600" dirty="0">
                <a:solidFill>
                  <a:schemeClr val="tx1"/>
                </a:solidFill>
              </a:rPr>
              <a:t>Reveja a mensagem e guarde-a como rascunho, sem a enviar.</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Glossário</a:t>
            </a:r>
            <a:endParaRPr lang="en-US" sz="3000" dirty="0"/>
          </a:p>
        </p:txBody>
      </p:sp>
      <p:sp>
        <p:nvSpPr>
          <p:cNvPr id="3" name="Shape 1"/>
          <p:cNvSpPr/>
          <p:nvPr/>
        </p:nvSpPr>
        <p:spPr>
          <a:xfrm>
            <a:off x="548640" y="1371600"/>
            <a:ext cx="3505200" cy="2240280"/>
          </a:xfrm>
          <a:prstGeom prst="roundRect">
            <a:avLst>
              <a:gd name="adj" fmla="val 4082"/>
            </a:avLst>
          </a:prstGeom>
          <a:solidFill>
            <a:srgbClr val="F2F4F7"/>
          </a:solidFill>
          <a:ln w="12700">
            <a:solidFill>
              <a:srgbClr val="F2F4F7"/>
            </a:solidFill>
            <a:prstDash val="solid"/>
          </a:ln>
        </p:spPr>
      </p:sp>
      <p:sp>
        <p:nvSpPr>
          <p:cNvPr id="4" name="Text 2"/>
          <p:cNvSpPr txBox="1"/>
          <p:nvPr/>
        </p:nvSpPr>
        <p:spPr>
          <a:xfrm>
            <a:off x="822960" y="1600200"/>
            <a:ext cx="2956560" cy="45720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Assunto</a:t>
            </a:r>
            <a:endParaRPr lang="en-US" sz="2000" dirty="0"/>
          </a:p>
        </p:txBody>
      </p:sp>
      <p:sp>
        <p:nvSpPr>
          <p:cNvPr id="5" name="Text 3"/>
          <p:cNvSpPr txBox="1"/>
          <p:nvPr/>
        </p:nvSpPr>
        <p:spPr>
          <a:xfrm>
            <a:off x="822960" y="2148840"/>
            <a:ext cx="2956560" cy="1280160"/>
          </a:xfrm>
          <a:prstGeom prst="rect">
            <a:avLst/>
          </a:prstGeom>
          <a:noFill/>
          <a:ln/>
        </p:spPr>
        <p:txBody>
          <a:bodyPr wrap="square" lIns="0" tIns="0" rIns="0" bIns="0" rtlCol="0" anchor="t"/>
          <a:lstStyle/>
          <a:p>
            <a:pPr indent="0" marL="0">
              <a:buNone/>
            </a:pPr>
            <a:r>
              <a:rPr lang="en-US" sz="1500" dirty="0">
                <a:solidFill>
                  <a:schemeClr val="tx1"/>
                </a:solidFill>
              </a:rPr>
              <a:t>Resumo curto do conteúdo da mensagem.</a:t>
            </a:r>
            <a:endParaRPr lang="en-US" sz="1500" dirty="0"/>
          </a:p>
        </p:txBody>
      </p:sp>
      <p:sp>
        <p:nvSpPr>
          <p:cNvPr id="6" name="Shape 4"/>
          <p:cNvSpPr/>
          <p:nvPr/>
        </p:nvSpPr>
        <p:spPr>
          <a:xfrm>
            <a:off x="4328160" y="1371600"/>
            <a:ext cx="3505200" cy="2240280"/>
          </a:xfrm>
          <a:prstGeom prst="roundRect">
            <a:avLst>
              <a:gd name="adj" fmla="val 4082"/>
            </a:avLst>
          </a:prstGeom>
          <a:solidFill>
            <a:srgbClr val="F2F4F7"/>
          </a:solidFill>
          <a:ln w="12700">
            <a:solidFill>
              <a:srgbClr val="F2F4F7"/>
            </a:solidFill>
            <a:prstDash val="solid"/>
          </a:ln>
        </p:spPr>
      </p:sp>
      <p:sp>
        <p:nvSpPr>
          <p:cNvPr id="7" name="Text 5"/>
          <p:cNvSpPr txBox="1"/>
          <p:nvPr/>
        </p:nvSpPr>
        <p:spPr>
          <a:xfrm>
            <a:off x="4602480" y="1600200"/>
            <a:ext cx="2956560" cy="45720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Bcc</a:t>
            </a:r>
            <a:endParaRPr lang="en-US" sz="2000" dirty="0"/>
          </a:p>
        </p:txBody>
      </p:sp>
      <p:sp>
        <p:nvSpPr>
          <p:cNvPr id="8" name="Text 6"/>
          <p:cNvSpPr txBox="1"/>
          <p:nvPr/>
        </p:nvSpPr>
        <p:spPr>
          <a:xfrm>
            <a:off x="4602480" y="2148840"/>
            <a:ext cx="2956560" cy="1280160"/>
          </a:xfrm>
          <a:prstGeom prst="rect">
            <a:avLst/>
          </a:prstGeom>
          <a:noFill/>
          <a:ln/>
        </p:spPr>
        <p:txBody>
          <a:bodyPr wrap="square" lIns="0" tIns="0" rIns="0" bIns="0" rtlCol="0" anchor="t"/>
          <a:lstStyle/>
          <a:p>
            <a:pPr indent="0" marL="0">
              <a:buNone/>
            </a:pPr>
            <a:r>
              <a:rPr lang="en-US" sz="1500" dirty="0">
                <a:solidFill>
                  <a:schemeClr val="tx1"/>
                </a:solidFill>
              </a:rPr>
              <a:t>Cópia oculta: os outros destinatários não veem este endereço.</a:t>
            </a:r>
            <a:endParaRPr lang="en-US" sz="1500" dirty="0"/>
          </a:p>
        </p:txBody>
      </p:sp>
      <p:sp>
        <p:nvSpPr>
          <p:cNvPr id="9" name="Shape 7"/>
          <p:cNvSpPr/>
          <p:nvPr/>
        </p:nvSpPr>
        <p:spPr>
          <a:xfrm>
            <a:off x="8107680" y="1371600"/>
            <a:ext cx="3505200" cy="2240280"/>
          </a:xfrm>
          <a:prstGeom prst="roundRect">
            <a:avLst>
              <a:gd name="adj" fmla="val 4082"/>
            </a:avLst>
          </a:prstGeom>
          <a:solidFill>
            <a:srgbClr val="F2F4F7"/>
          </a:solidFill>
          <a:ln w="12700">
            <a:solidFill>
              <a:srgbClr val="F2F4F7"/>
            </a:solidFill>
            <a:prstDash val="solid"/>
          </a:ln>
        </p:spPr>
      </p:sp>
      <p:sp>
        <p:nvSpPr>
          <p:cNvPr id="10" name="Text 8"/>
          <p:cNvSpPr txBox="1"/>
          <p:nvPr/>
        </p:nvSpPr>
        <p:spPr>
          <a:xfrm>
            <a:off x="8382000" y="1600200"/>
            <a:ext cx="2956560" cy="45720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Cc</a:t>
            </a:r>
            <a:endParaRPr lang="en-US" sz="2000" dirty="0"/>
          </a:p>
        </p:txBody>
      </p:sp>
      <p:sp>
        <p:nvSpPr>
          <p:cNvPr id="11" name="Text 9"/>
          <p:cNvSpPr txBox="1"/>
          <p:nvPr/>
        </p:nvSpPr>
        <p:spPr>
          <a:xfrm>
            <a:off x="8382000" y="2148840"/>
            <a:ext cx="2956560" cy="1280160"/>
          </a:xfrm>
          <a:prstGeom prst="rect">
            <a:avLst/>
          </a:prstGeom>
          <a:noFill/>
          <a:ln/>
        </p:spPr>
        <p:txBody>
          <a:bodyPr wrap="square" lIns="0" tIns="0" rIns="0" bIns="0" rtlCol="0" anchor="t"/>
          <a:lstStyle/>
          <a:p>
            <a:pPr indent="0" marL="0">
              <a:buNone/>
            </a:pPr>
            <a:r>
              <a:rPr lang="en-US" sz="1500" dirty="0">
                <a:solidFill>
                  <a:schemeClr val="tx1"/>
                </a:solidFill>
              </a:rPr>
              <a:t>Cópia: pessoas que recebem a mensagem a título informativo.</a:t>
            </a:r>
            <a:endParaRPr lang="en-US" sz="1500" dirty="0"/>
          </a:p>
        </p:txBody>
      </p:sp>
      <p:sp>
        <p:nvSpPr>
          <p:cNvPr id="12" name="Shape 10"/>
          <p:cNvSpPr/>
          <p:nvPr/>
        </p:nvSpPr>
        <p:spPr>
          <a:xfrm>
            <a:off x="548640" y="3886200"/>
            <a:ext cx="3505200" cy="2240280"/>
          </a:xfrm>
          <a:prstGeom prst="roundRect">
            <a:avLst>
              <a:gd name="adj" fmla="val 4082"/>
            </a:avLst>
          </a:prstGeom>
          <a:solidFill>
            <a:srgbClr val="F2F4F7"/>
          </a:solidFill>
          <a:ln w="12700">
            <a:solidFill>
              <a:srgbClr val="F2F4F7"/>
            </a:solidFill>
            <a:prstDash val="solid"/>
          </a:ln>
        </p:spPr>
      </p:sp>
      <p:sp>
        <p:nvSpPr>
          <p:cNvPr id="13" name="Text 11"/>
          <p:cNvSpPr txBox="1"/>
          <p:nvPr/>
        </p:nvSpPr>
        <p:spPr>
          <a:xfrm>
            <a:off x="822960" y="4114800"/>
            <a:ext cx="2956560" cy="45720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Destinatário</a:t>
            </a:r>
            <a:endParaRPr lang="en-US" sz="2000" dirty="0"/>
          </a:p>
        </p:txBody>
      </p:sp>
      <p:sp>
        <p:nvSpPr>
          <p:cNvPr id="14" name="Text 12"/>
          <p:cNvSpPr txBox="1"/>
          <p:nvPr/>
        </p:nvSpPr>
        <p:spPr>
          <a:xfrm>
            <a:off x="822960" y="4663440"/>
            <a:ext cx="2956560" cy="1280160"/>
          </a:xfrm>
          <a:prstGeom prst="rect">
            <a:avLst/>
          </a:prstGeom>
          <a:noFill/>
          <a:ln/>
        </p:spPr>
        <p:txBody>
          <a:bodyPr wrap="square" lIns="0" tIns="0" rIns="0" bIns="0" rtlCol="0" anchor="t"/>
          <a:lstStyle/>
          <a:p>
            <a:pPr indent="0" marL="0">
              <a:buNone/>
            </a:pPr>
            <a:r>
              <a:rPr lang="en-US" sz="1500" dirty="0">
                <a:solidFill>
                  <a:schemeClr val="tx1"/>
                </a:solidFill>
              </a:rPr>
              <a:t>Pessoa que recebe a mensagem.</a:t>
            </a:r>
            <a:endParaRPr lang="en-US" sz="1500" dirty="0"/>
          </a:p>
        </p:txBody>
      </p:sp>
      <p:sp>
        <p:nvSpPr>
          <p:cNvPr id="15" name="Shape 13"/>
          <p:cNvSpPr/>
          <p:nvPr/>
        </p:nvSpPr>
        <p:spPr>
          <a:xfrm>
            <a:off x="4328160" y="3886200"/>
            <a:ext cx="3505200" cy="2240280"/>
          </a:xfrm>
          <a:prstGeom prst="roundRect">
            <a:avLst>
              <a:gd name="adj" fmla="val 4082"/>
            </a:avLst>
          </a:prstGeom>
          <a:solidFill>
            <a:srgbClr val="F2F4F7"/>
          </a:solidFill>
          <a:ln w="12700">
            <a:solidFill>
              <a:srgbClr val="F2F4F7"/>
            </a:solidFill>
            <a:prstDash val="solid"/>
          </a:ln>
        </p:spPr>
      </p:sp>
      <p:sp>
        <p:nvSpPr>
          <p:cNvPr id="16" name="Text 14"/>
          <p:cNvSpPr txBox="1"/>
          <p:nvPr/>
        </p:nvSpPr>
        <p:spPr>
          <a:xfrm>
            <a:off x="4602480" y="4114800"/>
            <a:ext cx="2956560" cy="45720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Rascunho</a:t>
            </a:r>
            <a:endParaRPr lang="en-US" sz="2000" dirty="0"/>
          </a:p>
        </p:txBody>
      </p:sp>
      <p:sp>
        <p:nvSpPr>
          <p:cNvPr id="17" name="Text 15"/>
          <p:cNvSpPr txBox="1"/>
          <p:nvPr/>
        </p:nvSpPr>
        <p:spPr>
          <a:xfrm>
            <a:off x="4602480" y="4663440"/>
            <a:ext cx="2956560" cy="1280160"/>
          </a:xfrm>
          <a:prstGeom prst="rect">
            <a:avLst/>
          </a:prstGeom>
          <a:noFill/>
          <a:ln/>
        </p:spPr>
        <p:txBody>
          <a:bodyPr wrap="square" lIns="0" tIns="0" rIns="0" bIns="0" rtlCol="0" anchor="t"/>
          <a:lstStyle/>
          <a:p>
            <a:pPr indent="0" marL="0">
              <a:buNone/>
            </a:pPr>
            <a:r>
              <a:rPr lang="en-US" sz="1500" dirty="0">
                <a:solidFill>
                  <a:schemeClr val="tx1"/>
                </a:solidFill>
              </a:rPr>
              <a:t>Mensagem guardada que ainda não foi enviada.</a:t>
            </a:r>
            <a:endParaRPr lang="en-US" sz="1500" dirty="0"/>
          </a:p>
        </p:txBody>
      </p:sp>
      <p:sp>
        <p:nvSpPr>
          <p:cNvPr id="18" name="Shape 16"/>
          <p:cNvSpPr/>
          <p:nvPr/>
        </p:nvSpPr>
        <p:spPr>
          <a:xfrm>
            <a:off x="8107680" y="3886200"/>
            <a:ext cx="3505200" cy="2240280"/>
          </a:xfrm>
          <a:prstGeom prst="roundRect">
            <a:avLst>
              <a:gd name="adj" fmla="val 4082"/>
            </a:avLst>
          </a:prstGeom>
          <a:solidFill>
            <a:srgbClr val="F2F4F7"/>
          </a:solidFill>
          <a:ln w="12700">
            <a:solidFill>
              <a:srgbClr val="F2F4F7"/>
            </a:solidFill>
            <a:prstDash val="solid"/>
          </a:ln>
        </p:spPr>
      </p:sp>
      <p:sp>
        <p:nvSpPr>
          <p:cNvPr id="19" name="Text 17"/>
          <p:cNvSpPr txBox="1"/>
          <p:nvPr/>
        </p:nvSpPr>
        <p:spPr>
          <a:xfrm>
            <a:off x="8382000" y="4114800"/>
            <a:ext cx="2956560" cy="45720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Separador</a:t>
            </a:r>
            <a:endParaRPr lang="en-US" sz="2000" dirty="0"/>
          </a:p>
        </p:txBody>
      </p:sp>
      <p:sp>
        <p:nvSpPr>
          <p:cNvPr id="20" name="Text 18"/>
          <p:cNvSpPr txBox="1"/>
          <p:nvPr/>
        </p:nvSpPr>
        <p:spPr>
          <a:xfrm>
            <a:off x="8382000" y="4663440"/>
            <a:ext cx="2956560" cy="1280160"/>
          </a:xfrm>
          <a:prstGeom prst="rect">
            <a:avLst/>
          </a:prstGeom>
          <a:noFill/>
          <a:ln/>
        </p:spPr>
        <p:txBody>
          <a:bodyPr wrap="square" lIns="0" tIns="0" rIns="0" bIns="0" rtlCol="0" anchor="t"/>
          <a:lstStyle/>
          <a:p>
            <a:pPr indent="0" marL="0">
              <a:buNone/>
            </a:pPr>
            <a:r>
              <a:rPr lang="en-US" sz="1500" dirty="0">
                <a:solidFill>
                  <a:schemeClr val="tx1"/>
                </a:solidFill>
              </a:rPr>
              <a:t>Grupo de comandos da janela de mensagem, como Mensagem ou Formatar texto.</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Logótipo ATC – Angbu Training Centre">    </p:cNvPr>
          <p:cNvPicPr>
            <a:picLocks noChangeAspect="1"/>
          </p:cNvPicPr>
          <p:nvPr/>
        </p:nvPicPr>
        <p:blipFill>
          <a:blip r:embed="rId2"/>
          <a:stretch>
            <a:fillRect/>
          </a:stretch>
        </p:blipFill>
        <p:spPr>
          <a:xfrm>
            <a:off x="6019660" y="640080"/>
            <a:ext cx="960120" cy="960120"/>
          </a:xfrm>
          <a:prstGeom prst="rect">
            <a:avLst/>
          </a:prstGeom>
        </p:spPr>
      </p:pic>
      <p:sp>
        <p:nvSpPr>
          <p:cNvPr id="3" name="Text 0"/>
          <p:cNvSpPr txBox="1"/>
          <p:nvPr/>
        </p:nvSpPr>
        <p:spPr>
          <a:xfrm>
            <a:off x="6019660" y="2011680"/>
            <a:ext cx="5623395" cy="1645920"/>
          </a:xfrm>
          <a:prstGeom prst="rect">
            <a:avLst/>
          </a:prstGeom>
          <a:noFill/>
          <a:ln/>
        </p:spPr>
        <p:txBody>
          <a:bodyPr wrap="square" lIns="0" tIns="0" rIns="0" bIns="0" rtlCol="0" anchor="t">
            <a:normAutofit/>
          </a:bodyPr>
          <a:lstStyle/>
          <a:p>
            <a:pPr indent="0" marL="0">
              <a:buNone/>
            </a:pPr>
            <a:r>
              <a:rPr lang="en-US" sz="3800" b="1" dirty="0">
                <a:solidFill>
                  <a:schemeClr val="bg1"/>
                </a:solidFill>
                <a:latin typeface="Cambria" pitchFamily="34" charset="0"/>
                <a:ea typeface="Cambria" pitchFamily="34" charset="-122"/>
                <a:cs typeface="Cambria" pitchFamily="34" charset="-120"/>
              </a:rPr>
              <a:t>Aprender hoje.</a:t>
            </a:r>
            <a:endParaRPr lang="en-US" sz="3800" dirty="0"/>
          </a:p>
          <a:p>
            <a:pPr indent="0" marL="0">
              <a:buNone/>
            </a:pPr>
            <a:r>
              <a:rPr lang="en-US" sz="3800" b="1" dirty="0">
                <a:solidFill>
                  <a:schemeClr val="accent3"/>
                </a:solidFill>
                <a:latin typeface="Cambria" pitchFamily="34" charset="0"/>
                <a:ea typeface="Cambria" pitchFamily="34" charset="-122"/>
                <a:cs typeface="Cambria" pitchFamily="34" charset="-120"/>
              </a:rPr>
              <a:t>Ir mais longe amanhã.</a:t>
            </a:r>
            <a:endParaRPr lang="en-US" sz="3800" dirty="0"/>
          </a:p>
        </p:txBody>
      </p:sp>
      <p:sp>
        <p:nvSpPr>
          <p:cNvPr id="4" name="Text 1"/>
          <p:cNvSpPr txBox="1"/>
          <p:nvPr/>
        </p:nvSpPr>
        <p:spPr>
          <a:xfrm>
            <a:off x="6019660" y="3840480"/>
            <a:ext cx="5623395" cy="1097280"/>
          </a:xfrm>
          <a:prstGeom prst="rect">
            <a:avLst/>
          </a:prstGeom>
          <a:noFill/>
          <a:ln/>
        </p:spPr>
        <p:txBody>
          <a:bodyPr wrap="square" lIns="0" tIns="0" rIns="0" bIns="0" rtlCol="0" anchor="t"/>
          <a:lstStyle/>
          <a:p>
            <a:pPr indent="0" marL="0">
              <a:buNone/>
            </a:pPr>
            <a:r>
              <a:rPr lang="en-US" sz="1800" dirty="0">
                <a:solidFill>
                  <a:srgbClr val="D5DEE6"/>
                </a:solidFill>
              </a:rPr>
              <a:t>Continue o módulo 1 na plataforma ATC: vídeo-aulas, manual completo e o seu guia virtual.</a:t>
            </a:r>
            <a:endParaRPr lang="en-US" sz="1800" dirty="0"/>
          </a:p>
        </p:txBody>
      </p:sp>
      <p:sp>
        <p:nvSpPr>
          <p:cNvPr id="5" name="Text 2"/>
          <p:cNvSpPr txBox="1"/>
          <p:nvPr/>
        </p:nvSpPr>
        <p:spPr>
          <a:xfrm>
            <a:off x="6019660" y="5760720"/>
            <a:ext cx="5623395" cy="365760"/>
          </a:xfrm>
          <a:prstGeom prst="rect">
            <a:avLst/>
          </a:prstGeom>
          <a:noFill/>
          <a:ln/>
        </p:spPr>
        <p:txBody>
          <a:bodyPr wrap="square" lIns="0" tIns="0" rIns="0" bIns="0" rtlCol="0" anchor="ctr"/>
          <a:lstStyle/>
          <a:p>
            <a:pPr indent="0" marL="0">
              <a:buNone/>
            </a:pPr>
            <a:r>
              <a:rPr lang="en-US" sz="1200" b="1" dirty="0">
                <a:solidFill>
                  <a:srgbClr val="D5DEE6"/>
                </a:solidFill>
              </a:rPr>
              <a:t>ATC – Angbu Training Centre · Luanda, Angola</a:t>
            </a:r>
            <a:endParaRPr lang="en-US" sz="1200" dirty="0"/>
          </a:p>
        </p:txBody>
      </p:sp>
    </p:spTree>
  </p:cSld>
  <p:clrMapOvr>
    <a:masterClrMapping/>
  </p:clrMapOvr>
</p:sld>
</file>

<file path=ppt/theme/theme1.xml><?xml version="1.0" encoding="utf-8"?>
<a:theme xmlns:a="http://schemas.openxmlformats.org/drawingml/2006/main" name="ATC Formação">
  <a:themeElements>
    <a:clrScheme name="ATC Formação">
      <a:dk1>
        <a:srgbClr val="1D2733"/>
      </a:dk1>
      <a:lt1>
        <a:srgbClr val="FFFFFF"/>
      </a:lt1>
      <a:dk2>
        <a:srgbClr val="0B2137"/>
      </a:dk2>
      <a:lt2>
        <a:srgbClr val="F2F4F7"/>
      </a:lt2>
      <a:accent1>
        <a:srgbClr val="DA6D24"/>
      </a:accent1>
      <a:accent2>
        <a:srgbClr val="0F6CBD"/>
      </a:accent2>
      <a:accent3>
        <a:srgbClr val="F08A3E"/>
      </a:accent3>
      <a:accent4>
        <a:srgbClr val="5F6B78"/>
      </a:accent4>
      <a:accent5>
        <a:srgbClr val="2E7D4F"/>
      </a:accent5>
      <a:accent6>
        <a:srgbClr val="B3361F"/>
      </a:accent6>
      <a:hlink>
        <a:srgbClr val="DA6D24"/>
      </a:hlink>
      <a:folHlink>
        <a:srgbClr val="8A5A3C"/>
      </a:folHlink>
    </a:clrScheme>
    <a:fontScheme name="ATC Formaçã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ATC – Angbu Training Centre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Outlook · Módulo 1 · Primeiros passos no Outlook</dc:title>
  <dc:subject>Apresentação do manual do formando</dc:subject>
  <dc:creator>ATC – Angbu Training Centre</dc:creator>
  <cp:lastModifiedBy>ATC – Angbu Training Centre</cp:lastModifiedBy>
  <cp:revision>1</cp:revision>
  <dcterms:created xsi:type="dcterms:W3CDTF">2026-10-10T21:03:13Z</dcterms:created>
  <dcterms:modified xsi:type="dcterms:W3CDTF">2026-10-10T21:03:13Z</dcterms:modified>
</cp:coreProperties>
</file>