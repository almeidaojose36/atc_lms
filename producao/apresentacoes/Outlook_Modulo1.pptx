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1f40ce5-26db-5f25-738d-a1abcfed8102}">
          <p14:sldIdLst>
            <p14:sldId id="256"/>
            <p14:sldId id="257"/>
            <p14:sldId id="258"/>
            <p14:sldId id="259"/>
          </p14:sldIdLst>
        </p14:section>
        <p14:section name="Conteúdos" id="{02662faf-8903-9d53-53b6-72e197bfe209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solidação" id="{da109041-e304-c4b5-6800-582eff3c62f2}">
          <p14:sldIdLst>
            <p14:sldId id="266"/>
            <p14:sldId id="267"/>
            <p14:sldId id="268"/>
            <p14:sldId id="269"/>
          </p14:sldIdLst>
        </p14:section>
        <p14:section name="Encerramento" id="{041ac19c-ad70-6669-0365-b71cc7f0f30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ATC]
Apresentação do Módulo 1 do curso Microsoft Outlook.
Miguel é o guia virtual que acompanha os formandos nos vídeos e no manual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Enquadramento]
O Microsoft Outlook serve para gerir o correio eletrónico, os contactos e o calendário. Neste módulo vai escrever uma mensagem profissional, com assunto claro, parágrafos, uma lista e uma assinatura.
Sugestão pedagógica: pergunte aos formandos que experiência prévia já têm com este tema antes de avançar para 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Objetivos]
1. Reconhecer o Microsoft Outlook e a janela de nova mensagem.
2. Distinguir os campos Para, Cc, Bcc e Assunto.
3. Escrever um assunto claro e uma mensagem organizada.
4. Usar o separador Formatar texto para negrito, listas e itálico.
5. Rever a mensagem antes de a enviar.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Percurso]
Temas do módulo:
1.1 O que é o Outlook?
1.2 A janela de nova mensagem
1.3 Escrever um assunto claro
1.4 Organizar a mensagem
1.5 Formatar o texto
1.6 Rever antes de enviar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1.1 O que é o Outlook?]
Tempo sugerido: 8–10 min
[Figura] Ícone de identificação do Microsoft Outlook, réplica visual fornecida para este curso.
O Microsoft Outlook é uma aplicação de correio eletrónico. Permite enviar e receber mensagens, guardar contactos e organizar compromissos num calendário.
Termo | Significado | Exemplo
Mensagem | Texto enviado a uma ou mais pessoas. | Convite para uma formação
Assunto | Resumo curto do conteúdo da mensagem. | ATC — Formação Outlook
Destinatário | Pessoa que recebe a mensagem. | Campo Para
Rascunho | Mensagem escrita que ainda não foi enviada. | Mensagem de exemplo
Dica: Os nomes dos separadores e dos botões podem variar ligeiramente conforme a versão do programa e o idioma instalado. Neste manual usamos os termos da interface em português europeu, na versão para a Web.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1.2 A janela de nova mensagem]
Tempo sugerido: 8–10 min
Quando escreve uma mensagem nova, o Outlook mostra os campos de endereço, o assunto e a área de texto.
[Figura] Captura própria de um exemplo fictício ATC no Outlook para a Web: nova mensagem com os campos Para e Cc, o aviso «Adicione um assunto» e o botão Enviar.
Campo | Para que serve
Para | Endereços das pessoas a quem a mensagem é dirigida.
Cc | Pessoas que recebem uma cópia da mensagem.
Bcc | Pessoas que recebem a mensagem sem que os outros destinatários vejam o seu endereço.
Assunto | Resumo curto que o destinatário vê antes de abrir a mensagem.
Enviar | Envia a mensagem. Fica inativo enquanto não houver um destinatário.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1.3 Escrever um assunto claro]
Tempo sugerido: 8–10 min
Um bom assunto diz de que trata a mensagem. Evite assuntos vazios, demasiado longos ou com muitas letras maiúsculas.
1. Clique no campo Adicione um assunto.
2. Escreva um assunto curto e específico, por exemplo ATC — Formação Outlook.
3. Confirme que o assunto continua visível por cima do texto da mensagem.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1.4 Organizar a mensagem]
Tempo sugerido: 8–10 min
Uma mensagem fácil de ler tem uma saudação, um parágrafo curto, uma lista de pontos e uma despedida com a assinatura.
1. Escreva a saudação: Olá,.
2. Escreva uma frase de contexto: A sessão de formação em Microsoft Outlook terá lugar em Cabinda.
3. Escreva Objetivos da sessão: e crie uma lista com três pontos.
4. Termine com Com os melhores cumprimentos,, o seu nome e a ATC.
Nota: Use dados fictícios nos exercícios. Não escreva endereços de correio verdadeiros nem informação confidencial.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1.5 Formatar o texto]
Tempo sugerido: 8–10 min
O separador Formatar texto reúne os comandos para negrito, itálico, listas, cores e alinhamento.
[Figura] Captura própria de um exemplo fictício ATC no Outlook para a Web: separador Formatar texto, com o assunto «ATC — Formação Outlook» e a mensagem formatada.
1. Selecione Objetivos da sessão: e aplique negrito.
2. Selecione os três pontos e escolha uma lista com marcas.
3. Selecione a última frase e aplique itálico.
4. Volte ao separador Mensagem para rever o resultado.
Dica: Use a formatação com moderação. Uma mensagem com poucas mudanças de estilo é mais fácil de ler.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1.6 Rever antes de enviar]
Tempo sugerido: 8–10 min
Depois de enviada, uma mensagem já não se pode corrigir. Reveja sempre os campos antes de carregar em Enviar.
1. Confirme os destinatários nos campos Para, Cc e Bcc.
2. Confirme o assunto.
3. Leia o texto do princípio ao fim e corrija erros.
4. Só então carregue em Enviar.
Atenção: No exercício deste curso, deixe o campo Para vazio. A mensagem fica como rascunho e não é enviada a ninguém.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Síntese]
Resumo do módulo:
O Outlook serve para gerir correio, contactos e calendário.
Os campos Para, Cc e Bcc definem quem recebe a mensagem.
Um assunto claro resume o conteúdo da mensagem.
Parágrafos curtos e listas tornam a mensagem fácil de ler.
Reveja sempre os destinatários e o texto antes de enviar.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Exercício Prático]
Exercício prático · Mensagem de convite (15 min)
Recurso: Crie uma nova mensagem no Microsoft Outlook
Tarefas:
1. Abra uma mensagem nova e deixe o campo Para vazio.
2. Escreva o assunto ATC — Formação Outlook.
3. Escreva a saudação, uma frase de contexto e a despedida com o seu nome.
4. Crie uma lista com três objetivos.
5. Aplique negrito ao título da lista e itálico à última frase.
6. Reveja a mensagem e guarde-a como rascunho, sem a enviar.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Chave de Respostas]
1. Em que campo deve colocar o endereço de alguém que deve receber uma cópia sem que os restantes destinatários o vejam?
   ✓ Resposta certa: C) Bcc
2. Qual dos seguintes é um bom exemplo de assunto para uma mensagem profissional?
   ✓ Resposta certa: B) ATC — Convite para a sessão de formação Outlook
3. O que acontece a uma mensagem escrita quando ainda não carregou no botão Enviar?
   ✓ Resposta certa: B) Fica guardada como rascunho
4. Para que serve o campo Cc numa mensagem de correio eletrónico?
   ✓ Resposta certa: B) Para incluir pessoas que recebem uma cópia a título informativo
5. Em que separador da janela de mensagem se encontram os botões para aplicar negrito, itálico e listas com marcas?
   ✓ Resposta certa: A) Formatar texto
6. Por que razão deve rever os destinatários e o texto antes de carregar em Enviar?
   ✓ Resposta certa: B) Porque depois de enviada a mensagem segue imediatamente para os destinatários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Glossário]
• Assunto: Resumo curto do conteúdo da mensagem.
• Bcc: Cópia oculta: os outros destinatários não veem este endereço.
• Cc: Cópia: pessoas que recebem a mensagem a título informativo.
• Destinatário: Pessoa que recebe a mensagem.
• Rascunho: Mensagem guardada que ainda não foi enviada.
• Separador: Grupo de comandos da janela de mensagem, como Mensagem ou Formatar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Encerramento]
Lembre os formandos de que o manual ilustrado, as vídeo-aulas e o guia por voz estão disponíveis na plataforma ATC (lms.grupoangbu.com).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900" dirty="0"/>
          </a:p>
        </p:txBody>
      </p:sp>
      <p:pic>
        <p:nvPicPr>
          <p:cNvPr id="4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6327648"/>
            <a:ext cx="11091672" cy="13716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6" name="Text 2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Outlook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Outlook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564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6447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Outlook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56447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Primeiros passos no Outlook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56447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Mensagens de correio eletrónico claras e profissionais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564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— módulo introdutório ATC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19660" y="822960"/>
            <a:ext cx="56233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A HELENA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19660" y="1143000"/>
            <a:ext cx="56233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19660" y="2103120"/>
            <a:ext cx="56233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Microsoft Outlook serve para gerir o correio eletrónico, os contactos e o calendário. Neste módulo vai escrever uma mensagem profissional, com assunto claro, parágrafos, uma lista e uma assinatura.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019660" y="4709160"/>
            <a:ext cx="169158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019660" y="4800600"/>
            <a:ext cx="16915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111100" y="5468112"/>
            <a:ext cx="15087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 sala e laboratório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85565" y="4709160"/>
            <a:ext cx="169158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985565" y="4800600"/>
            <a:ext cx="16915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077005" y="5468112"/>
            <a:ext cx="15087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951470" y="4709160"/>
            <a:ext cx="169158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951470" y="4800600"/>
            <a:ext cx="16915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042910" y="5468112"/>
            <a:ext cx="15087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estruturados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COMPETÊNCIAS E RESULTADOS DE APRENDIZAGEM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5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será capaz de: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Miguel · guia virtual ATC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06240" y="14264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07408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0740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4264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Reconhecer o Microsoft Outlook e a janela de nova mensagem.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3408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07408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0740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3408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os campos Para, Cc, Bcc e Assunto.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206240" y="32552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07408" y="3429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074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552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Escrever um assunto claro e uma mensagem organizada.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06240" y="41696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07408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07408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074920" y="41696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Usar o separador Formatar texto para negrito, listas e itálico.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50840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07408" y="5257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07408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50840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Rever a mensagem antes de a enviar.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4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PRIMEIROS PASSOS NO OUTLOOK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44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Percurso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0370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037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48840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 que é o Outlook?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70632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7063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15768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janela de nova mensagem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282696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Escrever um assunto claro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4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849624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Organizar a mensagem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71416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416552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Formatar o texto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03834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3834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83480"/>
            <a:ext cx="4986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Rever antes de enviar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o Outlook?</a:t>
            </a:r>
            <a:endParaRPr lang="en-US" sz="2900" dirty="0"/>
          </a:p>
        </p:txBody>
      </p:sp>
      <p:pic>
        <p:nvPicPr>
          <p:cNvPr id="4" name="Image 0" descr="Ícone de identificação do Microsoft Outlook, réplica visual fornecida para este cur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429768"/>
            <a:ext cx="566928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Microsoft Outlook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é uma aplicação de correio eletrónico. Permite enviar e receber mensagens, guardar contactos e organizar compromissos num calendário.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 enviado a uma ou mais pessoas.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para uma formação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Resumo curto do conteúdo da mensagem.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ATC — Formação Outlook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 que recebe a mensagem.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 Para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Rascunho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Mensagem escrita que ainda não foi enviada.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Mensagem de 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Cartão de dica"/>
          <p:cNvSpPr/>
          <p:nvPr/>
        </p:nvSpPr>
        <p:spPr>
          <a:xfrm>
            <a:off x="548640" y="5158740"/>
            <a:ext cx="11064240" cy="1013460"/>
          </a:xfrm>
          <a:prstGeom prst="roundRect">
            <a:avLst>
              <a:gd name="adj" fmla="val 10827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8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95900"/>
            <a:ext cx="739140" cy="7391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635252" y="5231892"/>
            <a:ext cx="9822180" cy="867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da Helena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Os nomes dos separadores e dos botões podem variar ligeiramente conforme a versão do programa e o idioma instalado. Neste manual usamos os termos da interface em português europeu, na versão para a Web.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2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A janela de nova mensagem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de um exemplo fictício ATC no Outlook para a Web: nova mensagem com os campos Para e Cc, o aviso «Adicione um assunto» e o botão Envi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de um exemplo fictício ATC no Outlook para a Web: nova mensagem com os campos Para e Cc, o aviso «Adicione um assunto» e o botão…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Quando escreve uma mensagem nova, o Outlook mostra os campos de endereço, o assunto e a área de texto.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337816"/>
          <a:ext cx="4069080" cy="914400"/>
        </p:xfrm>
        <a:graphic>
          <a:graphicData uri="http://schemas.openxmlformats.org/drawingml/2006/table">
            <a:tbl>
              <a:tblPr/>
              <a:tblGrid>
                <a:gridCol w="1383487"/>
                <a:gridCol w="26855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Endereços das pessoas a quem a mensagem é dirigida.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 que recebem uma cópia da mensagem.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 que recebem a mensagem sem que os outros destinatários vejam o seu endereço.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Resumo curto que o destinatário vê antes de abrir a mensagem.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 a mensagem. Fica inativo enquanto não houver um destinatário.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19660" y="822960"/>
            <a:ext cx="56233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3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19660" y="1143000"/>
            <a:ext cx="56233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um assunto claro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019660" y="2103120"/>
            <a:ext cx="5623395" cy="784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 bom assunto diz de que trata a mensagem. Evite assuntos vazios, demasiado longos ou com muitas letras maiúsculas.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19660" y="308838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19660" y="308838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22580" y="3070098"/>
            <a:ext cx="51204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Clique no campo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Adicione um assunto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19660" y="360045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19660" y="360045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22580" y="3582162"/>
            <a:ext cx="5120475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Escreva um assunto curto e específico, por exemplo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ATC — Formação Outlook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19660" y="423291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19660" y="423291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22580" y="4214622"/>
            <a:ext cx="5120475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Confirme que o assunto continua visível por cima do texto da mensagem.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61027" y="822960"/>
            <a:ext cx="52820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4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361027" y="1143000"/>
            <a:ext cx="52820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Organizar a mensagem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61027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361027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63947" y="2103120"/>
            <a:ext cx="4779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a saudação: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Olá,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61027" y="2633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61027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63947" y="2615184"/>
            <a:ext cx="4779108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uma frase de contexto: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sessão de formação em Microsoft Outlook terá lugar em Cabinda.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61027" y="344576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61027" y="3445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3947" y="3427476"/>
            <a:ext cx="477910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Objetivos da sessão: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crie uma lista com três pontos.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61027" y="404825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1027" y="40482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63947" y="4029964"/>
            <a:ext cx="477910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Termine com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os melhores cumprimentos,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 seu nome e a ATC.</a:t>
            </a:r>
            <a:endParaRPr lang="en-US" sz="1400" dirty="0"/>
          </a:p>
        </p:txBody>
      </p:sp>
      <p:sp>
        <p:nvSpPr>
          <p:cNvPr id="16" name="Cartão de dica"/>
          <p:cNvSpPr/>
          <p:nvPr/>
        </p:nvSpPr>
        <p:spPr>
          <a:xfrm>
            <a:off x="6361027" y="5158740"/>
            <a:ext cx="5282028" cy="1013460"/>
          </a:xfrm>
          <a:prstGeom prst="roundRect">
            <a:avLst>
              <a:gd name="adj" fmla="val 10827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7" name="Image 0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7" y="5295900"/>
            <a:ext cx="739140" cy="7391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447639" y="5231892"/>
            <a:ext cx="4039968" cy="867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Nota pedagógica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Use dados fictícios nos exercícios. Não escreva endereços de correio verdadeiros nem informação confidencial.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5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Formatar o texto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de um exemplo fictício ATC no Outlook para a Web: separador Formatar texto, com o assunto «ATC — Formação Outlook» e a mensagem formatad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de um exemplo fictício ATC no Outlook para a Web: separador Formatar texto, com o assunto «ATC — Formação Outlook» e a mensagem…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separador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Formatar texto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reúne os comandos para negrito, itálico, listas, cores e alinhamento.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35610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356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337816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Objetivos da sessão: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aplique negrito.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295859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958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940304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os três pontos e escolha uma lista com marcas.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35610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561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542792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a última frase e aplique itálico.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589520" y="416356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589520" y="4163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4145280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Volte ao separador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Mensagem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rever o resultado.</a:t>
            </a:r>
            <a:endParaRPr lang="en-US" sz="1400" dirty="0"/>
          </a:p>
        </p:txBody>
      </p:sp>
      <p:sp>
        <p:nvSpPr>
          <p:cNvPr id="20" name="Cartão de dica"/>
          <p:cNvSpPr/>
          <p:nvPr/>
        </p:nvSpPr>
        <p:spPr>
          <a:xfrm>
            <a:off x="7589520" y="4963160"/>
            <a:ext cx="4069080" cy="1209040"/>
          </a:xfrm>
          <a:prstGeom prst="roundRect">
            <a:avLst>
              <a:gd name="adj" fmla="val 9076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21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179060"/>
            <a:ext cx="777240" cy="77724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714232" y="5036312"/>
            <a:ext cx="2788920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da Helena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Use a formatação com moderação. Uma mensagem com poucas mudanças de estilo é mais fácil de 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4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6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44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 antes de enviar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644732" cy="52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Depois de enviada, uma mensagem já não se pode corrigir. Reveja sempre os campos antes de carregar em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Enviar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336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3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15336"/>
            <a:ext cx="51418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os destinatários nos campos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Para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Cc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Bcc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361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436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417824"/>
            <a:ext cx="5141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o assunto.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9481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48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929888"/>
            <a:ext cx="5141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Leia o texto do princípio ao fim e corrija erros.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602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6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441952"/>
            <a:ext cx="5141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então carregue em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Enviar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Cartão de dica"/>
          <p:cNvSpPr/>
          <p:nvPr/>
        </p:nvSpPr>
        <p:spPr>
          <a:xfrm>
            <a:off x="548640" y="5158740"/>
            <a:ext cx="5644732" cy="1013460"/>
          </a:xfrm>
          <a:prstGeom prst="roundRect">
            <a:avLst>
              <a:gd name="adj" fmla="val 10827"/>
            </a:avLst>
          </a:prstGeom>
          <a:solidFill>
            <a:srgbClr val="FBEDE6"/>
          </a:solidFill>
          <a:ln w="9525">
            <a:solidFill>
              <a:srgbClr val="F0C7B4"/>
            </a:solidFill>
            <a:prstDash val="solid"/>
          </a:ln>
        </p:spPr>
      </p:sp>
      <p:pic>
        <p:nvPicPr>
          <p:cNvPr id="18" name="Image 0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95900"/>
            <a:ext cx="739140" cy="7391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35252" y="5231892"/>
            <a:ext cx="4402672" cy="867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Atenção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exercício deste curso, deixe o campo Para vazio. A mensagem fica como rascunho e não é enviada a ninguém.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934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MÓDULO 1 · SÍNTESE PEDAGÓGICA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934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Ideias-chave a reter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190579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Outlook serve para gerir correio, contactos e calendário.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190579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 campos Para, Cc e Bcc definem quem recebe a mensagem.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190579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assunto claro resume o conteúdo da mensagem.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190579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Parágrafos curtos e listas tornam a mensagem fácil de ler.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190579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Reveja sempre os destinatários e o texto antes de enviar.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PRÁTICA GUIADA EM LABORATÓRIO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Mensagem de convite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minutos de prática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Crie uma nova mensagem no Microsoft Outlook</a:t>
            </a:r>
            <a:endParaRPr lang="en-US" sz="1350" dirty="0"/>
          </a:p>
        </p:txBody>
      </p:sp>
      <p:pic>
        <p:nvPicPr>
          <p:cNvPr id="8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160520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50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Apoio do Miguel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417320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Abra uma mensagem nova e deixe o campo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vazio.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069080" y="19476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9080" y="1947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1929384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Escreva o assunto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ATC — Formação Outlook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069080" y="245973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69080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2441448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Escreva a saudação, uma frase de contexto e a despedida com o seu nome.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069080" y="309219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69080" y="30921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073908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uma lista com três objetivos.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069080" y="36042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69080" y="36042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3585972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Aplique negrito ao título da lista e itálico à última frase.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069080" y="411632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69080" y="41163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098036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Reveja a mensagem e guarde-a como rascunho, sem a enviar.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4069080" y="553212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EDF7F1"/>
          </a:solidFill>
          <a:ln w="9525">
            <a:solidFill>
              <a:srgbClr val="B8DE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5577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Critério de sucesso: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concluir todos os passos com autonomia e validar o resultado com o formador.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AVALIAÇÃO FORMATIVA EM SALA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os seus conhecimentos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Em que campo deve colocar o endereço de alguém que deve receber uma cópia sem que os restantes destinatários o vejam?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Para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Cc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Bcc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Assunto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Qual dos seguintes é um bom exemplo de assunto para uma mensagem profissional?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URGENTE LEIA JÁ!!!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ATC — Convite para a sessão de formação Outlook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(deixar o campo em branco)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Olá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O que acontece a uma mensagem escrita quando ainda não carregou no botão Enviar?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É apagada imediatamente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Fica guardada como rascunho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É enviada automaticamente para todos os contactos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Transforma-se num evento de calendário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Para que serve o campo Cc numa mensagem de correio eletrónico?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Para escrever o título da mensagem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Para incluir pessoas que recebem uma cópia a título informativo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Para anexar ficheiros grandes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Para escolher o tipo de letra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87568"/>
            <a:ext cx="11064240" cy="475488"/>
          </a:xfrm>
          <a:prstGeom prst="roundRect">
            <a:avLst>
              <a:gd name="adj" fmla="val 15385"/>
            </a:avLst>
          </a:prstGeom>
          <a:solidFill>
            <a:srgbClr val="FFF7F0"/>
          </a:solidFill>
          <a:ln w="9525">
            <a:solidFill>
              <a:srgbClr val="F2B4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71500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Dinâmica pedagógica: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discuta cada questão em turma antes de confirmar a resposta certa (chave disponível nas notas do formador).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TERMINOLOGIA TÉCNICA EM PORTUGUÊS EUROPEU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 essencial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Assunto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Resumo curto do conteúdo da mensagem.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676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Bcc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Cópia oculta: os outros destinatários não veem este endereço.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628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628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Cc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Cópia: pessoas que recebem a mensagem a título informativo.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Destinatário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Pessoa que recebe a mensagem.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676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676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Rascunho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5676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Mensagem guardada que ainda não foi enviada.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628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3628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Separador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33628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Grupo de comandos da janela de mensagem, como Mensagem ou Formatar texto.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660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19660" y="2011680"/>
            <a:ext cx="562339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019660" y="3840480"/>
            <a:ext cx="562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completo, exercícios e o seu guia virtual por voz.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19660" y="5760720"/>
            <a:ext cx="562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0F6CBD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Outlook · Módulo 1 · Primeiros passos no Outlook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2026-10-17T08:00:00Z</dcterms:created>
  <dcterms:modified xsi:type="dcterms:W3CDTF">2026-10-17T08:00:00Z</dcterms:modified>
</cp:coreProperties>
</file>